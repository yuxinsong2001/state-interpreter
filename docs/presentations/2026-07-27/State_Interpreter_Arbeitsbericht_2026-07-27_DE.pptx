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a5e3bfb5f84d56" /><Relationship Type="http://schemas.openxmlformats.org/officeDocument/2006/relationships/extended-properties" Target="/docProps/app.xml" Id="Ra6b5ee770d0c4680" /><Relationship Type="http://schemas.openxmlformats.org/officeDocument/2006/relationships/officeDocument" Target="/ppt/presentation.xml" Id="R22d0e3b1e77e45a9" /></Relationships>
</file>

<file path=ppt/presentation.xml><?xml version="1.0" encoding="utf-8"?>
<p:presentation xmlns:p="http://schemas.openxmlformats.org/presentationml/2006/main">
  <p:sldMasterIdLst>
    <p:sldMasterId xmlns:r="http://schemas.openxmlformats.org/officeDocument/2006/relationships" id="2147483648" r:id="R6c864d73a1034c86"/>
  </p:sldMasterIdLst>
  <p:notesMasterIdLst>
    <p:notesMasterId xmlns:r="http://schemas.openxmlformats.org/officeDocument/2006/relationships" r:id="R98130a5a638c4796"/>
  </p:notesMasterIdLst>
  <p:sldIdLst>
    <p:sldId xmlns:r="http://schemas.openxmlformats.org/officeDocument/2006/relationships" id="256" r:id="Rabfdd3f91a254c4a"/>
    <p:sldId xmlns:r="http://schemas.openxmlformats.org/officeDocument/2006/relationships" id="257" r:id="Rdc692c2412524682"/>
    <p:sldId xmlns:r="http://schemas.openxmlformats.org/officeDocument/2006/relationships" id="258" r:id="R14e4cde434a04b22"/>
    <p:sldId xmlns:r="http://schemas.openxmlformats.org/officeDocument/2006/relationships" id="259" r:id="R8120f1ef92c0473e"/>
    <p:sldId xmlns:r="http://schemas.openxmlformats.org/officeDocument/2006/relationships" id="260" r:id="R34b7ccaff8e24fa4"/>
    <p:sldId xmlns:r="http://schemas.openxmlformats.org/officeDocument/2006/relationships" id="261" r:id="R5b6bcdda6ad049eb"/>
    <p:sldId xmlns:r="http://schemas.openxmlformats.org/officeDocument/2006/relationships" id="262" r:id="R6506353f813748df"/>
    <p:sldId xmlns:r="http://schemas.openxmlformats.org/officeDocument/2006/relationships" id="263" r:id="Re3244efee1244e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f108804da14460" /><Relationship Type="http://schemas.openxmlformats.org/officeDocument/2006/relationships/slideMaster" Target="/ppt/slideMasters/slideMaster1.xml" Id="R6c864d73a1034c86" /><Relationship Type="http://schemas.openxmlformats.org/officeDocument/2006/relationships/notesMaster" Target="/ppt/notesMasters/notesMaster1.xml" Id="R98130a5a638c4796" /><Relationship Type="http://schemas.openxmlformats.org/officeDocument/2006/relationships/presProps" Target="/ppt/presProps.xml" Id="R6c5f75eac74040df" /><Relationship Type="http://schemas.openxmlformats.org/officeDocument/2006/relationships/tableStyles" Target="/ppt/tableStyles.xml" Id="R42368b8725a54622" /><Relationship Type="http://schemas.openxmlformats.org/officeDocument/2006/relationships/slide" Target="/ppt/slides/slide1.xml" Id="Rabfdd3f91a254c4a" /><Relationship Type="http://schemas.openxmlformats.org/officeDocument/2006/relationships/slide" Target="/ppt/slides/slide2.xml" Id="Rdc692c2412524682" /><Relationship Type="http://schemas.openxmlformats.org/officeDocument/2006/relationships/slide" Target="/ppt/slides/slide3.xml" Id="R14e4cde434a04b22" /><Relationship Type="http://schemas.openxmlformats.org/officeDocument/2006/relationships/slide" Target="/ppt/slides/slide4.xml" Id="R8120f1ef92c0473e" /><Relationship Type="http://schemas.openxmlformats.org/officeDocument/2006/relationships/slide" Target="/ppt/slides/slide5.xml" Id="R34b7ccaff8e24fa4" /><Relationship Type="http://schemas.openxmlformats.org/officeDocument/2006/relationships/slide" Target="/ppt/slides/slide6.xml" Id="R5b6bcdda6ad049eb" /><Relationship Type="http://schemas.openxmlformats.org/officeDocument/2006/relationships/slide" Target="/ppt/slides/slide7.xml" Id="R6506353f813748df" /><Relationship Type="http://schemas.openxmlformats.org/officeDocument/2006/relationships/slide" Target="/ppt/slides/slide8.xml" Id="Re3244efee1244e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d08342cc934f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0d907339e14c62" /><Relationship Type="http://schemas.openxmlformats.org/officeDocument/2006/relationships/notesMaster" Target="/ppt/notesMasters/notesMaster1.xml" Id="Rc3173f070c2e4c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49896aeede642d7" /><Relationship Type="http://schemas.openxmlformats.org/officeDocument/2006/relationships/notesMaster" Target="/ppt/notesMasters/notesMaster1.xml" Id="R920d047262174c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b04a24f9614d50" /><Relationship Type="http://schemas.openxmlformats.org/officeDocument/2006/relationships/notesMaster" Target="/ppt/notesMasters/notesMaster1.xml" Id="Rf8cebe901b0b47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3ceccba4854fba" /><Relationship Type="http://schemas.openxmlformats.org/officeDocument/2006/relationships/notesMaster" Target="/ppt/notesMasters/notesMaster1.xml" Id="R2de43b05a0ec4d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73d7a9079d4801" /><Relationship Type="http://schemas.openxmlformats.org/officeDocument/2006/relationships/notesMaster" Target="/ppt/notesMasters/notesMaster1.xml" Id="R4d241bd5dd744d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f8ec3903a64f7a" /><Relationship Type="http://schemas.openxmlformats.org/officeDocument/2006/relationships/notesMaster" Target="/ppt/notesMasters/notesMaster1.xml" Id="R9cd66202d6b64a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1c35f04675246be" /><Relationship Type="http://schemas.openxmlformats.org/officeDocument/2006/relationships/notesMaster" Target="/ppt/notesMasters/notesMaster1.xml" Id="R9dd8d8efd4214bc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87e58069bf461b" /><Relationship Type="http://schemas.openxmlformats.org/officeDocument/2006/relationships/notesMaster" Target="/ppt/notesMasters/notesMaster1.xml" Id="R6113ee3fa59e47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Guten Morgen. Diese Woche habe ich mich vor allem mit der Frage beschäftigt, wie aus dem Gesundheits-Embedding von VibFM ein interpretierbarer und für Reinforcement Learning nutzbarer Zustand entstehen kann. Der Schwerpunkt meines Berichts liegt auf den in der Literatur gefundenen Interpreter-Ideen und auf der Frage, wie wir zwischen diesen Ideen systematisch auswählen können.</a:t>
            </a:r>
          </a:p>
          <a:p xmlns:a="http://schemas.openxmlformats.org/drawingml/2006/main">
            <a:r>
              <a:t/>
            </a:r>
          </a:p>
          <a:p xmlns:a="http://schemas.openxmlformats.org/drawingml/2006/main">
            <a:r>
              <a:t>[Sources]</a:t>
            </a:r>
          </a:p>
          <a:p xmlns:a="http://schemas.openxmlformats.org/drawingml/2006/main">
            <a:r>
              <a:t>- weekly_report_final_2026-07-27.md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Encoder ist in diesem Projekt festgelegt: Wir verwenden VibFM. Deshalb ist die zentrale Frage nicht mehr, welcher Encoder am besten ist. Die Frage lautet, ob z_health bereits alle Informationen enthält, die ein Wartungsagent benötigt. Ein Embedding kann gesunde und geschädigte Beispiele trennen und trotzdem wichtige Informationen über Trend, Unsicherheit, Last oder zukünftige Zustandsübergänge verlieren.</a:t>
            </a:r>
          </a:p>
          <a:p xmlns:a="http://schemas.openxmlformats.org/drawingml/2006/main">
            <a:r>
              <a:t/>
            </a:r>
          </a:p>
          <a:p xmlns:a="http://schemas.openxmlformats.org/drawingml/2006/main">
            <a:r>
              <a:t>[Sources]</a:t>
            </a:r>
          </a:p>
          <a:p xmlns:a="http://schemas.openxmlformats.org/drawingml/2006/main">
            <a:r>
              <a:t>- teacher_material_theory_guide.md</a:t>
            </a:r>
          </a:p>
          <a:p xmlns:a="http://schemas.openxmlformats.org/drawingml/2006/main">
            <a:r>
              <a:t>- https://arxiv.org/abs/1802.04181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 der Begriff State Interpreter in der PHM-Literatur nicht einheitlich verwendet wird, habe ich unter verwandten Begriffen gesucht: Health Indicator, Degradation Stage, Hidden Health State und State Representation Learning for Control. Daraus lassen sich vier Hauptideen ableiten. Erstens kann der Abstand zur gesunden Region als kontinuierlicher Health Indicator dienen. Zweitens können Cluster im Embedding-Raum als Degradationsphasen interpretiert werden. Drittens können Zeitmodelle Verlauf und Übergänge berücksichtigen. Viertens kann der Zustand explizit auf Reward- und Transitionsinformation ausgerichtet werden.</a:t>
            </a:r>
          </a:p>
          <a:p xmlns:a="http://schemas.openxmlformats.org/drawingml/2006/main">
            <a:r>
              <a:t/>
            </a:r>
          </a:p>
          <a:p xmlns:a="http://schemas.openxmlformats.org/drawingml/2006/main">
            <a:r>
              <a:t>[Sources]</a:t>
            </a:r>
          </a:p>
          <a:p xmlns:a="http://schemas.openxmlformats.org/drawingml/2006/main">
            <a:r>
              <a:t>- https://onlinelibrary.wiley.com/doi/abs/10.1155/2016/3086454</a:t>
            </a:r>
          </a:p>
          <a:p xmlns:a="http://schemas.openxmlformats.org/drawingml/2006/main">
            <a:r>
              <a:t>- https://arxiv.org/abs/2203.03259</a:t>
            </a:r>
          </a:p>
          <a:p xmlns:a="http://schemas.openxmlformats.org/drawingml/2006/main">
            <a:r>
              <a:t>- https://journals.sagepub.com/doi/full/10.1155/2014/758785</a:t>
            </a:r>
          </a:p>
          <a:p xmlns:a="http://schemas.openxmlformats.org/drawingml/2006/main">
            <a:r>
              <a:t>- https://proceedings.mlr.press/v97/gelada19a.html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 ist für die Versuchsplanung besonders wichtig: Die ersten beiden Ansätze definieren hauptsächlich, was der Gesundheitszustand bedeutet. Ein HI liefert eine kontinuierliche Semantik, Cluster liefern diskrete Phasen. Zeitmodelle und entscheidungsorientierte Modelle prüfen dagegen, ob dieser Zustand ausreichend ist. Deshalb wäre es methodisch falsch, alle vier Varianten einfach zu implementieren und nur anhand der Klassifikationsgenauigkeit zu vergleichen.</a:t>
            </a:r>
          </a:p>
          <a:p xmlns:a="http://schemas.openxmlformats.org/drawingml/2006/main">
            <a:r>
              <a:t/>
            </a:r>
          </a:p>
          <a:p xmlns:a="http://schemas.openxmlformats.org/drawingml/2006/main">
            <a:r>
              <a:t>[Sources]</a:t>
            </a:r>
          </a:p>
          <a:p xmlns:a="http://schemas.openxmlformats.org/drawingml/2006/main">
            <a:r>
              <a:t>- weekly_report_final_2026-07-27.md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Daraus ergibt sich eine progressive Strategie. Zuerst vergleiche ich einfache Baselines: das unveränderte z_health, einen One-Class Health Indicator, Cluster-Phasen und ein kleines MLP mit HI und Phasenwahrscheinlichkeiten. Danach prüfe ich die zeitliche Stabilität und den zusätzlichen Nutzen der Historie. Erst wenn die Historie einen messbaren Vorteil bringt, werden CPD oder ein Left-right-HMM und anschließend gegebenenfalls GRU oder TCN getestet. Die letzte Stufe ist die RL-Prüfung mit Reward, Transition und Wartungskosten.</a:t>
            </a:r>
          </a:p>
          <a:p xmlns:a="http://schemas.openxmlformats.org/drawingml/2006/main">
            <a:r>
              <a:t/>
            </a:r>
          </a:p>
          <a:p xmlns:a="http://schemas.openxmlformats.org/drawingml/2006/main">
            <a:r>
              <a:t>[Sources]</a:t>
            </a:r>
          </a:p>
          <a:p xmlns:a="http://schemas.openxmlformats.org/drawingml/2006/main">
            <a:r>
              <a:t>- weekly_report_final_2026-07-27.md</a:t>
            </a:r>
          </a:p>
          <a:p xmlns:a="http://schemas.openxmlformats.org/drawingml/2006/main">
            <a:r>
              <a:t>- https://proceedings.mlr.press/v97/gelada19a.html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nächste Modellstufe wird nicht nach Modellnamen ausgewählt, sondern nach Diagnoseergebnissen. Wenn HI und Phasen stabil sind und die Historie keinen Zusatznutzen liefert, bleibt das einfache Modell bestehen. Wenn Zustände häufig rückwärts springen, kann zunächst ein Change-Point-Verfahren oder ein Left-right-HMM helfen. Wenn die Historie die Vorhersage von Reward oder nächstem Zustand deutlich verbessert, ist ein GRU oder TCN begründet. Attention wird nur dann behalten, wenn es darüber hinaus einen messbaren Mehrwert liefert.</a:t>
            </a:r>
          </a:p>
          <a:p xmlns:a="http://schemas.openxmlformats.org/drawingml/2006/main">
            <a:r>
              <a:t/>
            </a:r>
          </a:p>
          <a:p xmlns:a="http://schemas.openxmlformats.org/drawingml/2006/main">
            <a:r>
              <a:t>[Sources]</a:t>
            </a:r>
          </a:p>
          <a:p xmlns:a="http://schemas.openxmlformats.org/drawingml/2006/main">
            <a:r>
              <a:t>- weekly_report_final_2026-07-27.md</a:t>
            </a:r>
          </a:p>
          <a:p xmlns:a="http://schemas.openxmlformats.org/drawingml/2006/main">
            <a:r>
              <a:t>- https://journals.sagepub.com/doi/full/10.1155/2014/758785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Als Vorbereitung habe ich ein eigenständiges State-Interpreter-Repository initialisiert. Darin gibt es ein erstes MLP-Interface, gemeinsame Datenverträge für Messung, Embedding und Transition sowie Adapter-Schnittstellen für VibFM, reale Datensätze und die Gearbox-Umgebung. Sechs Softwaretests sind erfolgreich. Wichtig ist die Abgrenzung: Das sind Schnittstellen- und Formtests mit künstlichen Embeddings. Ich habe noch keine realen VibFM-Embeddings extrahiert und noch kein Modell trainiert.</a:t>
            </a:r>
          </a:p>
          <a:p xmlns:a="http://schemas.openxmlformats.org/drawingml/2006/main">
            <a:r>
              <a:t/>
            </a:r>
          </a:p>
          <a:p xmlns:a="http://schemas.openxmlformats.org/drawingml/2006/main">
            <a:r>
              <a:t>[Sources]</a:t>
            </a:r>
          </a:p>
          <a:p xmlns:a="http://schemas.openxmlformats.org/drawingml/2006/main">
            <a:r>
              <a:t>- work_log.md</a:t>
            </a:r>
          </a:p>
          <a:p xmlns:a="http://schemas.openxmlformats.org/drawingml/2006/main">
            <a:r>
              <a:t>- presentation_notes.md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nächste Schritt ist der Übergang von der Schnittstelle zum ersten echten Baseline-Experiment. Dafür brauche ich den pretrained VibFM-Checkpoint, die dazugehörige Codeversion und die Vorverarbeitungsparameter. Danach wähle ich einen Run-to-Failure-Datensatz, extrahiere zeitlich geordnete reale z_health-Embeddings und vergleiche die vier einfachen Baselines. Von Ihnen würde ich gern bestätigen lassen, ob die erste State-Version sowohl einen kontinuierlichen HI als auch Phasenwahrscheinlichkeiten ausgeben soll und welcher Datensatz zuerst verwendet werden soll.</a:t>
            </a:r>
          </a:p>
          <a:p xmlns:a="http://schemas.openxmlformats.org/drawingml/2006/main">
            <a:r>
              <a:t/>
            </a:r>
          </a:p>
          <a:p xmlns:a="http://schemas.openxmlformats.org/drawingml/2006/main">
            <a:r>
              <a:t>[Sources]</a:t>
            </a:r>
          </a:p>
          <a:p xmlns:a="http://schemas.openxmlformats.org/drawingml/2006/main">
            <a:r>
              <a:t>- weekly_report_final_2026-07-27.md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225622f1d145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de3ceacbe74470" /><Relationship Type="http://schemas.openxmlformats.org/officeDocument/2006/relationships/slideLayout" Target="/ppt/slideLayouts/slideLayout1.xml" Id="R78bda19fa4ef4e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8bda19fa4ef4e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bc4bb99bd64187" /><Relationship Type="http://schemas.openxmlformats.org/officeDocument/2006/relationships/notesSlide" Target="/ppt/notesSlides/notesSlide1.xml" Id="Rcd833902b8ea41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9dbe13f9d04106" /><Relationship Type="http://schemas.openxmlformats.org/officeDocument/2006/relationships/notesSlide" Target="/ppt/notesSlides/notesSlide2.xml" Id="R0b28549568c54e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9da1c7b9314896" /><Relationship Type="http://schemas.openxmlformats.org/officeDocument/2006/relationships/notesSlide" Target="/ppt/notesSlides/notesSlide3.xml" Id="R6a2140299dc544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32feb238054cf7" /><Relationship Type="http://schemas.openxmlformats.org/officeDocument/2006/relationships/notesSlide" Target="/ppt/notesSlides/notesSlide4.xml" Id="R8ebb226c17cf42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8e5434cffd54bdb" /><Relationship Type="http://schemas.openxmlformats.org/officeDocument/2006/relationships/notesSlide" Target="/ppt/notesSlides/notesSlide5.xml" Id="Rd3fb85d92de94f5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1ca001efc96427a" /><Relationship Type="http://schemas.openxmlformats.org/officeDocument/2006/relationships/notesSlide" Target="/ppt/notesSlides/notesSlide6.xml" Id="Ra5378acad5e143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6e6ac0c00d74714" /><Relationship Type="http://schemas.openxmlformats.org/officeDocument/2006/relationships/notesSlide" Target="/ppt/notesSlides/notesSlide7.xml" Id="Race2d530252e4a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9507c3a5934068" /><Relationship Type="http://schemas.openxmlformats.org/officeDocument/2006/relationships/notesSlide" Target="/ppt/notesSlides/notesSlide8.xml" Id="R8a26ef0593a94f1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cover-kicker">
            <a:extLst xmlns:a="http://schemas.openxmlformats.org/drawingml/2006/main">
              <a:ext uri="{FF2B5EF4-FFF2-40B4-BE49-F238E27FC236}">
                <a16:creationId xmlns:a16="http://schemas.microsoft.com/office/drawing/2014/main" id="{FF1653DE-B8EF-4D62-8713-8B9918F682A2}"/>
              </a:ext>
            </a:extLst>
          </p:cNvPr>
          <p:cNvSpPr>
            <a:spLocks xmlns:a="http://schemas.openxmlformats.org/drawingml/2006/main" noGrp="1"/>
          </p:cNvSpPr>
          <p:nvPr/>
        </p:nvSpPr>
        <p:spPr>
          <a:xfrm xmlns:a="http://schemas.openxmlformats.org/drawingml/2006/main">
            <a:off x="400050" y="38100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a:solidFill>
                  <a:srgbClr val="000000"/>
                </a:solidFill>
                <a:latin typeface="Arial"/>
                <a:ea typeface="Arial"/>
                <a:cs typeface="Arial"/>
              </a:defRPr>
            </a:pPr>
            <a:r>
              <a:rPr sz="2100">
                <a:solidFill>
                  <a:srgbClr val="000000"/>
                </a:solidFill>
                <a:latin typeface="Arial"/>
                <a:ea typeface="Arial"/>
                <a:cs typeface="Arial"/>
              </a:rPr>
              <a:t>Arbeitsbericht · 27.07.2026</a:t>
            </a:r>
          </a:p>
        </p:txBody>
      </p:sp>
      <p:sp>
        <p:nvSpPr>
          <p:cNvPr id="2" name="cover-title">
            <a:extLst xmlns:a="http://schemas.openxmlformats.org/drawingml/2006/main">
              <a:ext uri="{FF2B5EF4-FFF2-40B4-BE49-F238E27FC236}">
                <a16:creationId xmlns:a16="http://schemas.microsoft.com/office/drawing/2014/main" id="{5B809664-5FA1-4FE6-A781-4008DEB3F8E8}"/>
              </a:ext>
            </a:extLst>
          </p:cNvPr>
          <p:cNvSpPr>
            <a:spLocks xmlns:a="http://schemas.openxmlformats.org/drawingml/2006/main" noGrp="1"/>
          </p:cNvSpPr>
          <p:nvPr/>
        </p:nvSpPr>
        <p:spPr>
          <a:xfrm xmlns:a="http://schemas.openxmlformats.org/drawingml/2006/main">
            <a:off x="400050" y="1809750"/>
            <a:ext cx="96202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4950" b="1">
                <a:solidFill>
                  <a:srgbClr val="000000"/>
                </a:solidFill>
                <a:latin typeface="Arial"/>
                <a:ea typeface="Arial"/>
                <a:cs typeface="Arial"/>
              </a:defRPr>
            </a:pPr>
            <a:r>
              <a:rPr sz="4950" b="1">
                <a:solidFill>
                  <a:srgbClr val="000000"/>
                </a:solidFill>
                <a:latin typeface="Arial"/>
                <a:ea typeface="Arial"/>
                <a:cs typeface="Arial"/>
              </a:rPr>
              <a:t>Vom VibFM-Embedding</a:t>
            </a:r>
          </a:p>
          <a:p xmlns:a="http://schemas.openxmlformats.org/drawingml/2006/main">
            <a:pPr>
              <a:defRPr sz="4950" b="1">
                <a:solidFill>
                  <a:srgbClr val="000000"/>
                </a:solidFill>
                <a:latin typeface="Arial"/>
                <a:ea typeface="Arial"/>
                <a:cs typeface="Arial"/>
              </a:defRPr>
            </a:pPr>
            <a:r>
              <a:rPr sz="4950" b="1">
                <a:solidFill>
                  <a:srgbClr val="000000"/>
                </a:solidFill>
                <a:latin typeface="Arial"/>
                <a:ea typeface="Arial"/>
                <a:cs typeface="Arial"/>
              </a:rPr>
              <a:t>zum RL-tauglichen Zustand</a:t>
            </a:r>
          </a:p>
        </p:txBody>
      </p:sp>
      <p:sp>
        <p:nvSpPr>
          <p:cNvPr id="3" name="cover-subtitle">
            <a:extLst xmlns:a="http://schemas.openxmlformats.org/drawingml/2006/main">
              <a:ext uri="{FF2B5EF4-FFF2-40B4-BE49-F238E27FC236}">
                <a16:creationId xmlns:a16="http://schemas.microsoft.com/office/drawing/2014/main" id="{18C04FDB-0686-4A27-B90A-3EABA15D45E0}"/>
              </a:ext>
            </a:extLst>
          </p:cNvPr>
          <p:cNvSpPr>
            <a:spLocks xmlns:a="http://schemas.openxmlformats.org/drawingml/2006/main" noGrp="1"/>
          </p:cNvSpPr>
          <p:nvPr/>
        </p:nvSpPr>
        <p:spPr>
          <a:xfrm xmlns:a="http://schemas.openxmlformats.org/drawingml/2006/main">
            <a:off x="400050" y="4810125"/>
            <a:ext cx="857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75">
                <a:solidFill>
                  <a:srgbClr val="59616C"/>
                </a:solidFill>
                <a:latin typeface="Arial"/>
                <a:ea typeface="Arial"/>
                <a:cs typeface="Arial"/>
              </a:defRPr>
            </a:pPr>
            <a:r>
              <a:rPr sz="2175">
                <a:solidFill>
                  <a:srgbClr val="59616C"/>
                </a:solidFill>
                <a:latin typeface="Arial"/>
                <a:ea typeface="Arial"/>
                <a:cs typeface="Arial"/>
              </a:rPr>
              <a:t>Literaturbasierte Interpreter-Ideen und eine schrittweise Versuchsstrategie</a:t>
            </a:r>
          </a:p>
        </p:txBody>
      </p:sp>
      <p:sp>
        <p:nvSpPr>
          <p:cNvPr id="4" name="cover-accent">
            <a:extLst xmlns:a="http://schemas.openxmlformats.org/drawingml/2006/main">
              <a:ext uri="{FF2B5EF4-FFF2-40B4-BE49-F238E27FC236}">
                <a16:creationId xmlns:a16="http://schemas.microsoft.com/office/drawing/2014/main" id="{22C605A0-AE10-4532-AB7D-FDF2EA9A9B5B}"/>
              </a:ext>
            </a:extLst>
          </p:cNvPr>
          <p:cNvSpPr>
            <a:spLocks xmlns:a="http://schemas.openxmlformats.org/drawingml/2006/main" noGrp="1"/>
          </p:cNvSpPr>
          <p:nvPr/>
        </p:nvSpPr>
        <p:spPr>
          <a:xfrm xmlns:a="http://schemas.openxmlformats.org/drawingml/2006/main">
            <a:off x="400050" y="5905500"/>
            <a:ext cx="200025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701691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question-kicker">
            <a:extLst xmlns:a="http://schemas.openxmlformats.org/drawingml/2006/main">
              <a:ext uri="{FF2B5EF4-FFF2-40B4-BE49-F238E27FC236}">
                <a16:creationId xmlns:a16="http://schemas.microsoft.com/office/drawing/2014/main" id="{E9F927F6-1F96-4693-B550-01D39B6CBAFE}"/>
              </a:ext>
            </a:extLst>
          </p:cNvPr>
          <p:cNvSpPr>
            <a:spLocks xmlns:a="http://schemas.openxmlformats.org/drawingml/2006/main" noGrp="1"/>
          </p:cNvSpPr>
          <p:nvPr/>
        </p:nvSpPr>
        <p:spPr>
          <a:xfrm xmlns:a="http://schemas.openxmlformats.org/drawingml/2006/main">
            <a:off x="400050" y="381000"/>
            <a:ext cx="4095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3D8DFF"/>
                </a:solidFill>
                <a:latin typeface="Arial"/>
                <a:ea typeface="Arial"/>
                <a:cs typeface="Arial"/>
              </a:defRPr>
            </a:pPr>
            <a:r>
              <a:rPr sz="1875" b="1">
                <a:solidFill>
                  <a:srgbClr val="3D8DFF"/>
                </a:solidFill>
                <a:latin typeface="Arial"/>
                <a:ea typeface="Arial"/>
                <a:cs typeface="Arial"/>
              </a:rPr>
              <a:t>FORSCHUNGSFRAGE</a:t>
            </a:r>
          </a:p>
        </p:txBody>
      </p:sp>
      <p:sp>
        <p:nvSpPr>
          <p:cNvPr id="2" name="question-main">
            <a:extLst xmlns:a="http://schemas.openxmlformats.org/drawingml/2006/main">
              <a:ext uri="{FF2B5EF4-FFF2-40B4-BE49-F238E27FC236}">
                <a16:creationId xmlns:a16="http://schemas.microsoft.com/office/drawing/2014/main" id="{3B0EA755-FB29-4BDC-B67D-2A09C81D80E9}"/>
              </a:ext>
            </a:extLst>
          </p:cNvPr>
          <p:cNvSpPr>
            <a:spLocks xmlns:a="http://schemas.openxmlformats.org/drawingml/2006/main" noGrp="1"/>
          </p:cNvSpPr>
          <p:nvPr/>
        </p:nvSpPr>
        <p:spPr>
          <a:xfrm xmlns:a="http://schemas.openxmlformats.org/drawingml/2006/main">
            <a:off x="400050" y="2047875"/>
            <a:ext cx="10096500"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defRPr sz="4275" b="1">
                <a:solidFill>
                  <a:srgbClr val="000000"/>
                </a:solidFill>
                <a:latin typeface="Arial"/>
                <a:ea typeface="Arial"/>
                <a:cs typeface="Arial"/>
              </a:defRPr>
            </a:pPr>
            <a:r>
              <a:rPr sz="4275" b="1">
                <a:solidFill>
                  <a:srgbClr val="000000"/>
                </a:solidFill>
                <a:latin typeface="Arial"/>
                <a:ea typeface="Arial"/>
                <a:cs typeface="Arial"/>
              </a:rPr>
              <a:t>z_health ist ein gutes Embedding.</a:t>
            </a:r>
          </a:p>
          <a:p xmlns:a="http://schemas.openxmlformats.org/drawingml/2006/main">
            <a:pPr>
              <a:defRPr sz="4275" b="1">
                <a:solidFill>
                  <a:srgbClr val="000000"/>
                </a:solidFill>
                <a:latin typeface="Arial"/>
                <a:ea typeface="Arial"/>
                <a:cs typeface="Arial"/>
              </a:defRPr>
            </a:pPr>
            <a:r>
              <a:rPr sz="4275" b="1">
                <a:solidFill>
                  <a:srgbClr val="000000"/>
                </a:solidFill>
                <a:latin typeface="Arial"/>
                <a:ea typeface="Arial"/>
                <a:cs typeface="Arial"/>
              </a:rPr>
              <a:t>Aber ist es schon ein guter RL-Zustand?</a:t>
            </a:r>
          </a:p>
        </p:txBody>
      </p:sp>
      <p:sp>
        <p:nvSpPr>
          <p:cNvPr id="3" name="question-flow">
            <a:extLst xmlns:a="http://schemas.openxmlformats.org/drawingml/2006/main">
              <a:ext uri="{FF2B5EF4-FFF2-40B4-BE49-F238E27FC236}">
                <a16:creationId xmlns:a16="http://schemas.microsoft.com/office/drawing/2014/main" id="{000EC5D8-2F93-45FC-ACFE-7FDB6B781F26}"/>
              </a:ext>
            </a:extLst>
          </p:cNvPr>
          <p:cNvSpPr>
            <a:spLocks xmlns:a="http://schemas.openxmlformats.org/drawingml/2006/main" noGrp="1"/>
          </p:cNvSpPr>
          <p:nvPr/>
        </p:nvSpPr>
        <p:spPr>
          <a:xfrm xmlns:a="http://schemas.openxmlformats.org/drawingml/2006/main">
            <a:off x="400050" y="5095875"/>
            <a:ext cx="11144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9616C"/>
                </a:solidFill>
                <a:latin typeface="Arial"/>
                <a:ea typeface="Arial"/>
                <a:cs typeface="Arial"/>
              </a:defRPr>
            </a:pPr>
            <a:r>
              <a:rPr sz="1800">
                <a:solidFill>
                  <a:srgbClr val="59616C"/>
                </a:solidFill>
                <a:latin typeface="Arial"/>
                <a:ea typeface="Arial"/>
                <a:cs typeface="Arial"/>
              </a:rPr>
              <a:t>Vibration  →  VibFM  →  z_health  →  State Interpreter  →  Wartungsentscheidung</a:t>
            </a:r>
          </a:p>
        </p:txBody>
      </p:sp>
      <p:sp>
        <p:nvSpPr>
          <p:cNvPr id="4" name="question-accent">
            <a:extLst xmlns:a="http://schemas.openxmlformats.org/drawingml/2006/main">
              <a:ext uri="{FF2B5EF4-FFF2-40B4-BE49-F238E27FC236}">
                <a16:creationId xmlns:a16="http://schemas.microsoft.com/office/drawing/2014/main" id="{167E527A-B8A2-4FB3-AE09-47623633AD48}"/>
              </a:ext>
            </a:extLst>
          </p:cNvPr>
          <p:cNvSpPr>
            <a:spLocks xmlns:a="http://schemas.openxmlformats.org/drawingml/2006/main" noGrp="1"/>
          </p:cNvSpPr>
          <p:nvPr/>
        </p:nvSpPr>
        <p:spPr>
          <a:xfrm xmlns:a="http://schemas.openxmlformats.org/drawingml/2006/main">
            <a:off x="400050" y="5810250"/>
            <a:ext cx="11144250" cy="762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Tree>
    <p:extLst>
      <p:ext uri="{BB962C8B-B14F-4D97-AF65-F5344CB8AC3E}">
        <p14:creationId xmlns:p14="http://schemas.microsoft.com/office/powerpoint/2010/main" val="10458243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8E67E6E7-2F57-4AF0-A1D5-CDDCA96A29EB}"/>
              </a:ext>
            </a:extLst>
          </p:cNvPr>
          <p:cNvSpPr>
            <a:spLocks xmlns:a="http://schemas.openxmlformats.org/drawingml/2006/main" noGrp="1"/>
          </p:cNvSpPr>
          <p:nvPr/>
        </p:nvSpPr>
        <p:spPr>
          <a:xfrm xmlns:a="http://schemas.openxmlformats.org/drawingml/2006/main">
            <a:off x="400050" y="3238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Vier Interpreter-Ideen aus der Literatur</a:t>
            </a:r>
          </a:p>
        </p:txBody>
      </p:sp>
      <p:sp>
        <p:nvSpPr>
          <p:cNvPr id="2" name="page-3">
            <a:extLst xmlns:a="http://schemas.openxmlformats.org/drawingml/2006/main">
              <a:ext uri="{FF2B5EF4-FFF2-40B4-BE49-F238E27FC236}">
                <a16:creationId xmlns:a16="http://schemas.microsoft.com/office/drawing/2014/main" id="{488BC8BD-CC29-49E1-B020-966F424A0B93}"/>
              </a:ext>
            </a:extLst>
          </p:cNvPr>
          <p:cNvSpPr>
            <a:spLocks xmlns:a="http://schemas.openxmlformats.org/drawingml/2006/main" noGrp="1"/>
          </p:cNvSpPr>
          <p:nvPr/>
        </p:nvSpPr>
        <p:spPr>
          <a:xfrm xmlns:a="http://schemas.openxmlformats.org/drawingml/2006/main">
            <a:off x="11239500" y="62865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9616C"/>
                </a:solidFill>
                <a:latin typeface="Arial"/>
                <a:ea typeface="Arial"/>
                <a:cs typeface="Arial"/>
              </a:defRPr>
            </a:pPr>
            <a:r>
              <a:rPr sz="1050">
                <a:solidFill>
                  <a:srgbClr val="59616C"/>
                </a:solidFill>
                <a:latin typeface="Arial"/>
                <a:ea typeface="Arial"/>
                <a:cs typeface="Arial"/>
              </a:rPr>
              <a:t>3</a:t>
            </a:r>
          </a:p>
        </p:txBody>
      </p:sp>
      <p:sp>
        <p:nvSpPr>
          <p:cNvPr id="3" name="idea-panel-0">
            <a:extLst xmlns:a="http://schemas.openxmlformats.org/drawingml/2006/main">
              <a:ext uri="{FF2B5EF4-FFF2-40B4-BE49-F238E27FC236}">
                <a16:creationId xmlns:a16="http://schemas.microsoft.com/office/drawing/2014/main" id="{B641924E-34FE-4532-B2AE-FC8D62EF0A2A}"/>
              </a:ext>
            </a:extLst>
          </p:cNvPr>
          <p:cNvSpPr>
            <a:spLocks xmlns:a="http://schemas.openxmlformats.org/drawingml/2006/main" noGrp="1"/>
          </p:cNvSpPr>
          <p:nvPr/>
        </p:nvSpPr>
        <p:spPr>
          <a:xfrm xmlns:a="http://schemas.openxmlformats.org/drawingml/2006/main">
            <a:off x="400050" y="1809750"/>
            <a:ext cx="53340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idea-title-0">
            <a:extLst xmlns:a="http://schemas.openxmlformats.org/drawingml/2006/main">
              <a:ext uri="{FF2B5EF4-FFF2-40B4-BE49-F238E27FC236}">
                <a16:creationId xmlns:a16="http://schemas.microsoft.com/office/drawing/2014/main" id="{CD5216C9-EAFD-41DA-8F80-5116EC2A9CC2}"/>
              </a:ext>
            </a:extLst>
          </p:cNvPr>
          <p:cNvSpPr>
            <a:spLocks xmlns:a="http://schemas.openxmlformats.org/drawingml/2006/main" noGrp="1"/>
          </p:cNvSpPr>
          <p:nvPr/>
        </p:nvSpPr>
        <p:spPr>
          <a:xfrm xmlns:a="http://schemas.openxmlformats.org/drawingml/2006/main">
            <a:off x="609600" y="20193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1 · Gesundheitsabstand</a:t>
            </a:r>
          </a:p>
        </p:txBody>
      </p:sp>
      <p:sp>
        <p:nvSpPr>
          <p:cNvPr id="5" name="idea-body-0">
            <a:extLst xmlns:a="http://schemas.openxmlformats.org/drawingml/2006/main">
              <a:ext uri="{FF2B5EF4-FFF2-40B4-BE49-F238E27FC236}">
                <a16:creationId xmlns:a16="http://schemas.microsoft.com/office/drawing/2014/main" id="{DC50BDE2-357C-47F1-A116-0A63BE7B7F91}"/>
              </a:ext>
            </a:extLst>
          </p:cNvPr>
          <p:cNvSpPr>
            <a:spLocks xmlns:a="http://schemas.openxmlformats.org/drawingml/2006/main" noGrp="1"/>
          </p:cNvSpPr>
          <p:nvPr/>
        </p:nvSpPr>
        <p:spPr>
          <a:xfrm xmlns:a="http://schemas.openxmlformats.org/drawingml/2006/main">
            <a:off x="609600" y="25717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Distanz zur gesunden Region</a:t>
            </a:r>
          </a:p>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 kontinuierlicher HI</a:t>
            </a:r>
          </a:p>
        </p:txBody>
      </p:sp>
      <p:sp>
        <p:nvSpPr>
          <p:cNvPr id="6" name="idea-panel-1">
            <a:extLst xmlns:a="http://schemas.openxmlformats.org/drawingml/2006/main">
              <a:ext uri="{FF2B5EF4-FFF2-40B4-BE49-F238E27FC236}">
                <a16:creationId xmlns:a16="http://schemas.microsoft.com/office/drawing/2014/main" id="{B1079FD3-FC49-4603-9010-A17C3C66C682}"/>
              </a:ext>
            </a:extLst>
          </p:cNvPr>
          <p:cNvSpPr>
            <a:spLocks xmlns:a="http://schemas.openxmlformats.org/drawingml/2006/main" noGrp="1"/>
          </p:cNvSpPr>
          <p:nvPr/>
        </p:nvSpPr>
        <p:spPr>
          <a:xfrm xmlns:a="http://schemas.openxmlformats.org/drawingml/2006/main">
            <a:off x="6057900" y="1809750"/>
            <a:ext cx="53340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idea-title-1">
            <a:extLst xmlns:a="http://schemas.openxmlformats.org/drawingml/2006/main">
              <a:ext uri="{FF2B5EF4-FFF2-40B4-BE49-F238E27FC236}">
                <a16:creationId xmlns:a16="http://schemas.microsoft.com/office/drawing/2014/main" id="{06337AAB-D1CE-44C7-AA12-EA4055EB9F3B}"/>
              </a:ext>
            </a:extLst>
          </p:cNvPr>
          <p:cNvSpPr>
            <a:spLocks xmlns:a="http://schemas.openxmlformats.org/drawingml/2006/main" noGrp="1"/>
          </p:cNvSpPr>
          <p:nvPr/>
        </p:nvSpPr>
        <p:spPr>
          <a:xfrm xmlns:a="http://schemas.openxmlformats.org/drawingml/2006/main">
            <a:off x="6267450" y="20193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2 · Zustandscluster</a:t>
            </a:r>
          </a:p>
        </p:txBody>
      </p:sp>
      <p:sp>
        <p:nvSpPr>
          <p:cNvPr id="8" name="idea-body-1">
            <a:extLst xmlns:a="http://schemas.openxmlformats.org/drawingml/2006/main">
              <a:ext uri="{FF2B5EF4-FFF2-40B4-BE49-F238E27FC236}">
                <a16:creationId xmlns:a16="http://schemas.microsoft.com/office/drawing/2014/main" id="{6C3AC929-170F-40DA-80B2-5347925934C5}"/>
              </a:ext>
            </a:extLst>
          </p:cNvPr>
          <p:cNvSpPr>
            <a:spLocks xmlns:a="http://schemas.openxmlformats.org/drawingml/2006/main" noGrp="1"/>
          </p:cNvSpPr>
          <p:nvPr/>
        </p:nvSpPr>
        <p:spPr>
          <a:xfrm xmlns:a="http://schemas.openxmlformats.org/drawingml/2006/main">
            <a:off x="6267450" y="25717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Latent-Space-Struktur</a:t>
            </a:r>
          </a:p>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 Degradationsphasen</a:t>
            </a:r>
          </a:p>
        </p:txBody>
      </p:sp>
      <p:sp>
        <p:nvSpPr>
          <p:cNvPr id="9" name="idea-panel-2">
            <a:extLst xmlns:a="http://schemas.openxmlformats.org/drawingml/2006/main">
              <a:ext uri="{FF2B5EF4-FFF2-40B4-BE49-F238E27FC236}">
                <a16:creationId xmlns:a16="http://schemas.microsoft.com/office/drawing/2014/main" id="{70401C2A-BA37-43F6-A4DA-986F286A0060}"/>
              </a:ext>
            </a:extLst>
          </p:cNvPr>
          <p:cNvSpPr>
            <a:spLocks xmlns:a="http://schemas.openxmlformats.org/drawingml/2006/main" noGrp="1"/>
          </p:cNvSpPr>
          <p:nvPr/>
        </p:nvSpPr>
        <p:spPr>
          <a:xfrm xmlns:a="http://schemas.openxmlformats.org/drawingml/2006/main">
            <a:off x="400050" y="3905250"/>
            <a:ext cx="5334000" cy="1666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idea-title-2">
            <a:extLst xmlns:a="http://schemas.openxmlformats.org/drawingml/2006/main">
              <a:ext uri="{FF2B5EF4-FFF2-40B4-BE49-F238E27FC236}">
                <a16:creationId xmlns:a16="http://schemas.microsoft.com/office/drawing/2014/main" id="{73C98EA9-F1AD-4B01-A330-91FDA33B7694}"/>
              </a:ext>
            </a:extLst>
          </p:cNvPr>
          <p:cNvSpPr>
            <a:spLocks xmlns:a="http://schemas.openxmlformats.org/drawingml/2006/main" noGrp="1"/>
          </p:cNvSpPr>
          <p:nvPr/>
        </p:nvSpPr>
        <p:spPr>
          <a:xfrm xmlns:a="http://schemas.openxmlformats.org/drawingml/2006/main">
            <a:off x="609600" y="41148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3 · Zeitmodell</a:t>
            </a:r>
          </a:p>
        </p:txBody>
      </p:sp>
      <p:sp>
        <p:nvSpPr>
          <p:cNvPr id="11" name="idea-body-2">
            <a:extLst xmlns:a="http://schemas.openxmlformats.org/drawingml/2006/main">
              <a:ext uri="{FF2B5EF4-FFF2-40B4-BE49-F238E27FC236}">
                <a16:creationId xmlns:a16="http://schemas.microsoft.com/office/drawing/2014/main" id="{FBD7DD46-E922-49FF-83AE-D3F1C14A1211}"/>
              </a:ext>
            </a:extLst>
          </p:cNvPr>
          <p:cNvSpPr>
            <a:spLocks xmlns:a="http://schemas.openxmlformats.org/drawingml/2006/main" noGrp="1"/>
          </p:cNvSpPr>
          <p:nvPr/>
        </p:nvSpPr>
        <p:spPr>
          <a:xfrm xmlns:a="http://schemas.openxmlformats.org/drawingml/2006/main">
            <a:off x="609600" y="46672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Historie und Übergänge</a:t>
            </a:r>
          </a:p>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 Trend / Hidden State</a:t>
            </a:r>
          </a:p>
        </p:txBody>
      </p:sp>
      <p:sp>
        <p:nvSpPr>
          <p:cNvPr id="12" name="idea-panel-3">
            <a:extLst xmlns:a="http://schemas.openxmlformats.org/drawingml/2006/main">
              <a:ext uri="{FF2B5EF4-FFF2-40B4-BE49-F238E27FC236}">
                <a16:creationId xmlns:a16="http://schemas.microsoft.com/office/drawing/2014/main" id="{DC214096-078E-4C0D-B3EB-99573FC7757B}"/>
              </a:ext>
            </a:extLst>
          </p:cNvPr>
          <p:cNvSpPr>
            <a:spLocks xmlns:a="http://schemas.openxmlformats.org/drawingml/2006/main" noGrp="1"/>
          </p:cNvSpPr>
          <p:nvPr/>
        </p:nvSpPr>
        <p:spPr>
          <a:xfrm xmlns:a="http://schemas.openxmlformats.org/drawingml/2006/main">
            <a:off x="6057900" y="3905250"/>
            <a:ext cx="5334000" cy="1666875"/>
          </a:xfrm>
          <a:prstGeom xmlns:a="http://schemas.openxmlformats.org/drawingml/2006/main" prst="rect">
            <a:avLst/>
          </a:prstGeom>
          <a:solidFill xmlns:a="http://schemas.openxmlformats.org/drawingml/2006/main">
            <a:srgbClr val="DCEBFF"/>
          </a:solidFill>
          <a:ln xmlns:a="http://schemas.openxmlformats.org/drawingml/2006/main" w="0">
            <a:noFill/>
            <a:prstDash val="solid"/>
          </a:ln>
        </p:spPr>
      </p:sp>
      <p:sp>
        <p:nvSpPr>
          <p:cNvPr id="13" name="idea-title-3">
            <a:extLst xmlns:a="http://schemas.openxmlformats.org/drawingml/2006/main">
              <a:ext uri="{FF2B5EF4-FFF2-40B4-BE49-F238E27FC236}">
                <a16:creationId xmlns:a16="http://schemas.microsoft.com/office/drawing/2014/main" id="{8505F933-60B1-48A7-BD5B-B0A07618B442}"/>
              </a:ext>
            </a:extLst>
          </p:cNvPr>
          <p:cNvSpPr>
            <a:spLocks xmlns:a="http://schemas.openxmlformats.org/drawingml/2006/main" noGrp="1"/>
          </p:cNvSpPr>
          <p:nvPr/>
        </p:nvSpPr>
        <p:spPr>
          <a:xfrm xmlns:a="http://schemas.openxmlformats.org/drawingml/2006/main">
            <a:off x="6267450" y="41148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4 · Entscheidungszustand</a:t>
            </a:r>
          </a:p>
        </p:txBody>
      </p:sp>
      <p:sp>
        <p:nvSpPr>
          <p:cNvPr id="14" name="idea-body-3">
            <a:extLst xmlns:a="http://schemas.openxmlformats.org/drawingml/2006/main">
              <a:ext uri="{FF2B5EF4-FFF2-40B4-BE49-F238E27FC236}">
                <a16:creationId xmlns:a16="http://schemas.microsoft.com/office/drawing/2014/main" id="{C8E6E094-AF11-48A5-809C-E665BFB71D6E}"/>
              </a:ext>
            </a:extLst>
          </p:cNvPr>
          <p:cNvSpPr>
            <a:spLocks xmlns:a="http://schemas.openxmlformats.org/drawingml/2006/main" noGrp="1"/>
          </p:cNvSpPr>
          <p:nvPr/>
        </p:nvSpPr>
        <p:spPr>
          <a:xfrm xmlns:a="http://schemas.openxmlformats.org/drawingml/2006/main">
            <a:off x="6267450" y="46672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Reward- und Transition-Information</a:t>
            </a:r>
          </a:p>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 RL-Relevanz</a:t>
            </a:r>
          </a:p>
        </p:txBody>
      </p:sp>
    </p:spTree>
    <p:extLst>
      <p:ext uri="{BB962C8B-B14F-4D97-AF65-F5344CB8AC3E}">
        <p14:creationId xmlns:p14="http://schemas.microsoft.com/office/powerpoint/2010/main" val="15287973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ierarchy-kicker">
            <a:extLst xmlns:a="http://schemas.openxmlformats.org/drawingml/2006/main">
              <a:ext uri="{FF2B5EF4-FFF2-40B4-BE49-F238E27FC236}">
                <a16:creationId xmlns:a16="http://schemas.microsoft.com/office/drawing/2014/main" id="{C3A84E13-9089-4E6C-993E-7D36B9C43117}"/>
              </a:ext>
            </a:extLst>
          </p:cNvPr>
          <p:cNvSpPr>
            <a:spLocks xmlns:a="http://schemas.openxmlformats.org/drawingml/2006/main" noGrp="1"/>
          </p:cNvSpPr>
          <p:nvPr/>
        </p:nvSpPr>
        <p:spPr>
          <a:xfrm xmlns:a="http://schemas.openxmlformats.org/drawingml/2006/main">
            <a:off x="400050" y="381000"/>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3D8DFF"/>
                </a:solidFill>
                <a:latin typeface="Arial"/>
                <a:ea typeface="Arial"/>
                <a:cs typeface="Arial"/>
              </a:defRPr>
            </a:pPr>
            <a:r>
              <a:rPr sz="1875" b="1">
                <a:solidFill>
                  <a:srgbClr val="3D8DFF"/>
                </a:solidFill>
                <a:latin typeface="Arial"/>
                <a:ea typeface="Arial"/>
                <a:cs typeface="Arial"/>
              </a:rPr>
              <a:t>ENTSCHEIDENDE EINORDNUNG</a:t>
            </a:r>
          </a:p>
        </p:txBody>
      </p:sp>
      <p:sp>
        <p:nvSpPr>
          <p:cNvPr id="2" name="hierarchy-main">
            <a:extLst xmlns:a="http://schemas.openxmlformats.org/drawingml/2006/main">
              <a:ext uri="{FF2B5EF4-FFF2-40B4-BE49-F238E27FC236}">
                <a16:creationId xmlns:a16="http://schemas.microsoft.com/office/drawing/2014/main" id="{A084067E-A3EF-49F5-B26A-452A97F2C975}"/>
              </a:ext>
            </a:extLst>
          </p:cNvPr>
          <p:cNvSpPr>
            <a:spLocks xmlns:a="http://schemas.openxmlformats.org/drawingml/2006/main" noGrp="1"/>
          </p:cNvSpPr>
          <p:nvPr/>
        </p:nvSpPr>
        <p:spPr>
          <a:xfrm xmlns:a="http://schemas.openxmlformats.org/drawingml/2006/main">
            <a:off x="400050" y="1381125"/>
            <a:ext cx="1066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525" b="1">
                <a:solidFill>
                  <a:srgbClr val="000000"/>
                </a:solidFill>
                <a:latin typeface="Arial"/>
                <a:ea typeface="Arial"/>
                <a:cs typeface="Arial"/>
              </a:defRPr>
            </a:pPr>
            <a:r>
              <a:rPr sz="3525" b="1">
                <a:solidFill>
                  <a:srgbClr val="000000"/>
                </a:solidFill>
                <a:latin typeface="Arial"/>
                <a:ea typeface="Arial"/>
                <a:cs typeface="Arial"/>
              </a:rPr>
              <a:t>Die vier Ansätze sind keine vier gleichartigen Wettbewerber.</a:t>
            </a:r>
          </a:p>
        </p:txBody>
      </p:sp>
      <p:sp>
        <p:nvSpPr>
          <p:cNvPr id="3" name="semantics-panel">
            <a:extLst xmlns:a="http://schemas.openxmlformats.org/drawingml/2006/main">
              <a:ext uri="{FF2B5EF4-FFF2-40B4-BE49-F238E27FC236}">
                <a16:creationId xmlns:a16="http://schemas.microsoft.com/office/drawing/2014/main" id="{6F226D66-E45B-49B9-A4B1-CBA1C4BE2EB4}"/>
              </a:ext>
            </a:extLst>
          </p:cNvPr>
          <p:cNvSpPr>
            <a:spLocks xmlns:a="http://schemas.openxmlformats.org/drawingml/2006/main" noGrp="1"/>
          </p:cNvSpPr>
          <p:nvPr/>
        </p:nvSpPr>
        <p:spPr>
          <a:xfrm xmlns:a="http://schemas.openxmlformats.org/drawingml/2006/main">
            <a:off x="400050" y="3048000"/>
            <a:ext cx="5143500" cy="2333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4" name="semantics-title">
            <a:extLst xmlns:a="http://schemas.openxmlformats.org/drawingml/2006/main">
              <a:ext uri="{FF2B5EF4-FFF2-40B4-BE49-F238E27FC236}">
                <a16:creationId xmlns:a16="http://schemas.microsoft.com/office/drawing/2014/main" id="{0716DA90-3A70-41AA-B76F-3905510FD468}"/>
              </a:ext>
            </a:extLst>
          </p:cNvPr>
          <p:cNvSpPr>
            <a:spLocks xmlns:a="http://schemas.openxmlformats.org/drawingml/2006/main" noGrp="1"/>
          </p:cNvSpPr>
          <p:nvPr/>
        </p:nvSpPr>
        <p:spPr>
          <a:xfrm xmlns:a="http://schemas.openxmlformats.org/drawingml/2006/main">
            <a:off x="647700" y="33337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Gesundheitssemantik</a:t>
            </a:r>
          </a:p>
        </p:txBody>
      </p:sp>
      <p:sp>
        <p:nvSpPr>
          <p:cNvPr id="5" name="semantics-body">
            <a:extLst xmlns:a="http://schemas.openxmlformats.org/drawingml/2006/main">
              <a:ext uri="{FF2B5EF4-FFF2-40B4-BE49-F238E27FC236}">
                <a16:creationId xmlns:a16="http://schemas.microsoft.com/office/drawing/2014/main" id="{DBCE6F72-12E5-45EA-8D20-C552983211D6}"/>
              </a:ext>
            </a:extLst>
          </p:cNvPr>
          <p:cNvSpPr>
            <a:spLocks xmlns:a="http://schemas.openxmlformats.org/drawingml/2006/main" noGrp="1"/>
          </p:cNvSpPr>
          <p:nvPr/>
        </p:nvSpPr>
        <p:spPr>
          <a:xfrm xmlns:a="http://schemas.openxmlformats.org/drawingml/2006/main">
            <a:off x="647700" y="4000500"/>
            <a:ext cx="4381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 kontinuierlicher HI</a:t>
            </a:r>
          </a:p>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 diskrete Degradationsphase</a:t>
            </a:r>
          </a:p>
        </p:txBody>
      </p:sp>
      <p:sp>
        <p:nvSpPr>
          <p:cNvPr id="6" name="sufficiency-panel">
            <a:extLst xmlns:a="http://schemas.openxmlformats.org/drawingml/2006/main">
              <a:ext uri="{FF2B5EF4-FFF2-40B4-BE49-F238E27FC236}">
                <a16:creationId xmlns:a16="http://schemas.microsoft.com/office/drawing/2014/main" id="{B95CDC98-021C-4976-8C12-E9FFBDD9925B}"/>
              </a:ext>
            </a:extLst>
          </p:cNvPr>
          <p:cNvSpPr>
            <a:spLocks xmlns:a="http://schemas.openxmlformats.org/drawingml/2006/main" noGrp="1"/>
          </p:cNvSpPr>
          <p:nvPr/>
        </p:nvSpPr>
        <p:spPr>
          <a:xfrm xmlns:a="http://schemas.openxmlformats.org/drawingml/2006/main">
            <a:off x="6191250" y="3048000"/>
            <a:ext cx="5143500" cy="2333625"/>
          </a:xfrm>
          <a:prstGeom xmlns:a="http://schemas.openxmlformats.org/drawingml/2006/main" prst="rect">
            <a:avLst/>
          </a:prstGeom>
          <a:solidFill xmlns:a="http://schemas.openxmlformats.org/drawingml/2006/main">
            <a:srgbClr val="DCEBFF"/>
          </a:solidFill>
          <a:ln xmlns:a="http://schemas.openxmlformats.org/drawingml/2006/main" w="0">
            <a:noFill/>
            <a:prstDash val="solid"/>
          </a:ln>
        </p:spPr>
      </p:sp>
      <p:sp>
        <p:nvSpPr>
          <p:cNvPr id="7" name="sufficiency-title">
            <a:extLst xmlns:a="http://schemas.openxmlformats.org/drawingml/2006/main">
              <a:ext uri="{FF2B5EF4-FFF2-40B4-BE49-F238E27FC236}">
                <a16:creationId xmlns:a16="http://schemas.microsoft.com/office/drawing/2014/main" id="{A00E34BB-1ABF-4B76-9AFF-E61321751E19}"/>
              </a:ext>
            </a:extLst>
          </p:cNvPr>
          <p:cNvSpPr>
            <a:spLocks xmlns:a="http://schemas.openxmlformats.org/drawingml/2006/main" noGrp="1"/>
          </p:cNvSpPr>
          <p:nvPr/>
        </p:nvSpPr>
        <p:spPr>
          <a:xfrm xmlns:a="http://schemas.openxmlformats.org/drawingml/2006/main">
            <a:off x="6438900" y="3333750"/>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Zustandssuffizienz</a:t>
            </a:r>
          </a:p>
        </p:txBody>
      </p:sp>
      <p:sp>
        <p:nvSpPr>
          <p:cNvPr id="8" name="sufficiency-body">
            <a:extLst xmlns:a="http://schemas.openxmlformats.org/drawingml/2006/main">
              <a:ext uri="{FF2B5EF4-FFF2-40B4-BE49-F238E27FC236}">
                <a16:creationId xmlns:a16="http://schemas.microsoft.com/office/drawing/2014/main" id="{078DFB3A-C336-4076-9C26-9DE7304F6AEA}"/>
              </a:ext>
            </a:extLst>
          </p:cNvPr>
          <p:cNvSpPr>
            <a:spLocks xmlns:a="http://schemas.openxmlformats.org/drawingml/2006/main" noGrp="1"/>
          </p:cNvSpPr>
          <p:nvPr/>
        </p:nvSpPr>
        <p:spPr>
          <a:xfrm xmlns:a="http://schemas.openxmlformats.org/drawingml/2006/main">
            <a:off x="6438900" y="4000500"/>
            <a:ext cx="4476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 reicht ein Zeitfenster?</a:t>
            </a:r>
          </a:p>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 bleiben Reward und Dynamik erhalten?</a:t>
            </a:r>
          </a:p>
        </p:txBody>
      </p:sp>
    </p:spTree>
    <p:extLst>
      <p:ext uri="{BB962C8B-B14F-4D97-AF65-F5344CB8AC3E}">
        <p14:creationId xmlns:p14="http://schemas.microsoft.com/office/powerpoint/2010/main" val="6639000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5">
            <a:extLst xmlns:a="http://schemas.openxmlformats.org/drawingml/2006/main">
              <a:ext uri="{FF2B5EF4-FFF2-40B4-BE49-F238E27FC236}">
                <a16:creationId xmlns:a16="http://schemas.microsoft.com/office/drawing/2014/main" id="{F439151F-F954-45E0-AE8D-5D399F09D614}"/>
              </a:ext>
            </a:extLst>
          </p:cNvPr>
          <p:cNvSpPr>
            <a:spLocks xmlns:a="http://schemas.openxmlformats.org/drawingml/2006/main" noGrp="1"/>
          </p:cNvSpPr>
          <p:nvPr/>
        </p:nvSpPr>
        <p:spPr>
          <a:xfrm xmlns:a="http://schemas.openxmlformats.org/drawingml/2006/main">
            <a:off x="400050" y="3238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Komplexität wird nur bei messbarem Bedarf erhöht</a:t>
            </a:r>
          </a:p>
        </p:txBody>
      </p:sp>
      <p:sp>
        <p:nvSpPr>
          <p:cNvPr id="2" name="page-5">
            <a:extLst xmlns:a="http://schemas.openxmlformats.org/drawingml/2006/main">
              <a:ext uri="{FF2B5EF4-FFF2-40B4-BE49-F238E27FC236}">
                <a16:creationId xmlns:a16="http://schemas.microsoft.com/office/drawing/2014/main" id="{526DF2F9-4E51-4DAD-8B25-6F62F1C45845}"/>
              </a:ext>
            </a:extLst>
          </p:cNvPr>
          <p:cNvSpPr>
            <a:spLocks xmlns:a="http://schemas.openxmlformats.org/drawingml/2006/main" noGrp="1"/>
          </p:cNvSpPr>
          <p:nvPr/>
        </p:nvSpPr>
        <p:spPr>
          <a:xfrm xmlns:a="http://schemas.openxmlformats.org/drawingml/2006/main">
            <a:off x="11239500" y="62865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9616C"/>
                </a:solidFill>
                <a:latin typeface="Arial"/>
                <a:ea typeface="Arial"/>
                <a:cs typeface="Arial"/>
              </a:defRPr>
            </a:pPr>
            <a:r>
              <a:rPr sz="1050">
                <a:solidFill>
                  <a:srgbClr val="59616C"/>
                </a:solidFill>
                <a:latin typeface="Arial"/>
                <a:ea typeface="Arial"/>
                <a:cs typeface="Arial"/>
              </a:rPr>
              <a:t>5</a:t>
            </a:r>
          </a:p>
        </p:txBody>
      </p:sp>
      <p:cxnSp>
        <p:nvCxnSpPr>
          <p:cNvPr id="19" name="route-line"/>
          <p:cNvCxnSpPr/>
          <p:nvPr/>
        </p:nvCxnSpPr>
        <p:spPr>
          <a:xfrm xmlns:a="http://schemas.openxmlformats.org/drawingml/2006/main">
            <a:off x="904875" y="3286125"/>
            <a:ext cx="9810750" cy="0"/>
          </a:xfrm>
          <a:prstGeom xmlns:a="http://schemas.openxmlformats.org/drawingml/2006/main" prst="straightConnector1">
            <a:avLst/>
          </a:prstGeom>
          <a:ln xmlns:a="http://schemas.openxmlformats.org/drawingml/2006/main" w="19050">
            <a:solidFill>
              <a:srgbClr val="000000"/>
            </a:solidFill>
            <a:prstDash val="solid"/>
          </a:ln>
        </p:spPr>
      </p:cxnSp>
      <p:sp>
        <p:nvSpPr>
          <p:cNvPr id="4" name="route-dot-0">
            <a:extLst xmlns:a="http://schemas.openxmlformats.org/drawingml/2006/main">
              <a:ext uri="{FF2B5EF4-FFF2-40B4-BE49-F238E27FC236}">
                <a16:creationId xmlns:a16="http://schemas.microsoft.com/office/drawing/2014/main" id="{46C53B68-A921-4530-90EF-EF2A18BD3E0B}"/>
              </a:ext>
            </a:extLst>
          </p:cNvPr>
          <p:cNvSpPr>
            <a:spLocks xmlns:a="http://schemas.openxmlformats.org/drawingml/2006/main" noGrp="1"/>
          </p:cNvSpPr>
          <p:nvPr/>
        </p:nvSpPr>
        <p:spPr>
          <a:xfrm xmlns:a="http://schemas.openxmlformats.org/drawingml/2006/main">
            <a:off x="952500" y="3190875"/>
            <a:ext cx="190500" cy="1905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5" name="route-label-0">
            <a:extLst xmlns:a="http://schemas.openxmlformats.org/drawingml/2006/main">
              <a:ext uri="{FF2B5EF4-FFF2-40B4-BE49-F238E27FC236}">
                <a16:creationId xmlns:a16="http://schemas.microsoft.com/office/drawing/2014/main" id="{9E9E3433-1DB5-4DB6-AECD-0AC33E338083}"/>
              </a:ext>
            </a:extLst>
          </p:cNvPr>
          <p:cNvSpPr>
            <a:spLocks xmlns:a="http://schemas.openxmlformats.org/drawingml/2006/main" noGrp="1"/>
          </p:cNvSpPr>
          <p:nvPr/>
        </p:nvSpPr>
        <p:spPr>
          <a:xfrm xmlns:a="http://schemas.openxmlformats.org/drawingml/2006/main">
            <a:off x="333375" y="25241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Arial"/>
                <a:ea typeface="Arial"/>
                <a:cs typeface="Arial"/>
              </a:defRPr>
            </a:pPr>
            <a:r>
              <a:rPr sz="1650" b="1">
                <a:solidFill>
                  <a:srgbClr val="000000"/>
                </a:solidFill>
                <a:latin typeface="Arial"/>
                <a:ea typeface="Arial"/>
                <a:cs typeface="Arial"/>
              </a:rPr>
              <a:t>Basis</a:t>
            </a:r>
          </a:p>
        </p:txBody>
      </p:sp>
      <p:sp>
        <p:nvSpPr>
          <p:cNvPr id="6" name="route-body-0">
            <a:extLst xmlns:a="http://schemas.openxmlformats.org/drawingml/2006/main">
              <a:ext uri="{FF2B5EF4-FFF2-40B4-BE49-F238E27FC236}">
                <a16:creationId xmlns:a16="http://schemas.microsoft.com/office/drawing/2014/main" id="{B34991E8-5F27-4F26-9D5A-E2B80AD39DF2}"/>
              </a:ext>
            </a:extLst>
          </p:cNvPr>
          <p:cNvSpPr>
            <a:spLocks xmlns:a="http://schemas.openxmlformats.org/drawingml/2006/main" noGrp="1"/>
          </p:cNvSpPr>
          <p:nvPr/>
        </p:nvSpPr>
        <p:spPr>
          <a:xfrm xmlns:a="http://schemas.openxmlformats.org/drawingml/2006/main">
            <a:off x="400050" y="3714750"/>
            <a:ext cx="2286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a:solidFill>
                  <a:srgbClr val="59616C"/>
                </a:solidFill>
                <a:latin typeface="Arial"/>
                <a:ea typeface="Arial"/>
                <a:cs typeface="Arial"/>
              </a:defRPr>
            </a:pPr>
            <a:r>
              <a:rPr sz="1500">
                <a:solidFill>
                  <a:srgbClr val="59616C"/>
                </a:solidFill>
                <a:latin typeface="Arial"/>
                <a:ea typeface="Arial"/>
                <a:cs typeface="Arial"/>
              </a:rPr>
              <a:t>Identity · HI · Phasen · MLP</a:t>
            </a:r>
          </a:p>
        </p:txBody>
      </p:sp>
      <p:sp>
        <p:nvSpPr>
          <p:cNvPr id="7" name="route-dot-1">
            <a:extLst xmlns:a="http://schemas.openxmlformats.org/drawingml/2006/main">
              <a:ext uri="{FF2B5EF4-FFF2-40B4-BE49-F238E27FC236}">
                <a16:creationId xmlns:a16="http://schemas.microsoft.com/office/drawing/2014/main" id="{AB678D4F-FB76-4A11-BECE-95DF150C3D2C}"/>
              </a:ext>
            </a:extLst>
          </p:cNvPr>
          <p:cNvSpPr>
            <a:spLocks xmlns:a="http://schemas.openxmlformats.org/drawingml/2006/main" noGrp="1"/>
          </p:cNvSpPr>
          <p:nvPr/>
        </p:nvSpPr>
        <p:spPr>
          <a:xfrm xmlns:a="http://schemas.openxmlformats.org/drawingml/2006/main">
            <a:off x="4191000" y="3190875"/>
            <a:ext cx="190500" cy="1905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8" name="route-label-1">
            <a:extLst xmlns:a="http://schemas.openxmlformats.org/drawingml/2006/main">
              <a:ext uri="{FF2B5EF4-FFF2-40B4-BE49-F238E27FC236}">
                <a16:creationId xmlns:a16="http://schemas.microsoft.com/office/drawing/2014/main" id="{464AC092-B5B2-410B-9173-FBFA00F292D7}"/>
              </a:ext>
            </a:extLst>
          </p:cNvPr>
          <p:cNvSpPr>
            <a:spLocks xmlns:a="http://schemas.openxmlformats.org/drawingml/2006/main" noGrp="1"/>
          </p:cNvSpPr>
          <p:nvPr/>
        </p:nvSpPr>
        <p:spPr>
          <a:xfrm xmlns:a="http://schemas.openxmlformats.org/drawingml/2006/main">
            <a:off x="3571875" y="25241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Arial"/>
                <a:ea typeface="Arial"/>
                <a:cs typeface="Arial"/>
              </a:defRPr>
            </a:pPr>
            <a:r>
              <a:rPr sz="1650" b="1">
                <a:solidFill>
                  <a:srgbClr val="000000"/>
                </a:solidFill>
                <a:latin typeface="Arial"/>
                <a:ea typeface="Arial"/>
                <a:cs typeface="Arial"/>
              </a:rPr>
              <a:t>Zeitprüfung</a:t>
            </a:r>
          </a:p>
        </p:txBody>
      </p:sp>
      <p:sp>
        <p:nvSpPr>
          <p:cNvPr id="9" name="route-body-1">
            <a:extLst xmlns:a="http://schemas.openxmlformats.org/drawingml/2006/main">
              <a:ext uri="{FF2B5EF4-FFF2-40B4-BE49-F238E27FC236}">
                <a16:creationId xmlns:a16="http://schemas.microsoft.com/office/drawing/2014/main" id="{44700F85-04E3-41F4-9880-52205B8E1161}"/>
              </a:ext>
            </a:extLst>
          </p:cNvPr>
          <p:cNvSpPr>
            <a:spLocks xmlns:a="http://schemas.openxmlformats.org/drawingml/2006/main" noGrp="1"/>
          </p:cNvSpPr>
          <p:nvPr/>
        </p:nvSpPr>
        <p:spPr>
          <a:xfrm xmlns:a="http://schemas.openxmlformats.org/drawingml/2006/main">
            <a:off x="3143250" y="3714750"/>
            <a:ext cx="2286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a:solidFill>
                  <a:srgbClr val="59616C"/>
                </a:solidFill>
                <a:latin typeface="Arial"/>
                <a:ea typeface="Arial"/>
                <a:cs typeface="Arial"/>
              </a:defRPr>
            </a:pPr>
            <a:r>
              <a:rPr sz="1500">
                <a:solidFill>
                  <a:srgbClr val="59616C"/>
                </a:solidFill>
                <a:latin typeface="Arial"/>
                <a:ea typeface="Arial"/>
                <a:cs typeface="Arial"/>
              </a:rPr>
              <a:t>Stabilität · History Gain</a:t>
            </a:r>
          </a:p>
        </p:txBody>
      </p:sp>
      <p:sp>
        <p:nvSpPr>
          <p:cNvPr id="10" name="route-dot-2">
            <a:extLst xmlns:a="http://schemas.openxmlformats.org/drawingml/2006/main">
              <a:ext uri="{FF2B5EF4-FFF2-40B4-BE49-F238E27FC236}">
                <a16:creationId xmlns:a16="http://schemas.microsoft.com/office/drawing/2014/main" id="{5E71FBE8-488B-41D2-B720-91AD6F4B4FB9}"/>
              </a:ext>
            </a:extLst>
          </p:cNvPr>
          <p:cNvSpPr>
            <a:spLocks xmlns:a="http://schemas.openxmlformats.org/drawingml/2006/main" noGrp="1"/>
          </p:cNvSpPr>
          <p:nvPr/>
        </p:nvSpPr>
        <p:spPr>
          <a:xfrm xmlns:a="http://schemas.openxmlformats.org/drawingml/2006/main">
            <a:off x="7429500" y="3190875"/>
            <a:ext cx="190500" cy="190500"/>
          </a:xfrm>
          <a:prstGeom xmlns:a="http://schemas.openxmlformats.org/drawingml/2006/main" prst="ellipse">
            <a:avLst/>
          </a:prstGeom>
          <a:solidFill xmlns:a="http://schemas.openxmlformats.org/drawingml/2006/main">
            <a:srgbClr val="000000"/>
          </a:solidFill>
          <a:ln xmlns:a="http://schemas.openxmlformats.org/drawingml/2006/main" w="0">
            <a:noFill/>
            <a:prstDash val="solid"/>
          </a:ln>
        </p:spPr>
      </p:sp>
      <p:sp>
        <p:nvSpPr>
          <p:cNvPr id="11" name="route-label-2">
            <a:extLst xmlns:a="http://schemas.openxmlformats.org/drawingml/2006/main">
              <a:ext uri="{FF2B5EF4-FFF2-40B4-BE49-F238E27FC236}">
                <a16:creationId xmlns:a16="http://schemas.microsoft.com/office/drawing/2014/main" id="{425CB296-DC85-46C2-8F18-7846999E7EF6}"/>
              </a:ext>
            </a:extLst>
          </p:cNvPr>
          <p:cNvSpPr>
            <a:spLocks xmlns:a="http://schemas.openxmlformats.org/drawingml/2006/main" noGrp="1"/>
          </p:cNvSpPr>
          <p:nvPr/>
        </p:nvSpPr>
        <p:spPr>
          <a:xfrm xmlns:a="http://schemas.openxmlformats.org/drawingml/2006/main">
            <a:off x="6810375" y="25241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Arial"/>
                <a:ea typeface="Arial"/>
                <a:cs typeface="Arial"/>
              </a:defRPr>
            </a:pPr>
            <a:r>
              <a:rPr sz="1650" b="1">
                <a:solidFill>
                  <a:srgbClr val="000000"/>
                </a:solidFill>
                <a:latin typeface="Arial"/>
                <a:ea typeface="Arial"/>
                <a:cs typeface="Arial"/>
              </a:rPr>
              <a:t>Zeitmodell</a:t>
            </a:r>
          </a:p>
        </p:txBody>
      </p:sp>
      <p:sp>
        <p:nvSpPr>
          <p:cNvPr id="12" name="route-body-2">
            <a:extLst xmlns:a="http://schemas.openxmlformats.org/drawingml/2006/main">
              <a:ext uri="{FF2B5EF4-FFF2-40B4-BE49-F238E27FC236}">
                <a16:creationId xmlns:a16="http://schemas.microsoft.com/office/drawing/2014/main" id="{3D930AAE-2688-4037-8E92-58FD2E22F752}"/>
              </a:ext>
            </a:extLst>
          </p:cNvPr>
          <p:cNvSpPr>
            <a:spLocks xmlns:a="http://schemas.openxmlformats.org/drawingml/2006/main" noGrp="1"/>
          </p:cNvSpPr>
          <p:nvPr/>
        </p:nvSpPr>
        <p:spPr>
          <a:xfrm xmlns:a="http://schemas.openxmlformats.org/drawingml/2006/main">
            <a:off x="6381750" y="3714750"/>
            <a:ext cx="2286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a:solidFill>
                  <a:srgbClr val="59616C"/>
                </a:solidFill>
                <a:latin typeface="Arial"/>
                <a:ea typeface="Arial"/>
                <a:cs typeface="Arial"/>
              </a:defRPr>
            </a:pPr>
            <a:r>
              <a:rPr sz="1500">
                <a:solidFill>
                  <a:srgbClr val="59616C"/>
                </a:solidFill>
                <a:latin typeface="Arial"/>
                <a:ea typeface="Arial"/>
                <a:cs typeface="Arial"/>
              </a:rPr>
              <a:t>CPD/HMM, dann GRU/TCN</a:t>
            </a:r>
          </a:p>
        </p:txBody>
      </p:sp>
      <p:sp>
        <p:nvSpPr>
          <p:cNvPr id="13" name="route-dot-3">
            <a:extLst xmlns:a="http://schemas.openxmlformats.org/drawingml/2006/main">
              <a:ext uri="{FF2B5EF4-FFF2-40B4-BE49-F238E27FC236}">
                <a16:creationId xmlns:a16="http://schemas.microsoft.com/office/drawing/2014/main" id="{F5A869E5-545A-4DE0-ADD5-247C96446019}"/>
              </a:ext>
            </a:extLst>
          </p:cNvPr>
          <p:cNvSpPr>
            <a:spLocks xmlns:a="http://schemas.openxmlformats.org/drawingml/2006/main" noGrp="1"/>
          </p:cNvSpPr>
          <p:nvPr/>
        </p:nvSpPr>
        <p:spPr>
          <a:xfrm xmlns:a="http://schemas.openxmlformats.org/drawingml/2006/main">
            <a:off x="10572750" y="3190875"/>
            <a:ext cx="190500" cy="1905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route-label-3">
            <a:extLst xmlns:a="http://schemas.openxmlformats.org/drawingml/2006/main">
              <a:ext uri="{FF2B5EF4-FFF2-40B4-BE49-F238E27FC236}">
                <a16:creationId xmlns:a16="http://schemas.microsoft.com/office/drawing/2014/main" id="{1CFC2D81-E96A-409F-AAE5-03DF01F136F8}"/>
              </a:ext>
            </a:extLst>
          </p:cNvPr>
          <p:cNvSpPr>
            <a:spLocks xmlns:a="http://schemas.openxmlformats.org/drawingml/2006/main" noGrp="1"/>
          </p:cNvSpPr>
          <p:nvPr/>
        </p:nvSpPr>
        <p:spPr>
          <a:xfrm xmlns:a="http://schemas.openxmlformats.org/drawingml/2006/main">
            <a:off x="9620250" y="2524125"/>
            <a:ext cx="1714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0000"/>
                </a:solidFill>
                <a:latin typeface="Arial"/>
                <a:ea typeface="Arial"/>
                <a:cs typeface="Arial"/>
              </a:defRPr>
            </a:pPr>
            <a:r>
              <a:rPr sz="1650" b="1">
                <a:solidFill>
                  <a:srgbClr val="000000"/>
                </a:solidFill>
                <a:latin typeface="Arial"/>
                <a:ea typeface="Arial"/>
                <a:cs typeface="Arial"/>
              </a:rPr>
              <a:t>RL-Prüfung</a:t>
            </a:r>
          </a:p>
        </p:txBody>
      </p:sp>
      <p:sp>
        <p:nvSpPr>
          <p:cNvPr id="15" name="route-body-3">
            <a:extLst xmlns:a="http://schemas.openxmlformats.org/drawingml/2006/main">
              <a:ext uri="{FF2B5EF4-FFF2-40B4-BE49-F238E27FC236}">
                <a16:creationId xmlns:a16="http://schemas.microsoft.com/office/drawing/2014/main" id="{DCFA8746-2644-4CA6-8997-685914FC35CC}"/>
              </a:ext>
            </a:extLst>
          </p:cNvPr>
          <p:cNvSpPr>
            <a:spLocks xmlns:a="http://schemas.openxmlformats.org/drawingml/2006/main" noGrp="1"/>
          </p:cNvSpPr>
          <p:nvPr/>
        </p:nvSpPr>
        <p:spPr>
          <a:xfrm xmlns:a="http://schemas.openxmlformats.org/drawingml/2006/main">
            <a:off x="9525000" y="3714750"/>
            <a:ext cx="2286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a:solidFill>
                  <a:srgbClr val="59616C"/>
                </a:solidFill>
                <a:latin typeface="Arial"/>
                <a:ea typeface="Arial"/>
                <a:cs typeface="Arial"/>
              </a:defRPr>
            </a:pPr>
            <a:r>
              <a:rPr sz="1500">
                <a:solidFill>
                  <a:srgbClr val="59616C"/>
                </a:solidFill>
                <a:latin typeface="Arial"/>
                <a:ea typeface="Arial"/>
                <a:cs typeface="Arial"/>
              </a:rPr>
              <a:t>Reward · Transition · Kosten</a:t>
            </a:r>
          </a:p>
        </p:txBody>
      </p:sp>
      <p:sp>
        <p:nvSpPr>
          <p:cNvPr id="16" name="route-callout">
            <a:extLst xmlns:a="http://schemas.openxmlformats.org/drawingml/2006/main">
              <a:ext uri="{FF2B5EF4-FFF2-40B4-BE49-F238E27FC236}">
                <a16:creationId xmlns:a16="http://schemas.microsoft.com/office/drawing/2014/main" id="{A5F7356A-3672-4DED-B82C-244430CEBB5F}"/>
              </a:ext>
            </a:extLst>
          </p:cNvPr>
          <p:cNvSpPr>
            <a:spLocks xmlns:a="http://schemas.openxmlformats.org/drawingml/2006/main" noGrp="1"/>
          </p:cNvSpPr>
          <p:nvPr/>
        </p:nvSpPr>
        <p:spPr>
          <a:xfrm xmlns:a="http://schemas.openxmlformats.org/drawingml/2006/main">
            <a:off x="1524000" y="5381625"/>
            <a:ext cx="914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000000"/>
                </a:solidFill>
                <a:latin typeface="Arial"/>
                <a:ea typeface="Arial"/>
                <a:cs typeface="Arial"/>
              </a:defRPr>
            </a:pPr>
            <a:r>
              <a:rPr sz="2100" b="1">
                <a:solidFill>
                  <a:srgbClr val="000000"/>
                </a:solidFill>
                <a:latin typeface="Arial"/>
                <a:ea typeface="Arial"/>
                <a:cs typeface="Arial"/>
              </a:rPr>
              <a:t>Ziel: das einfachste Modell, das für die Wartungsentscheidung ausreicht.</a:t>
            </a:r>
          </a:p>
        </p:txBody>
      </p:sp>
    </p:spTree>
    <p:extLst>
      <p:ext uri="{BB962C8B-B14F-4D97-AF65-F5344CB8AC3E}">
        <p14:creationId xmlns:p14="http://schemas.microsoft.com/office/powerpoint/2010/main" val="10308552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AD4A4561-726B-45FD-AA9A-78683231EBFA}"/>
              </a:ext>
            </a:extLst>
          </p:cNvPr>
          <p:cNvSpPr>
            <a:spLocks xmlns:a="http://schemas.openxmlformats.org/drawingml/2006/main" noGrp="1"/>
          </p:cNvSpPr>
          <p:nvPr/>
        </p:nvSpPr>
        <p:spPr>
          <a:xfrm xmlns:a="http://schemas.openxmlformats.org/drawingml/2006/main">
            <a:off x="400050" y="3238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Wann wird die nächste Modellstufe benötigt?</a:t>
            </a:r>
          </a:p>
        </p:txBody>
      </p:sp>
      <p:sp>
        <p:nvSpPr>
          <p:cNvPr id="2" name="page-6">
            <a:extLst xmlns:a="http://schemas.openxmlformats.org/drawingml/2006/main">
              <a:ext uri="{FF2B5EF4-FFF2-40B4-BE49-F238E27FC236}">
                <a16:creationId xmlns:a16="http://schemas.microsoft.com/office/drawing/2014/main" id="{5E7D494D-6ED7-458A-91E9-C44D006C7847}"/>
              </a:ext>
            </a:extLst>
          </p:cNvPr>
          <p:cNvSpPr>
            <a:spLocks xmlns:a="http://schemas.openxmlformats.org/drawingml/2006/main" noGrp="1"/>
          </p:cNvSpPr>
          <p:nvPr/>
        </p:nvSpPr>
        <p:spPr>
          <a:xfrm xmlns:a="http://schemas.openxmlformats.org/drawingml/2006/main">
            <a:off x="11239500" y="62865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9616C"/>
                </a:solidFill>
                <a:latin typeface="Arial"/>
                <a:ea typeface="Arial"/>
                <a:cs typeface="Arial"/>
              </a:defRPr>
            </a:pPr>
            <a:r>
              <a:rPr sz="1050">
                <a:solidFill>
                  <a:srgbClr val="59616C"/>
                </a:solidFill>
                <a:latin typeface="Arial"/>
                <a:ea typeface="Arial"/>
                <a:cs typeface="Arial"/>
              </a:rPr>
              <a:t>6</a:t>
            </a:r>
          </a:p>
        </p:txBody>
      </p:sp>
      <p:sp>
        <p:nvSpPr>
          <p:cNvPr id="3" name="gates-left-lead">
            <a:extLst xmlns:a="http://schemas.openxmlformats.org/drawingml/2006/main">
              <a:ext uri="{FF2B5EF4-FFF2-40B4-BE49-F238E27FC236}">
                <a16:creationId xmlns:a16="http://schemas.microsoft.com/office/drawing/2014/main" id="{24C3F89B-63B9-488F-8690-48CDEB0DB175}"/>
              </a:ext>
            </a:extLst>
          </p:cNvPr>
          <p:cNvSpPr>
            <a:spLocks xmlns:a="http://schemas.openxmlformats.org/drawingml/2006/main" noGrp="1"/>
          </p:cNvSpPr>
          <p:nvPr/>
        </p:nvSpPr>
        <p:spPr>
          <a:xfrm xmlns:a="http://schemas.openxmlformats.org/drawingml/2006/main">
            <a:off x="400050" y="1714500"/>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Einfache Lösung beibehalten, wenn …</a:t>
            </a:r>
          </a:p>
        </p:txBody>
      </p:sp>
      <p:sp>
        <p:nvSpPr>
          <p:cNvPr id="4" name="gates-left">
            <a:extLst xmlns:a="http://schemas.openxmlformats.org/drawingml/2006/main">
              <a:ext uri="{FF2B5EF4-FFF2-40B4-BE49-F238E27FC236}">
                <a16:creationId xmlns:a16="http://schemas.microsoft.com/office/drawing/2014/main" id="{C6C72DCB-3272-444C-B56B-5A674421B111}"/>
              </a:ext>
            </a:extLst>
          </p:cNvPr>
          <p:cNvSpPr>
            <a:spLocks xmlns:a="http://schemas.openxmlformats.org/drawingml/2006/main" noGrp="1"/>
          </p:cNvSpPr>
          <p:nvPr/>
        </p:nvSpPr>
        <p:spPr>
          <a:xfrm xmlns:a="http://schemas.openxmlformats.org/drawingml/2006/main">
            <a:off x="400050" y="2571750"/>
            <a:ext cx="5238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HI und Phasen zeitlich stabil sind</a:t>
            </a:r>
          </a:p>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Historie keinen Zusatznutzen liefert</a:t>
            </a:r>
          </a:p>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der Zustand Reward/Dynamik ausreichend erklärt</a:t>
            </a:r>
          </a:p>
        </p:txBody>
      </p:sp>
      <p:sp>
        <p:nvSpPr>
          <p:cNvPr id="5" name="gates-rule">
            <a:extLst xmlns:a="http://schemas.openxmlformats.org/drawingml/2006/main">
              <a:ext uri="{FF2B5EF4-FFF2-40B4-BE49-F238E27FC236}">
                <a16:creationId xmlns:a16="http://schemas.microsoft.com/office/drawing/2014/main" id="{428D29C9-6150-4051-B38F-35D25DA778F0}"/>
              </a:ext>
            </a:extLst>
          </p:cNvPr>
          <p:cNvSpPr>
            <a:spLocks xmlns:a="http://schemas.openxmlformats.org/drawingml/2006/main" noGrp="1"/>
          </p:cNvSpPr>
          <p:nvPr/>
        </p:nvSpPr>
        <p:spPr>
          <a:xfrm xmlns:a="http://schemas.openxmlformats.org/drawingml/2006/main">
            <a:off x="5905500" y="1571625"/>
            <a:ext cx="19050" cy="39052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gates-right-lead">
            <a:extLst xmlns:a="http://schemas.openxmlformats.org/drawingml/2006/main">
              <a:ext uri="{FF2B5EF4-FFF2-40B4-BE49-F238E27FC236}">
                <a16:creationId xmlns:a16="http://schemas.microsoft.com/office/drawing/2014/main" id="{30C4B5EE-2F0C-498F-98B1-F7DE7FF17636}"/>
              </a:ext>
            </a:extLst>
          </p:cNvPr>
          <p:cNvSpPr>
            <a:spLocks xmlns:a="http://schemas.openxmlformats.org/drawingml/2006/main" noGrp="1"/>
          </p:cNvSpPr>
          <p:nvPr/>
        </p:nvSpPr>
        <p:spPr>
          <a:xfrm xmlns:a="http://schemas.openxmlformats.org/drawingml/2006/main">
            <a:off x="6429375" y="1714500"/>
            <a:ext cx="514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b="1">
                <a:solidFill>
                  <a:srgbClr val="000000"/>
                </a:solidFill>
                <a:latin typeface="Arial"/>
                <a:ea typeface="Arial"/>
                <a:cs typeface="Arial"/>
              </a:defRPr>
            </a:pPr>
            <a:r>
              <a:rPr sz="2100" b="1">
                <a:solidFill>
                  <a:srgbClr val="000000"/>
                </a:solidFill>
                <a:latin typeface="Arial"/>
                <a:ea typeface="Arial"/>
                <a:cs typeface="Arial"/>
              </a:rPr>
              <a:t>Komplexität erhöhen, wenn …</a:t>
            </a:r>
          </a:p>
        </p:txBody>
      </p:sp>
      <p:sp>
        <p:nvSpPr>
          <p:cNvPr id="7" name="gates-right">
            <a:extLst xmlns:a="http://schemas.openxmlformats.org/drawingml/2006/main">
              <a:ext uri="{FF2B5EF4-FFF2-40B4-BE49-F238E27FC236}">
                <a16:creationId xmlns:a16="http://schemas.microsoft.com/office/drawing/2014/main" id="{325AD18C-5D19-4C15-90EE-88211EA73372}"/>
              </a:ext>
            </a:extLst>
          </p:cNvPr>
          <p:cNvSpPr>
            <a:spLocks xmlns:a="http://schemas.openxmlformats.org/drawingml/2006/main" noGrp="1"/>
          </p:cNvSpPr>
          <p:nvPr/>
        </p:nvSpPr>
        <p:spPr>
          <a:xfrm xmlns:a="http://schemas.openxmlformats.org/drawingml/2006/main">
            <a:off x="6429375" y="2571750"/>
            <a:ext cx="50958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Phasen häufig rückwärts springen</a:t>
            </a:r>
          </a:p>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Historie Next State/Reward verbessert</a:t>
            </a:r>
          </a:p>
          <a:p xmlns:a="http://schemas.openxmlformats.org/drawingml/2006/main">
            <a:pPr>
              <a:defRPr sz="1800">
                <a:solidFill>
                  <a:srgbClr val="000000"/>
                </a:solidFill>
                <a:latin typeface="Arial"/>
                <a:ea typeface="Arial"/>
                <a:cs typeface="Arial"/>
              </a:defRPr>
            </a:pPr>
            <a:r>
              <a:rPr sz="1800">
                <a:solidFill>
                  <a:srgbClr val="000000"/>
                </a:solidFill>
                <a:latin typeface="Arial"/>
                <a:ea typeface="Arial"/>
                <a:cs typeface="Arial"/>
              </a:rPr>
              <a:t>→ gleiche Zustände andere Aktionen erfordern</a:t>
            </a:r>
          </a:p>
        </p:txBody>
      </p:sp>
      <p:sp>
        <p:nvSpPr>
          <p:cNvPr id="8" name="gates-accent">
            <a:extLst xmlns:a="http://schemas.openxmlformats.org/drawingml/2006/main">
              <a:ext uri="{FF2B5EF4-FFF2-40B4-BE49-F238E27FC236}">
                <a16:creationId xmlns:a16="http://schemas.microsoft.com/office/drawing/2014/main" id="{0DFDBF6B-5908-4F0C-B441-A0E60CA65314}"/>
              </a:ext>
            </a:extLst>
          </p:cNvPr>
          <p:cNvSpPr>
            <a:spLocks xmlns:a="http://schemas.openxmlformats.org/drawingml/2006/main" noGrp="1"/>
          </p:cNvSpPr>
          <p:nvPr/>
        </p:nvSpPr>
        <p:spPr>
          <a:xfrm xmlns:a="http://schemas.openxmlformats.org/drawingml/2006/main">
            <a:off x="6429375" y="4810125"/>
            <a:ext cx="4476750" cy="666750"/>
          </a:xfrm>
          <a:prstGeom xmlns:a="http://schemas.openxmlformats.org/drawingml/2006/main" prst="rect">
            <a:avLst/>
          </a:prstGeom>
          <a:solidFill xmlns:a="http://schemas.openxmlformats.org/drawingml/2006/main">
            <a:srgbClr val="DCEBFF"/>
          </a:solidFill>
          <a:ln xmlns:a="http://schemas.openxmlformats.org/drawingml/2006/main" w="0">
            <a:noFill/>
            <a:prstDash val="solid"/>
          </a:ln>
        </p:spPr>
      </p:sp>
      <p:sp>
        <p:nvSpPr>
          <p:cNvPr id="9" name="gates-accent-text">
            <a:extLst xmlns:a="http://schemas.openxmlformats.org/drawingml/2006/main">
              <a:ext uri="{FF2B5EF4-FFF2-40B4-BE49-F238E27FC236}">
                <a16:creationId xmlns:a16="http://schemas.microsoft.com/office/drawing/2014/main" id="{225E5EA3-5987-4439-9802-3C91F80B7D33}"/>
              </a:ext>
            </a:extLst>
          </p:cNvPr>
          <p:cNvSpPr>
            <a:spLocks xmlns:a="http://schemas.openxmlformats.org/drawingml/2006/main" noGrp="1"/>
          </p:cNvSpPr>
          <p:nvPr/>
        </p:nvSpPr>
        <p:spPr>
          <a:xfrm xmlns:a="http://schemas.openxmlformats.org/drawingml/2006/main">
            <a:off x="6667500" y="49530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Attention nur behalten,</a:t>
            </a:r>
          </a:p>
          <a:p xmlns:a="http://schemas.openxmlformats.org/drawingml/2006/main">
            <a:pPr algn="ctr">
              <a:defRPr sz="1575" b="1">
                <a:solidFill>
                  <a:srgbClr val="000000"/>
                </a:solidFill>
                <a:latin typeface="Arial"/>
                <a:ea typeface="Arial"/>
                <a:cs typeface="Arial"/>
              </a:defRPr>
            </a:pPr>
            <a:r>
              <a:rPr sz="1575" b="1">
                <a:solidFill>
                  <a:srgbClr val="000000"/>
                </a:solidFill>
                <a:latin typeface="Arial"/>
                <a:ea typeface="Arial"/>
                <a:cs typeface="Arial"/>
              </a:rPr>
              <a:t>wenn ein zusätzlicher Nutzen messbar ist.</a:t>
            </a:r>
          </a:p>
        </p:txBody>
      </p:sp>
    </p:spTree>
    <p:extLst>
      <p:ext uri="{BB962C8B-B14F-4D97-AF65-F5344CB8AC3E}">
        <p14:creationId xmlns:p14="http://schemas.microsoft.com/office/powerpoint/2010/main" val="8649032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7">
            <a:extLst xmlns:a="http://schemas.openxmlformats.org/drawingml/2006/main">
              <a:ext uri="{FF2B5EF4-FFF2-40B4-BE49-F238E27FC236}">
                <a16:creationId xmlns:a16="http://schemas.microsoft.com/office/drawing/2014/main" id="{C3DC78C6-4DE1-46AE-97A2-5C5A20C6E482}"/>
              </a:ext>
            </a:extLst>
          </p:cNvPr>
          <p:cNvSpPr>
            <a:spLocks xmlns:a="http://schemas.openxmlformats.org/drawingml/2006/main" noGrp="1"/>
          </p:cNvSpPr>
          <p:nvPr/>
        </p:nvSpPr>
        <p:spPr>
          <a:xfrm xmlns:a="http://schemas.openxmlformats.org/drawingml/2006/main">
            <a:off x="400050" y="3238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925" b="1">
                <a:solidFill>
                  <a:srgbClr val="000000"/>
                </a:solidFill>
                <a:latin typeface="Arial"/>
                <a:ea typeface="Arial"/>
                <a:cs typeface="Arial"/>
              </a:defRPr>
            </a:pPr>
            <a:r>
              <a:rPr sz="2925" b="1">
                <a:solidFill>
                  <a:srgbClr val="000000"/>
                </a:solidFill>
                <a:latin typeface="Arial"/>
                <a:ea typeface="Arial"/>
                <a:cs typeface="Arial"/>
              </a:rPr>
              <a:t>Diese Woche: Versuchsgrundlage statt Modelltraining</a:t>
            </a:r>
          </a:p>
        </p:txBody>
      </p:sp>
      <p:sp>
        <p:nvSpPr>
          <p:cNvPr id="2" name="page-7">
            <a:extLst xmlns:a="http://schemas.openxmlformats.org/drawingml/2006/main">
              <a:ext uri="{FF2B5EF4-FFF2-40B4-BE49-F238E27FC236}">
                <a16:creationId xmlns:a16="http://schemas.microsoft.com/office/drawing/2014/main" id="{94AAA7A3-CD15-43E6-9C91-D31BEE87F29C}"/>
              </a:ext>
            </a:extLst>
          </p:cNvPr>
          <p:cNvSpPr>
            <a:spLocks xmlns:a="http://schemas.openxmlformats.org/drawingml/2006/main" noGrp="1"/>
          </p:cNvSpPr>
          <p:nvPr/>
        </p:nvSpPr>
        <p:spPr>
          <a:xfrm xmlns:a="http://schemas.openxmlformats.org/drawingml/2006/main">
            <a:off x="11239500" y="6286500"/>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9616C"/>
                </a:solidFill>
                <a:latin typeface="Arial"/>
                <a:ea typeface="Arial"/>
                <a:cs typeface="Arial"/>
              </a:defRPr>
            </a:pPr>
            <a:r>
              <a:rPr sz="1050">
                <a:solidFill>
                  <a:srgbClr val="59616C"/>
                </a:solidFill>
                <a:latin typeface="Arial"/>
                <a:ea typeface="Arial"/>
                <a:cs typeface="Arial"/>
              </a:rPr>
              <a:t>7</a:t>
            </a:r>
          </a:p>
        </p:txBody>
      </p:sp>
      <p:sp>
        <p:nvSpPr>
          <p:cNvPr id="3" name="work-num-0">
            <a:extLst xmlns:a="http://schemas.openxmlformats.org/drawingml/2006/main">
              <a:ext uri="{FF2B5EF4-FFF2-40B4-BE49-F238E27FC236}">
                <a16:creationId xmlns:a16="http://schemas.microsoft.com/office/drawing/2014/main" id="{BCDDEEA6-483C-4C04-A935-5015747C3E9F}"/>
              </a:ext>
            </a:extLst>
          </p:cNvPr>
          <p:cNvSpPr>
            <a:spLocks xmlns:a="http://schemas.openxmlformats.org/drawingml/2006/main" noGrp="1"/>
          </p:cNvSpPr>
          <p:nvPr/>
        </p:nvSpPr>
        <p:spPr>
          <a:xfrm xmlns:a="http://schemas.openxmlformats.org/drawingml/2006/main">
            <a:off x="400050" y="1666875"/>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01</a:t>
            </a:r>
          </a:p>
        </p:txBody>
      </p:sp>
      <p:sp>
        <p:nvSpPr>
          <p:cNvPr id="4" name="work-title-0">
            <a:extLst xmlns:a="http://schemas.openxmlformats.org/drawingml/2006/main">
              <a:ext uri="{FF2B5EF4-FFF2-40B4-BE49-F238E27FC236}">
                <a16:creationId xmlns:a16="http://schemas.microsoft.com/office/drawing/2014/main" id="{1F8E2BCC-5626-4E60-9BB8-D6E6EAD633B6}"/>
              </a:ext>
            </a:extLst>
          </p:cNvPr>
          <p:cNvSpPr>
            <a:spLocks xmlns:a="http://schemas.openxmlformats.org/drawingml/2006/main" noGrp="1"/>
          </p:cNvSpPr>
          <p:nvPr/>
        </p:nvSpPr>
        <p:spPr>
          <a:xfrm xmlns:a="http://schemas.openxmlformats.org/drawingml/2006/main">
            <a:off x="1190625" y="1666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Eigenständiges Repository</a:t>
            </a:r>
          </a:p>
        </p:txBody>
      </p:sp>
      <p:sp>
        <p:nvSpPr>
          <p:cNvPr id="5" name="work-body-0">
            <a:extLst xmlns:a="http://schemas.openxmlformats.org/drawingml/2006/main">
              <a:ext uri="{FF2B5EF4-FFF2-40B4-BE49-F238E27FC236}">
                <a16:creationId xmlns:a16="http://schemas.microsoft.com/office/drawing/2014/main" id="{71CB3E83-469E-4415-A47D-BEEA84626323}"/>
              </a:ext>
            </a:extLst>
          </p:cNvPr>
          <p:cNvSpPr>
            <a:spLocks xmlns:a="http://schemas.openxmlformats.org/drawingml/2006/main" noGrp="1"/>
          </p:cNvSpPr>
          <p:nvPr/>
        </p:nvSpPr>
        <p:spPr>
          <a:xfrm xmlns:a="http://schemas.openxmlformats.org/drawingml/2006/main">
            <a:off x="5619750" y="1666875"/>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saubere Trennung von VibFM, Interpreter und RL</a:t>
            </a:r>
          </a:p>
        </p:txBody>
      </p:sp>
      <p:sp>
        <p:nvSpPr>
          <p:cNvPr id="6" name="work-rule-0">
            <a:extLst xmlns:a="http://schemas.openxmlformats.org/drawingml/2006/main">
              <a:ext uri="{FF2B5EF4-FFF2-40B4-BE49-F238E27FC236}">
                <a16:creationId xmlns:a16="http://schemas.microsoft.com/office/drawing/2014/main" id="{01013558-B92E-4DA7-8DC7-3FB85996A3F7}"/>
              </a:ext>
            </a:extLst>
          </p:cNvPr>
          <p:cNvSpPr>
            <a:spLocks xmlns:a="http://schemas.openxmlformats.org/drawingml/2006/main" noGrp="1"/>
          </p:cNvSpPr>
          <p:nvPr/>
        </p:nvSpPr>
        <p:spPr>
          <a:xfrm xmlns:a="http://schemas.openxmlformats.org/drawingml/2006/main">
            <a:off x="1190625" y="2276475"/>
            <a:ext cx="10239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7" name="work-num-1">
            <a:extLst xmlns:a="http://schemas.openxmlformats.org/drawingml/2006/main">
              <a:ext uri="{FF2B5EF4-FFF2-40B4-BE49-F238E27FC236}">
                <a16:creationId xmlns:a16="http://schemas.microsoft.com/office/drawing/2014/main" id="{DFD0314A-105B-4AD0-B538-BD9AD1A37721}"/>
              </a:ext>
            </a:extLst>
          </p:cNvPr>
          <p:cNvSpPr>
            <a:spLocks xmlns:a="http://schemas.openxmlformats.org/drawingml/2006/main" noGrp="1"/>
          </p:cNvSpPr>
          <p:nvPr/>
        </p:nvSpPr>
        <p:spPr>
          <a:xfrm xmlns:a="http://schemas.openxmlformats.org/drawingml/2006/main">
            <a:off x="400050" y="2619375"/>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02</a:t>
            </a:r>
          </a:p>
        </p:txBody>
      </p:sp>
      <p:sp>
        <p:nvSpPr>
          <p:cNvPr id="8" name="work-title-1">
            <a:extLst xmlns:a="http://schemas.openxmlformats.org/drawingml/2006/main">
              <a:ext uri="{FF2B5EF4-FFF2-40B4-BE49-F238E27FC236}">
                <a16:creationId xmlns:a16="http://schemas.microsoft.com/office/drawing/2014/main" id="{936DE616-C2A9-40A0-A07D-1FC0743449B8}"/>
              </a:ext>
            </a:extLst>
          </p:cNvPr>
          <p:cNvSpPr>
            <a:spLocks xmlns:a="http://schemas.openxmlformats.org/drawingml/2006/main" noGrp="1"/>
          </p:cNvSpPr>
          <p:nvPr/>
        </p:nvSpPr>
        <p:spPr>
          <a:xfrm xmlns:a="http://schemas.openxmlformats.org/drawingml/2006/main">
            <a:off x="1190625" y="26193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Erstes MLP-Interface</a:t>
            </a:r>
          </a:p>
        </p:txBody>
      </p:sp>
      <p:sp>
        <p:nvSpPr>
          <p:cNvPr id="9" name="work-body-1">
            <a:extLst xmlns:a="http://schemas.openxmlformats.org/drawingml/2006/main">
              <a:ext uri="{FF2B5EF4-FFF2-40B4-BE49-F238E27FC236}">
                <a16:creationId xmlns:a16="http://schemas.microsoft.com/office/drawing/2014/main" id="{D2D5631D-D4DD-4235-A3F5-049417B68E03}"/>
              </a:ext>
            </a:extLst>
          </p:cNvPr>
          <p:cNvSpPr>
            <a:spLocks xmlns:a="http://schemas.openxmlformats.org/drawingml/2006/main" noGrp="1"/>
          </p:cNvSpPr>
          <p:nvPr/>
        </p:nvSpPr>
        <p:spPr>
          <a:xfrm xmlns:a="http://schemas.openxmlformats.org/drawingml/2006/main">
            <a:off x="5619750" y="2619375"/>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HI + vier Phasenwahrscheinlichkeiten</a:t>
            </a:r>
          </a:p>
        </p:txBody>
      </p:sp>
      <p:sp>
        <p:nvSpPr>
          <p:cNvPr id="10" name="work-rule-1">
            <a:extLst xmlns:a="http://schemas.openxmlformats.org/drawingml/2006/main">
              <a:ext uri="{FF2B5EF4-FFF2-40B4-BE49-F238E27FC236}">
                <a16:creationId xmlns:a16="http://schemas.microsoft.com/office/drawing/2014/main" id="{7369DDBD-6CDD-48DA-94A4-EB40F9B7D1E5}"/>
              </a:ext>
            </a:extLst>
          </p:cNvPr>
          <p:cNvSpPr>
            <a:spLocks xmlns:a="http://schemas.openxmlformats.org/drawingml/2006/main" noGrp="1"/>
          </p:cNvSpPr>
          <p:nvPr/>
        </p:nvSpPr>
        <p:spPr>
          <a:xfrm xmlns:a="http://schemas.openxmlformats.org/drawingml/2006/main">
            <a:off x="1190625" y="3228975"/>
            <a:ext cx="10239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work-num-2">
            <a:extLst xmlns:a="http://schemas.openxmlformats.org/drawingml/2006/main">
              <a:ext uri="{FF2B5EF4-FFF2-40B4-BE49-F238E27FC236}">
                <a16:creationId xmlns:a16="http://schemas.microsoft.com/office/drawing/2014/main" id="{BC148BB9-C28A-45F8-9AC9-0533753AB034}"/>
              </a:ext>
            </a:extLst>
          </p:cNvPr>
          <p:cNvSpPr>
            <a:spLocks xmlns:a="http://schemas.openxmlformats.org/drawingml/2006/main" noGrp="1"/>
          </p:cNvSpPr>
          <p:nvPr/>
        </p:nvSpPr>
        <p:spPr>
          <a:xfrm xmlns:a="http://schemas.openxmlformats.org/drawingml/2006/main">
            <a:off x="400050" y="3571875"/>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03</a:t>
            </a:r>
          </a:p>
        </p:txBody>
      </p:sp>
      <p:sp>
        <p:nvSpPr>
          <p:cNvPr id="12" name="work-title-2">
            <a:extLst xmlns:a="http://schemas.openxmlformats.org/drawingml/2006/main">
              <a:ext uri="{FF2B5EF4-FFF2-40B4-BE49-F238E27FC236}">
                <a16:creationId xmlns:a16="http://schemas.microsoft.com/office/drawing/2014/main" id="{FF1CEE4B-9013-4922-BFC2-BCA30F4C11F7}"/>
              </a:ext>
            </a:extLst>
          </p:cNvPr>
          <p:cNvSpPr>
            <a:spLocks xmlns:a="http://schemas.openxmlformats.org/drawingml/2006/main" noGrp="1"/>
          </p:cNvSpPr>
          <p:nvPr/>
        </p:nvSpPr>
        <p:spPr>
          <a:xfrm xmlns:a="http://schemas.openxmlformats.org/drawingml/2006/main">
            <a:off x="1190625" y="3571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Einheitliche Datenverträge</a:t>
            </a:r>
          </a:p>
        </p:txBody>
      </p:sp>
      <p:sp>
        <p:nvSpPr>
          <p:cNvPr id="13" name="work-body-2">
            <a:extLst xmlns:a="http://schemas.openxmlformats.org/drawingml/2006/main">
              <a:ext uri="{FF2B5EF4-FFF2-40B4-BE49-F238E27FC236}">
                <a16:creationId xmlns:a16="http://schemas.microsoft.com/office/drawing/2014/main" id="{BF832B9A-06C5-45CE-A72A-EA7F4D16745F}"/>
              </a:ext>
            </a:extLst>
          </p:cNvPr>
          <p:cNvSpPr>
            <a:spLocks xmlns:a="http://schemas.openxmlformats.org/drawingml/2006/main" noGrp="1"/>
          </p:cNvSpPr>
          <p:nvPr/>
        </p:nvSpPr>
        <p:spPr>
          <a:xfrm xmlns:a="http://schemas.openxmlformats.org/drawingml/2006/main">
            <a:off x="5619750" y="3571875"/>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Messung · Embedding · Transition</a:t>
            </a:r>
          </a:p>
        </p:txBody>
      </p:sp>
      <p:sp>
        <p:nvSpPr>
          <p:cNvPr id="14" name="work-rule-2">
            <a:extLst xmlns:a="http://schemas.openxmlformats.org/drawingml/2006/main">
              <a:ext uri="{FF2B5EF4-FFF2-40B4-BE49-F238E27FC236}">
                <a16:creationId xmlns:a16="http://schemas.microsoft.com/office/drawing/2014/main" id="{F3993404-C392-49B3-A93B-D11F94D4732B}"/>
              </a:ext>
            </a:extLst>
          </p:cNvPr>
          <p:cNvSpPr>
            <a:spLocks xmlns:a="http://schemas.openxmlformats.org/drawingml/2006/main" noGrp="1"/>
          </p:cNvSpPr>
          <p:nvPr/>
        </p:nvSpPr>
        <p:spPr>
          <a:xfrm xmlns:a="http://schemas.openxmlformats.org/drawingml/2006/main">
            <a:off x="1190625" y="4181475"/>
            <a:ext cx="10239375" cy="9525"/>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work-num-3">
            <a:extLst xmlns:a="http://schemas.openxmlformats.org/drawingml/2006/main">
              <a:ext uri="{FF2B5EF4-FFF2-40B4-BE49-F238E27FC236}">
                <a16:creationId xmlns:a16="http://schemas.microsoft.com/office/drawing/2014/main" id="{FF844170-9586-449B-9D63-6F962D84F0F0}"/>
              </a:ext>
            </a:extLst>
          </p:cNvPr>
          <p:cNvSpPr>
            <a:spLocks xmlns:a="http://schemas.openxmlformats.org/drawingml/2006/main" noGrp="1"/>
          </p:cNvSpPr>
          <p:nvPr/>
        </p:nvSpPr>
        <p:spPr>
          <a:xfrm xmlns:a="http://schemas.openxmlformats.org/drawingml/2006/main">
            <a:off x="400050" y="4524375"/>
            <a:ext cx="619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04</a:t>
            </a:r>
          </a:p>
        </p:txBody>
      </p:sp>
      <p:sp>
        <p:nvSpPr>
          <p:cNvPr id="16" name="work-title-3">
            <a:extLst xmlns:a="http://schemas.openxmlformats.org/drawingml/2006/main">
              <a:ext uri="{FF2B5EF4-FFF2-40B4-BE49-F238E27FC236}">
                <a16:creationId xmlns:a16="http://schemas.microsoft.com/office/drawing/2014/main" id="{FCB1FE74-E101-43DD-A028-725CC71C5B46}"/>
              </a:ext>
            </a:extLst>
          </p:cNvPr>
          <p:cNvSpPr>
            <a:spLocks xmlns:a="http://schemas.openxmlformats.org/drawingml/2006/main" noGrp="1"/>
          </p:cNvSpPr>
          <p:nvPr/>
        </p:nvSpPr>
        <p:spPr>
          <a:xfrm xmlns:a="http://schemas.openxmlformats.org/drawingml/2006/main">
            <a:off x="1190625" y="45243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00000"/>
                </a:solidFill>
                <a:latin typeface="Arial"/>
                <a:ea typeface="Arial"/>
                <a:cs typeface="Arial"/>
              </a:defRPr>
            </a:pPr>
            <a:r>
              <a:rPr sz="1875" b="1">
                <a:solidFill>
                  <a:srgbClr val="000000"/>
                </a:solidFill>
                <a:latin typeface="Arial"/>
                <a:ea typeface="Arial"/>
                <a:cs typeface="Arial"/>
              </a:rPr>
              <a:t>Adapter-Schnittstellen</a:t>
            </a:r>
          </a:p>
        </p:txBody>
      </p:sp>
      <p:sp>
        <p:nvSpPr>
          <p:cNvPr id="17" name="work-body-3">
            <a:extLst xmlns:a="http://schemas.openxmlformats.org/drawingml/2006/main">
              <a:ext uri="{FF2B5EF4-FFF2-40B4-BE49-F238E27FC236}">
                <a16:creationId xmlns:a16="http://schemas.microsoft.com/office/drawing/2014/main" id="{B014DCC1-5A9E-4088-9501-3D88721436FC}"/>
              </a:ext>
            </a:extLst>
          </p:cNvPr>
          <p:cNvSpPr>
            <a:spLocks xmlns:a="http://schemas.openxmlformats.org/drawingml/2006/main" noGrp="1"/>
          </p:cNvSpPr>
          <p:nvPr/>
        </p:nvSpPr>
        <p:spPr>
          <a:xfrm xmlns:a="http://schemas.openxmlformats.org/drawingml/2006/main">
            <a:off x="5619750" y="4524375"/>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a:solidFill>
                  <a:srgbClr val="59616C"/>
                </a:solidFill>
                <a:latin typeface="Arial"/>
                <a:ea typeface="Arial"/>
                <a:cs typeface="Arial"/>
              </a:defRPr>
            </a:pPr>
            <a:r>
              <a:rPr sz="1650">
                <a:solidFill>
                  <a:srgbClr val="59616C"/>
                </a:solidFill>
                <a:latin typeface="Arial"/>
                <a:ea typeface="Arial"/>
                <a:cs typeface="Arial"/>
              </a:rPr>
              <a:t>VibFM · Datensatz · Gearbox</a:t>
            </a:r>
          </a:p>
        </p:txBody>
      </p:sp>
      <p:sp>
        <p:nvSpPr>
          <p:cNvPr id="18" name="work-result">
            <a:extLst xmlns:a="http://schemas.openxmlformats.org/drawingml/2006/main">
              <a:ext uri="{FF2B5EF4-FFF2-40B4-BE49-F238E27FC236}">
                <a16:creationId xmlns:a16="http://schemas.microsoft.com/office/drawing/2014/main" id="{4957C14C-5DF2-4BB9-AED1-DE44E958D5D6}"/>
              </a:ext>
            </a:extLst>
          </p:cNvPr>
          <p:cNvSpPr>
            <a:spLocks xmlns:a="http://schemas.openxmlformats.org/drawingml/2006/main" noGrp="1"/>
          </p:cNvSpPr>
          <p:nvPr/>
        </p:nvSpPr>
        <p:spPr>
          <a:xfrm xmlns:a="http://schemas.openxmlformats.org/drawingml/2006/main">
            <a:off x="400050" y="5619750"/>
            <a:ext cx="11029950" cy="523875"/>
          </a:xfrm>
          <a:prstGeom xmlns:a="http://schemas.openxmlformats.org/drawingml/2006/main" prst="rect">
            <a:avLst/>
          </a:prstGeom>
          <a:solidFill xmlns:a="http://schemas.openxmlformats.org/drawingml/2006/main">
            <a:srgbClr val="DCEBFF"/>
          </a:solidFill>
          <a:ln xmlns:a="http://schemas.openxmlformats.org/drawingml/2006/main" w="0">
            <a:noFill/>
            <a:prstDash val="solid"/>
          </a:ln>
        </p:spPr>
      </p:sp>
      <p:sp>
        <p:nvSpPr>
          <p:cNvPr id="19" name="work-result-text">
            <a:extLst xmlns:a="http://schemas.openxmlformats.org/drawingml/2006/main">
              <a:ext uri="{FF2B5EF4-FFF2-40B4-BE49-F238E27FC236}">
                <a16:creationId xmlns:a16="http://schemas.microsoft.com/office/drawing/2014/main" id="{A077BB63-7E44-4F38-8982-CF4A6264BA9E}"/>
              </a:ext>
            </a:extLst>
          </p:cNvPr>
          <p:cNvSpPr>
            <a:spLocks xmlns:a="http://schemas.openxmlformats.org/drawingml/2006/main" noGrp="1"/>
          </p:cNvSpPr>
          <p:nvPr/>
        </p:nvSpPr>
        <p:spPr>
          <a:xfrm xmlns:a="http://schemas.openxmlformats.org/drawingml/2006/main">
            <a:off x="590550" y="5743575"/>
            <a:ext cx="10648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000000"/>
                </a:solidFill>
                <a:latin typeface="Arial"/>
                <a:ea typeface="Arial"/>
                <a:cs typeface="Arial"/>
              </a:defRPr>
            </a:pPr>
            <a:r>
              <a:rPr sz="1725" b="1">
                <a:solidFill>
                  <a:srgbClr val="000000"/>
                </a:solidFill>
                <a:latin typeface="Arial"/>
                <a:ea typeface="Arial"/>
                <a:cs typeface="Arial"/>
              </a:rPr>
              <a:t>6 Softwaretests bestanden · noch keine realen Embeddings · noch kein Training</a:t>
            </a:r>
          </a:p>
        </p:txBody>
      </p:sp>
    </p:spTree>
    <p:extLst>
      <p:ext uri="{BB962C8B-B14F-4D97-AF65-F5344CB8AC3E}">
        <p14:creationId xmlns:p14="http://schemas.microsoft.com/office/powerpoint/2010/main" val="15775873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next-kicker">
            <a:extLst xmlns:a="http://schemas.openxmlformats.org/drawingml/2006/main">
              <a:ext uri="{FF2B5EF4-FFF2-40B4-BE49-F238E27FC236}">
                <a16:creationId xmlns:a16="http://schemas.microsoft.com/office/drawing/2014/main" id="{D417495B-A42A-438F-AB89-3D1C660D2D28}"/>
              </a:ext>
            </a:extLst>
          </p:cNvPr>
          <p:cNvSpPr>
            <a:spLocks xmlns:a="http://schemas.openxmlformats.org/drawingml/2006/main" noGrp="1"/>
          </p:cNvSpPr>
          <p:nvPr/>
        </p:nvSpPr>
        <p:spPr>
          <a:xfrm xmlns:a="http://schemas.openxmlformats.org/drawingml/2006/main">
            <a:off x="400050" y="38100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3D8DFF"/>
                </a:solidFill>
                <a:latin typeface="Arial"/>
                <a:ea typeface="Arial"/>
                <a:cs typeface="Arial"/>
              </a:defRPr>
            </a:pPr>
            <a:r>
              <a:rPr sz="1875" b="1">
                <a:solidFill>
                  <a:srgbClr val="3D8DFF"/>
                </a:solidFill>
                <a:latin typeface="Arial"/>
                <a:ea typeface="Arial"/>
                <a:cs typeface="Arial"/>
              </a:rPr>
              <a:t>NÄCHSTE SCHRITTE</a:t>
            </a:r>
          </a:p>
        </p:txBody>
      </p:sp>
      <p:sp>
        <p:nvSpPr>
          <p:cNvPr id="2" name="next-title">
            <a:extLst xmlns:a="http://schemas.openxmlformats.org/drawingml/2006/main">
              <a:ext uri="{FF2B5EF4-FFF2-40B4-BE49-F238E27FC236}">
                <a16:creationId xmlns:a16="http://schemas.microsoft.com/office/drawing/2014/main" id="{1F0B46AA-BDF0-4536-BB48-B6BFBB36E0B9}"/>
              </a:ext>
            </a:extLst>
          </p:cNvPr>
          <p:cNvSpPr>
            <a:spLocks xmlns:a="http://schemas.openxmlformats.org/drawingml/2006/main" noGrp="1"/>
          </p:cNvSpPr>
          <p:nvPr/>
        </p:nvSpPr>
        <p:spPr>
          <a:xfrm xmlns:a="http://schemas.openxmlformats.org/drawingml/2006/main">
            <a:off x="400050" y="1238250"/>
            <a:ext cx="10668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525" b="1">
                <a:solidFill>
                  <a:srgbClr val="000000"/>
                </a:solidFill>
                <a:latin typeface="Arial"/>
                <a:ea typeface="Arial"/>
                <a:cs typeface="Arial"/>
              </a:defRPr>
            </a:pPr>
            <a:r>
              <a:rPr sz="3525" b="1">
                <a:solidFill>
                  <a:srgbClr val="000000"/>
                </a:solidFill>
                <a:latin typeface="Arial"/>
                <a:ea typeface="Arial"/>
                <a:cs typeface="Arial"/>
              </a:rPr>
              <a:t>Von der Schnittstelle zum ersten echten Baseline-Experiment</a:t>
            </a:r>
          </a:p>
        </p:txBody>
      </p:sp>
      <p:sp>
        <p:nvSpPr>
          <p:cNvPr id="3" name="next-step-0">
            <a:extLst xmlns:a="http://schemas.openxmlformats.org/drawingml/2006/main">
              <a:ext uri="{FF2B5EF4-FFF2-40B4-BE49-F238E27FC236}">
                <a16:creationId xmlns:a16="http://schemas.microsoft.com/office/drawing/2014/main" id="{BD2592C9-2802-4FAE-9FC9-A328E4EA1A8A}"/>
              </a:ext>
            </a:extLst>
          </p:cNvPr>
          <p:cNvSpPr>
            <a:spLocks xmlns:a="http://schemas.openxmlformats.org/drawingml/2006/main" noGrp="1"/>
          </p:cNvSpPr>
          <p:nvPr/>
        </p:nvSpPr>
        <p:spPr>
          <a:xfrm xmlns:a="http://schemas.openxmlformats.org/drawingml/2006/main">
            <a:off x="523875" y="27146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1</a:t>
            </a:r>
          </a:p>
        </p:txBody>
      </p:sp>
      <p:sp>
        <p:nvSpPr>
          <p:cNvPr id="4" name="next-copy-0">
            <a:extLst xmlns:a="http://schemas.openxmlformats.org/drawingml/2006/main">
              <a:ext uri="{FF2B5EF4-FFF2-40B4-BE49-F238E27FC236}">
                <a16:creationId xmlns:a16="http://schemas.microsoft.com/office/drawing/2014/main" id="{45786A5C-F63B-48D1-BDB4-15FE931535F4}"/>
              </a:ext>
            </a:extLst>
          </p:cNvPr>
          <p:cNvSpPr>
            <a:spLocks xmlns:a="http://schemas.openxmlformats.org/drawingml/2006/main" noGrp="1"/>
          </p:cNvSpPr>
          <p:nvPr/>
        </p:nvSpPr>
        <p:spPr>
          <a:xfrm xmlns:a="http://schemas.openxmlformats.org/drawingml/2006/main">
            <a:off x="1143000" y="27146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VibFM-Checkpoint und Vorverarbeitung klären</a:t>
            </a:r>
          </a:p>
        </p:txBody>
      </p:sp>
      <p:sp>
        <p:nvSpPr>
          <p:cNvPr id="5" name="next-step-1">
            <a:extLst xmlns:a="http://schemas.openxmlformats.org/drawingml/2006/main">
              <a:ext uri="{FF2B5EF4-FFF2-40B4-BE49-F238E27FC236}">
                <a16:creationId xmlns:a16="http://schemas.microsoft.com/office/drawing/2014/main" id="{69D5F636-981A-4C2F-B806-39F0429004F9}"/>
              </a:ext>
            </a:extLst>
          </p:cNvPr>
          <p:cNvSpPr>
            <a:spLocks xmlns:a="http://schemas.openxmlformats.org/drawingml/2006/main" noGrp="1"/>
          </p:cNvSpPr>
          <p:nvPr/>
        </p:nvSpPr>
        <p:spPr>
          <a:xfrm xmlns:a="http://schemas.openxmlformats.org/drawingml/2006/main">
            <a:off x="523875" y="34004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2</a:t>
            </a:r>
          </a:p>
        </p:txBody>
      </p:sp>
      <p:sp>
        <p:nvSpPr>
          <p:cNvPr id="6" name="next-copy-1">
            <a:extLst xmlns:a="http://schemas.openxmlformats.org/drawingml/2006/main">
              <a:ext uri="{FF2B5EF4-FFF2-40B4-BE49-F238E27FC236}">
                <a16:creationId xmlns:a16="http://schemas.microsoft.com/office/drawing/2014/main" id="{A0BA7B6E-6075-4716-A25F-2A3AABDEE6DA}"/>
              </a:ext>
            </a:extLst>
          </p:cNvPr>
          <p:cNvSpPr>
            <a:spLocks xmlns:a="http://schemas.openxmlformats.org/drawingml/2006/main" noGrp="1"/>
          </p:cNvSpPr>
          <p:nvPr/>
        </p:nvSpPr>
        <p:spPr>
          <a:xfrm xmlns:a="http://schemas.openxmlformats.org/drawingml/2006/main">
            <a:off x="1143000" y="34004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ersten Run-to-Failure-Datensatz auswählen</a:t>
            </a:r>
          </a:p>
        </p:txBody>
      </p:sp>
      <p:sp>
        <p:nvSpPr>
          <p:cNvPr id="7" name="next-step-2">
            <a:extLst xmlns:a="http://schemas.openxmlformats.org/drawingml/2006/main">
              <a:ext uri="{FF2B5EF4-FFF2-40B4-BE49-F238E27FC236}">
                <a16:creationId xmlns:a16="http://schemas.microsoft.com/office/drawing/2014/main" id="{BB4AFC15-7623-4B07-84C5-B1A8E07DCF77}"/>
              </a:ext>
            </a:extLst>
          </p:cNvPr>
          <p:cNvSpPr>
            <a:spLocks xmlns:a="http://schemas.openxmlformats.org/drawingml/2006/main" noGrp="1"/>
          </p:cNvSpPr>
          <p:nvPr/>
        </p:nvSpPr>
        <p:spPr>
          <a:xfrm xmlns:a="http://schemas.openxmlformats.org/drawingml/2006/main">
            <a:off x="523875" y="40862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3</a:t>
            </a:r>
          </a:p>
        </p:txBody>
      </p:sp>
      <p:sp>
        <p:nvSpPr>
          <p:cNvPr id="8" name="next-copy-2">
            <a:extLst xmlns:a="http://schemas.openxmlformats.org/drawingml/2006/main">
              <a:ext uri="{FF2B5EF4-FFF2-40B4-BE49-F238E27FC236}">
                <a16:creationId xmlns:a16="http://schemas.microsoft.com/office/drawing/2014/main" id="{DD48F3C8-575E-486E-9252-A149B0DAACD0}"/>
              </a:ext>
            </a:extLst>
          </p:cNvPr>
          <p:cNvSpPr>
            <a:spLocks xmlns:a="http://schemas.openxmlformats.org/drawingml/2006/main" noGrp="1"/>
          </p:cNvSpPr>
          <p:nvPr/>
        </p:nvSpPr>
        <p:spPr>
          <a:xfrm xmlns:a="http://schemas.openxmlformats.org/drawingml/2006/main">
            <a:off x="1143000" y="40862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zeitlich geordnete reale z_health extrahieren</a:t>
            </a:r>
          </a:p>
        </p:txBody>
      </p:sp>
      <p:sp>
        <p:nvSpPr>
          <p:cNvPr id="9" name="next-step-3">
            <a:extLst xmlns:a="http://schemas.openxmlformats.org/drawingml/2006/main">
              <a:ext uri="{FF2B5EF4-FFF2-40B4-BE49-F238E27FC236}">
                <a16:creationId xmlns:a16="http://schemas.microsoft.com/office/drawing/2014/main" id="{3F9929CA-0DB5-4E43-B3EB-E64448AA1271}"/>
              </a:ext>
            </a:extLst>
          </p:cNvPr>
          <p:cNvSpPr>
            <a:spLocks xmlns:a="http://schemas.openxmlformats.org/drawingml/2006/main" noGrp="1"/>
          </p:cNvSpPr>
          <p:nvPr/>
        </p:nvSpPr>
        <p:spPr>
          <a:xfrm xmlns:a="http://schemas.openxmlformats.org/drawingml/2006/main">
            <a:off x="523875" y="47720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Arial"/>
                <a:ea typeface="Arial"/>
                <a:cs typeface="Arial"/>
              </a:defRPr>
            </a:pPr>
            <a:r>
              <a:rPr sz="1800" b="1">
                <a:solidFill>
                  <a:srgbClr val="3D8DFF"/>
                </a:solidFill>
                <a:latin typeface="Arial"/>
                <a:ea typeface="Arial"/>
                <a:cs typeface="Arial"/>
              </a:rPr>
              <a:t>4</a:t>
            </a:r>
          </a:p>
        </p:txBody>
      </p:sp>
      <p:sp>
        <p:nvSpPr>
          <p:cNvPr id="10" name="next-copy-3">
            <a:extLst xmlns:a="http://schemas.openxmlformats.org/drawingml/2006/main">
              <a:ext uri="{FF2B5EF4-FFF2-40B4-BE49-F238E27FC236}">
                <a16:creationId xmlns:a16="http://schemas.microsoft.com/office/drawing/2014/main" id="{75240774-54AA-43D3-8AE4-243C51DEFFEA}"/>
              </a:ext>
            </a:extLst>
          </p:cNvPr>
          <p:cNvSpPr>
            <a:spLocks xmlns:a="http://schemas.openxmlformats.org/drawingml/2006/main" noGrp="1"/>
          </p:cNvSpPr>
          <p:nvPr/>
        </p:nvSpPr>
        <p:spPr>
          <a:xfrm xmlns:a="http://schemas.openxmlformats.org/drawingml/2006/main">
            <a:off x="1143000" y="4772025"/>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a:solidFill>
                  <a:srgbClr val="000000"/>
                </a:solidFill>
                <a:latin typeface="Arial"/>
                <a:ea typeface="Arial"/>
                <a:cs typeface="Arial"/>
              </a:defRPr>
            </a:pPr>
            <a:r>
              <a:rPr sz="1875">
                <a:solidFill>
                  <a:srgbClr val="000000"/>
                </a:solidFill>
                <a:latin typeface="Arial"/>
                <a:ea typeface="Arial"/>
                <a:cs typeface="Arial"/>
              </a:rPr>
              <a:t>Identity, HI, Cluster und MLP vergleichen</a:t>
            </a:r>
          </a:p>
        </p:txBody>
      </p:sp>
      <p:sp>
        <p:nvSpPr>
          <p:cNvPr id="11" name="next-question">
            <a:extLst xmlns:a="http://schemas.openxmlformats.org/drawingml/2006/main">
              <a:ext uri="{FF2B5EF4-FFF2-40B4-BE49-F238E27FC236}">
                <a16:creationId xmlns:a16="http://schemas.microsoft.com/office/drawing/2014/main" id="{CC30EACE-A9B6-4A52-9E04-C9D9F6463008}"/>
              </a:ext>
            </a:extLst>
          </p:cNvPr>
          <p:cNvSpPr>
            <a:spLocks xmlns:a="http://schemas.openxmlformats.org/drawingml/2006/main" noGrp="1"/>
          </p:cNvSpPr>
          <p:nvPr/>
        </p:nvSpPr>
        <p:spPr>
          <a:xfrm xmlns:a="http://schemas.openxmlformats.org/drawingml/2006/main">
            <a:off x="400050" y="581025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59616C"/>
                </a:solidFill>
                <a:latin typeface="Arial"/>
                <a:ea typeface="Arial"/>
                <a:cs typeface="Arial"/>
              </a:defRPr>
            </a:pPr>
            <a:r>
              <a:rPr sz="1800" b="1">
                <a:solidFill>
                  <a:srgbClr val="59616C"/>
                </a:solidFill>
                <a:latin typeface="Arial"/>
                <a:ea typeface="Arial"/>
                <a:cs typeface="Arial"/>
              </a:rPr>
              <a:t>Zu klären: erster State = HI, Phasenwahrscheinlichkeiten oder beides?</a:t>
            </a:r>
          </a:p>
        </p:txBody>
      </p:sp>
    </p:spTree>
    <p:extLst>
      <p:ext uri="{BB962C8B-B14F-4D97-AF65-F5344CB8AC3E}">
        <p14:creationId xmlns:p14="http://schemas.microsoft.com/office/powerpoint/2010/main" val="377059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2026-07-26T20:32:02.0650000Z</dcterms:created>
  <dcterms:modified xsi:type="dcterms:W3CDTF">2026-07-26T20:32:02.0660000Z</dcterms:modified>
</coreProperties>
</file>