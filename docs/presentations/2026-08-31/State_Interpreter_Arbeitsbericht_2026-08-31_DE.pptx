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ef9118eab44777" /><Relationship Type="http://schemas.openxmlformats.org/officeDocument/2006/relationships/extended-properties" Target="/docProps/app.xml" Id="R5d6d29f6246c42cf" /><Relationship Type="http://schemas.openxmlformats.org/officeDocument/2006/relationships/officeDocument" Target="/ppt/presentation.xml" Id="Rec363d7f11b04e13" /></Relationships>
</file>

<file path=ppt/presentation.xml><?xml version="1.0" encoding="utf-8"?>
<p:presentation xmlns:p="http://schemas.openxmlformats.org/presentationml/2006/main">
  <p:sldMasterIdLst>
    <p:sldMasterId xmlns:r="http://schemas.openxmlformats.org/officeDocument/2006/relationships" id="2147483648" r:id="Re34ac209d86f4206"/>
  </p:sldMasterIdLst>
  <p:notesMasterIdLst>
    <p:notesMasterId xmlns:r="http://schemas.openxmlformats.org/officeDocument/2006/relationships" r:id="R357087780c9d420f"/>
  </p:notesMasterIdLst>
  <p:sldIdLst>
    <p:sldId xmlns:r="http://schemas.openxmlformats.org/officeDocument/2006/relationships" id="256" r:id="Rd82d60c06ca34ba5"/>
    <p:sldId xmlns:r="http://schemas.openxmlformats.org/officeDocument/2006/relationships" id="257" r:id="Reac014f396ab49b6"/>
    <p:sldId xmlns:r="http://schemas.openxmlformats.org/officeDocument/2006/relationships" id="258" r:id="Rd5f4a0f3b3f54b26"/>
    <p:sldId xmlns:r="http://schemas.openxmlformats.org/officeDocument/2006/relationships" id="259" r:id="R41788749b2784666"/>
    <p:sldId xmlns:r="http://schemas.openxmlformats.org/officeDocument/2006/relationships" id="260" r:id="Ra7d029811dfa4ab9"/>
    <p:sldId xmlns:r="http://schemas.openxmlformats.org/officeDocument/2006/relationships" id="261" r:id="Red38abe396fc456b"/>
    <p:sldId xmlns:r="http://schemas.openxmlformats.org/officeDocument/2006/relationships" id="262" r:id="R2f4bd5d64eab4d6f"/>
    <p:sldId xmlns:r="http://schemas.openxmlformats.org/officeDocument/2006/relationships" id="263" r:id="R43414ac38d7e4cfd"/>
    <p:sldId xmlns:r="http://schemas.openxmlformats.org/officeDocument/2006/relationships" id="264" r:id="R70e228d0d01b4a50"/>
    <p:sldId xmlns:r="http://schemas.openxmlformats.org/officeDocument/2006/relationships" id="265" r:id="R756d786f30154ad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6d95e8e00f4d5b" /><Relationship Type="http://schemas.openxmlformats.org/officeDocument/2006/relationships/slideMaster" Target="/ppt/slideMasters/slideMaster1.xml" Id="Re34ac209d86f4206" /><Relationship Type="http://schemas.openxmlformats.org/officeDocument/2006/relationships/notesMaster" Target="/ppt/notesMasters/notesMaster1.xml" Id="R357087780c9d420f" /><Relationship Type="http://schemas.openxmlformats.org/officeDocument/2006/relationships/presProps" Target="/ppt/presProps.xml" Id="R1ea58dc47189402e" /><Relationship Type="http://schemas.openxmlformats.org/officeDocument/2006/relationships/tableStyles" Target="/ppt/tableStyles.xml" Id="R4982a59506a048ff" /><Relationship Type="http://schemas.openxmlformats.org/officeDocument/2006/relationships/slide" Target="/ppt/slides/slide1.xml" Id="Rd82d60c06ca34ba5" /><Relationship Type="http://schemas.openxmlformats.org/officeDocument/2006/relationships/slide" Target="/ppt/slides/slide2.xml" Id="Reac014f396ab49b6" /><Relationship Type="http://schemas.openxmlformats.org/officeDocument/2006/relationships/slide" Target="/ppt/slides/slide3.xml" Id="Rd5f4a0f3b3f54b26" /><Relationship Type="http://schemas.openxmlformats.org/officeDocument/2006/relationships/slide" Target="/ppt/slides/slide4.xml" Id="R41788749b2784666" /><Relationship Type="http://schemas.openxmlformats.org/officeDocument/2006/relationships/slide" Target="/ppt/slides/slide5.xml" Id="Ra7d029811dfa4ab9" /><Relationship Type="http://schemas.openxmlformats.org/officeDocument/2006/relationships/slide" Target="/ppt/slides/slide6.xml" Id="Red38abe396fc456b" /><Relationship Type="http://schemas.openxmlformats.org/officeDocument/2006/relationships/slide" Target="/ppt/slides/slide7.xml" Id="R2f4bd5d64eab4d6f" /><Relationship Type="http://schemas.openxmlformats.org/officeDocument/2006/relationships/slide" Target="/ppt/slides/slide8.xml" Id="R43414ac38d7e4cfd" /><Relationship Type="http://schemas.openxmlformats.org/officeDocument/2006/relationships/slide" Target="/ppt/slides/slide9.xml" Id="R70e228d0d01b4a50" /><Relationship Type="http://schemas.openxmlformats.org/officeDocument/2006/relationships/slide" Target="/ppt/slides/slide10.xml" Id="R756d786f30154a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6e4178703a43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2842a43ace430d" /><Relationship Type="http://schemas.openxmlformats.org/officeDocument/2006/relationships/notesMaster" Target="/ppt/notesMasters/notesMaster1.xml" Id="R8e39006079a24a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6ea0a145e44e06" /><Relationship Type="http://schemas.openxmlformats.org/officeDocument/2006/relationships/notesMaster" Target="/ppt/notesMasters/notesMaster1.xml" Id="R8026273f05dd46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11acba250643d5" /><Relationship Type="http://schemas.openxmlformats.org/officeDocument/2006/relationships/notesMaster" Target="/ppt/notesMasters/notesMaster1.xml" Id="Raa7a934dd3f343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4bf2bf928144be" /><Relationship Type="http://schemas.openxmlformats.org/officeDocument/2006/relationships/notesMaster" Target="/ppt/notesMasters/notesMaster1.xml" Id="Rdbc4b5b5d8c443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7f128c650143f3" /><Relationship Type="http://schemas.openxmlformats.org/officeDocument/2006/relationships/notesMaster" Target="/ppt/notesMasters/notesMaster1.xml" Id="R8c5298723ad14d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9cff6f56614f5e" /><Relationship Type="http://schemas.openxmlformats.org/officeDocument/2006/relationships/notesMaster" Target="/ppt/notesMasters/notesMaster1.xml" Id="R0badd2c3bf4540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5c1658ef6246e7" /><Relationship Type="http://schemas.openxmlformats.org/officeDocument/2006/relationships/notesMaster" Target="/ppt/notesMasters/notesMaster1.xml" Id="R0785df8821b44f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39673d4bad426a" /><Relationship Type="http://schemas.openxmlformats.org/officeDocument/2006/relationships/notesMaster" Target="/ppt/notesMasters/notesMaster1.xml" Id="R7e047b7ab90f434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e8f5b74f6314436" /><Relationship Type="http://schemas.openxmlformats.org/officeDocument/2006/relationships/notesMaster" Target="/ppt/notesMasters/notesMaster1.xml" Id="R72d5cb3894cd4be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f8ce495958b4e46" /><Relationship Type="http://schemas.openxmlformats.org/officeDocument/2006/relationships/notesMaster" Target="/ppt/notesMasters/notesMaster1.xml" Id="R274d7bef01fb4b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Heute stelle ich meinen aktuellen Arbeitsstand zum State Interpreter vor. Die zentrale Frage lautet: Wie kann ein latenter Vektor aus Schwingungsdaten in einen Zustand übersetzt werden, der kontinuierlich, interpretierbar und später für Entscheidungen nutzbar ist? Um diese Frage zunächst kontrolliert zu untersuchen, verwende ich einen kleinen AutoEncoder und den XJTU-SY-Datensatz. Der Vortrag zeigt die Systemidee, den ersten Interpreter, den Vergleich zweier Transferstrategien und den vorbereiteten Blind-Test.</a:t>
            </a:r>
          </a:p>
          <a:p xmlns:a="http://schemas.openxmlformats.org/drawingml/2006/main">
            <a:r>
              <a:t/>
            </a:r>
          </a:p>
          <a:p xmlns:a="http://schemas.openxmlformats.org/drawingml/2006/main">
            <a:r>
              <a:t>[Sources]</a:t>
            </a:r>
          </a:p>
          <a:p xmlns:a="http://schemas.openxmlformats.org/drawingml/2006/main">
            <a:r>
              <a:t>- Interne Projektdokumentation: presentation_notes.md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Encoder liefert zunächst nur Zahlen. Diese Zahlen können für Rekonstruktion oder andere Lernaufgaben nützlich sein, beantworten aber noch keine Zustandsfrage. Genau hier liegt die Aufgabe des State Interpreters. Er soll aus dem Embedding Größen ableiten, die fachlich lesbar sind: die Abweichung vom frühen Referenzzustand, die zeitliche Entwicklung und kurzfristige Veränderungen. Der Interpreter ersetzt den Encoder also nicht. Er sitzt dahinter und übersetzt dessen Repräsentation in eine kompakte Zustandsbeschreibung.</a:t>
            </a:r>
          </a:p>
          <a:p xmlns:a="http://schemas.openxmlformats.org/drawingml/2006/main">
            <a:r>
              <a:t/>
            </a:r>
          </a:p>
          <a:p xmlns:a="http://schemas.openxmlformats.org/drawingml/2006/main">
            <a:r>
              <a:t>[Sources]</a:t>
            </a:r>
          </a:p>
          <a:p xmlns:a="http://schemas.openxmlformats.org/drawingml/2006/main">
            <a:r>
              <a:t>- Interne Systemdefinition: docs/state_interpreter/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Architektur ist bewusst modular. Zuerst werden die Rohsignale durch STFT in eine feste Zeit-Frequenz-Darstellung überführt. Der kleine AutoEncoder komprimiert diese Darstellung auf acht Dimensionen. Der State Interpreter verarbeitet anschließend die zeitlich geordneten z-Vektoren. Wichtig ist die Trennung: Der AutoEncoder lernt eine Repräsentation, der Interpreter erzeugt daraus einen lesbaren Zustand. Wenn die Methode mit dem kleinen Modell verstanden ist, kann der AutoEncoder später durch VibFM ersetzt werden, ohne die gesamte Logik neu zu entwickeln.</a:t>
            </a:r>
          </a:p>
          <a:p xmlns:a="http://schemas.openxmlformats.org/drawingml/2006/main">
            <a:r>
              <a:t/>
            </a:r>
          </a:p>
          <a:p xmlns:a="http://schemas.openxmlformats.org/drawingml/2006/main">
            <a:r>
              <a:t>[Sources]</a:t>
            </a:r>
          </a:p>
          <a:p xmlns:a="http://schemas.openxmlformats.org/drawingml/2006/main">
            <a:r>
              <a:t>- Interne Architekturübersicht: README_DE.md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XJTU-SY eignet sich für diesen ersten Versuchsaufbau, weil jedes Bearing eine zeitlich geordnete Run-to-Failure-Sequenz liefert. Für jede Messung werden die beiden Schwingungskanäle mit einer festen STFT-Pipeline auf eine Darstellung von zwei mal 32 mal 32 gebracht. Der AutoEncoder wird ausschließlich über Rekonstruktion trainiert. Sein Ziel ist nicht, direkt Gesundheit zu klassifizieren, sondern einen kleinen latenten Raum mit acht Dimensionen zu erzeugen, dessen zeitliche Struktur anschließend untersucht werden kann.</a:t>
            </a:r>
          </a:p>
          <a:p xmlns:a="http://schemas.openxmlformats.org/drawingml/2006/main">
            <a:r>
              <a:t/>
            </a:r>
          </a:p>
          <a:p xmlns:a="http://schemas.openxmlformats.org/drawingml/2006/main">
            <a:r>
              <a:t>[Sources]</a:t>
            </a:r>
          </a:p>
          <a:p xmlns:a="http://schemas.openxmlformats.org/drawingml/2006/main">
            <a:r>
              <a:t>- XJTU-SY Bearing Dataset</a:t>
            </a:r>
          </a:p>
          <a:p xmlns:a="http://schemas.openxmlformats.org/drawingml/2006/main">
            <a:r>
              <a:t>- Interne Preprocessing-Konfiguration: n_fft=1024, hop_length=512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erste Interpreter-Version verwendet keine zusätzliche neuronale Schicht. Sie berechnet drei relative zeitliche Größen. Level misst den standardisierten Abstand zum frühen Referenzzustand eines Bearings. Trend beschreibt die Steigung des Level im letzten Zeitfenster. Movement misst, wie stark sich aufeinanderfolgende z-Punkte bewegen. Die ersten 15 Messungen dienen nur zur bearing-spezifischen Kalibrierung. Danach arbeitet der Interpreter im Status READY mit einem Zeitfenster von zehn Messungen. Dadurch ist der State kompakt, online berechenbar und direkt interpretierbar.</a:t>
            </a:r>
          </a:p>
          <a:p xmlns:a="http://schemas.openxmlformats.org/drawingml/2006/main">
            <a:r>
              <a:t/>
            </a:r>
          </a:p>
          <a:p xmlns:a="http://schemas.openxmlformats.org/drawingml/2006/main">
            <a:r>
              <a:t>[Sources]</a:t>
            </a:r>
          </a:p>
          <a:p xmlns:a="http://schemas.openxmlformats.org/drawingml/2006/main">
            <a:r>
              <a:t>- Interne Interpreter-Konfiguration: calibration_steps=15, temporal_window=10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Mit den beiden Armen möchte ich zwei mögliche Ursachen für Transferprobleme auseinanderhalten. Arm A prüft, ob die komplette Quellpipeline ohne neues Training in einer anderen Betriebsbedingung funktioniert. Arm B erlaubt nur dem Encoder und der Normalisierung eine Anpassung an die Zielbedingung. Der State Interpreter bleibt in beiden Fällen identisch. Dadurch zeigt die Differenz der Ergebnisse, ob eine neue Repräsentation hilfreich ist, ohne gleichzeitig die Interpretationslogik zu verändern. Bearing2_5 bleibt für die abschließende gemeinsame Blind-Evaluation zurückgehalten.</a:t>
            </a:r>
          </a:p>
          <a:p xmlns:a="http://schemas.openxmlformats.org/drawingml/2006/main">
            <a:r>
              <a:t/>
            </a:r>
          </a:p>
          <a:p xmlns:a="http://schemas.openxmlformats.org/drawingml/2006/main">
            <a:r>
              <a:t>[Sources]</a:t>
            </a:r>
          </a:p>
          <a:p xmlns:a="http://schemas.openxmlformats.org/drawingml/2006/main">
            <a:r>
              <a:t>- Interne Präregistrierung: configs/xjtu_cross_condition_v2_1.json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Metrik ist die Spearman-Korrelation zwischen Level und normierter Lebensdauer. In allen vier Entwicklungs-Bearings ist sie positiv. Arm A generalisiert bereits überraschend gut auf Bearing2_1 bis Bearing2_3. Der größte Unterschied entsteht bei Bearing2_4: Dort steigt die Korrelation durch die Encoder-Anpassung von 0,681 auf 0,993. Über alle vier Bearings beträgt die mittlere Verbesserung 0,087. Diese Zahlen sind Entwicklungsresultate, weil die Trainings-Bearings zum Lernen des AutoEncoders und Bearing2_4 zur Checkpoint-Auswahl verwendet wurden.</a:t>
            </a:r>
          </a:p>
          <a:p xmlns:a="http://schemas.openxmlformats.org/drawingml/2006/main">
            <a:r>
              <a:t/>
            </a:r>
          </a:p>
          <a:p xmlns:a="http://schemas.openxmlformats.org/drawingml/2006/main">
            <a:r>
              <a:t>[Sources]</a:t>
            </a:r>
          </a:p>
          <a:p xmlns:a="http://schemas.openxmlformats.org/drawingml/2006/main">
            <a:r>
              <a:t>- runs/arm_a_direct_generalization_dev_20260802/development_report.json</a:t>
            </a:r>
          </a:p>
          <a:p xmlns:a="http://schemas.openxmlformats.org/drawingml/2006/main">
            <a:r>
              <a:t>- runs/arm_b_adapted_encoder_dev_20260802/development_report.json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Vor dem echten Blind-Test wurde die gemeinsame Evaluationspipeline auf dem bereits bekannten Bearing2_4 geprobt. Die Rohdaten werden dabei nur einmal materialisiert und anschließend gleichzeitig an Arm A und Arm B übergeben. Die resultierenden Korrelationen stimmen exakt mit den vorher getrennt ausgeführten Experimenten überein; der numerische Reproduktionsfehler ist null. Außerdem bestehen 66 automatisierte Tests. Bearing2_5 wurde weiterhin nicht für Signalstatistiken, Kurven oder Kennzahlen geöffnet. Damit bleibt die Grenze zwischen Entwicklung und finaler Evaluation erhalten.</a:t>
            </a:r>
          </a:p>
          <a:p xmlns:a="http://schemas.openxmlformats.org/drawingml/2006/main">
            <a:r>
              <a:t/>
            </a:r>
          </a:p>
          <a:p xmlns:a="http://schemas.openxmlformats.org/drawingml/2006/main">
            <a:r>
              <a:t>[Sources]</a:t>
            </a:r>
          </a:p>
          <a:p xmlns:a="http://schemas.openxmlformats.org/drawingml/2006/main">
            <a:r>
              <a:t>- runs/joint_evaluation_rehearsal_bearing2_4_20260802/joint_report.json</a:t>
            </a:r>
          </a:p>
          <a:p xmlns:a="http://schemas.openxmlformats.org/drawingml/2006/main">
            <a:r>
              <a:t>- Interne Testsuite: 66 passed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bisherigen Resultate unterstützen drei technische Aussagen: Der AutoEncoder erzeugt einen zeitlich strukturierten Raum, der feste Interpreter kann mit verschiedenen Encodern arbeiten, und die Zielanpassung des Encoders kann einzelne schwierige Fälle verbessern. Gleichzeitig ist eine vorsichtige Interpretation wichtig. Level ist eine relative Distanz und kein Prozentwert für physikalischen Schaden. Eine hohe Korrelation auf Entwicklungsdaten ist noch kein Nachweis für unbekannte Bearings. Auch die Eignung als RL-State muss später über eine konkrete Entscheidungsaufgabe geprüft werden.</a:t>
            </a:r>
          </a:p>
          <a:p xmlns:a="http://schemas.openxmlformats.org/drawingml/2006/main">
            <a:r>
              <a:t/>
            </a:r>
          </a:p>
          <a:p xmlns:a="http://schemas.openxmlformats.org/drawingml/2006/main">
            <a:r>
              <a:t>[Sources]</a:t>
            </a:r>
          </a:p>
          <a:p xmlns:a="http://schemas.openxmlformats.org/drawingml/2006/main">
            <a:r>
              <a:t>- Interne Ergebnisinterpretation: presentation_notes.md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nächste Schritt ist bewusst klein und klar abgegrenzt. Zuerst werden Konfiguration, beide Checkpoints und ihre Hashes final dokumentiert. Danach wird Bearing2_5 genau einmal geladen und in derselben Ausführung durch beide Arme verarbeitet. Berichtet werden die beiden Spearman-Korrelationen und ihre Differenz. Nach diesem Lauf werden die Parameter nicht anhand des Blind-Ergebnisses verändert. Meine Diskussionsfrage ist deshalb: Ist dieser einmalige Blind-Vergleich der richtige nächste Meilenstein, bevor wir neue Interpreter-Varianten oder später VibFM einführen?</a:t>
            </a:r>
          </a:p>
          <a:p xmlns:a="http://schemas.openxmlformats.org/drawingml/2006/main">
            <a:r>
              <a:t/>
            </a:r>
          </a:p>
          <a:p xmlns:a="http://schemas.openxmlformats.org/drawingml/2006/main">
            <a:r>
              <a:t>[Sources]</a:t>
            </a:r>
          </a:p>
          <a:p xmlns:a="http://schemas.openxmlformats.org/drawingml/2006/main">
            <a:r>
              <a:t>- Interner Evaluationsplan: configs/xjtu_cross_condition_v2_1.json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97c6b62c8c41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e41da4c1474d4d" /><Relationship Type="http://schemas.openxmlformats.org/officeDocument/2006/relationships/slideLayout" Target="/ppt/slideLayouts/slideLayout1.xml" Id="R9fb5d030055d4f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b5d030055d4f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5b2f30dda25490a" /><Relationship Type="http://schemas.openxmlformats.org/officeDocument/2006/relationships/notesSlide" Target="/ppt/notesSlides/notesSlide1.xml" Id="R8f9a118cb4d440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61673ed527d4f55" /><Relationship Type="http://schemas.openxmlformats.org/officeDocument/2006/relationships/notesSlide" Target="/ppt/notesSlides/notesSlide2.xml" Id="R69d4aaafcc444c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bdbea7892a547ce" /><Relationship Type="http://schemas.openxmlformats.org/officeDocument/2006/relationships/notesSlide" Target="/ppt/notesSlides/notesSlide3.xml" Id="Rd3a80e03785e40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489c1e78c324f68" /><Relationship Type="http://schemas.openxmlformats.org/officeDocument/2006/relationships/notesSlide" Target="/ppt/notesSlides/notesSlide4.xml" Id="Rfde3f9a35d1e49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f6669260779401a" /><Relationship Type="http://schemas.openxmlformats.org/officeDocument/2006/relationships/notesSlide" Target="/ppt/notesSlides/notesSlide5.xml" Id="R1cbb8f481fca43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491ac754ca94ca5" /><Relationship Type="http://schemas.openxmlformats.org/officeDocument/2006/relationships/notesSlide" Target="/ppt/notesSlides/notesSlide6.xml" Id="Rf4f8f662922442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445904e26a54db8" /><Relationship Type="http://schemas.openxmlformats.org/officeDocument/2006/relationships/chart" Target="/ppt/slides/charts/chart1.xml" Id="R7d609e3bca264321" /><Relationship Type="http://schemas.openxmlformats.org/officeDocument/2006/relationships/notesSlide" Target="/ppt/notesSlides/notesSlide7.xml" Id="Rb61125d581ac4c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93b302814f94595" /><Relationship Type="http://schemas.openxmlformats.org/officeDocument/2006/relationships/notesSlide" Target="/ppt/notesSlides/notesSlide8.xml" Id="Rd46d90c884474cb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251ddc0fa7b40f1" /><Relationship Type="http://schemas.openxmlformats.org/officeDocument/2006/relationships/notesSlide" Target="/ppt/notesSlides/notesSlide9.xml" Id="Ra6e78cb045ac44f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a90938bce8f4055" /><Relationship Type="http://schemas.openxmlformats.org/officeDocument/2006/relationships/notesSlide" Target="/ppt/notesSlides/notesSlide10.xml" Id="R0d33152b16464596"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t>Spearman ρ: Level vs. normierte Lebensdauer</a:t>
            </a:r>
          </a:p>
        </c:rich>
      </c:tx>
      <c:overlay val="0"/>
    </c:title>
    <c:plotArea>
      <c:barChart>
        <c:barDir val="col"/>
        <c:varyColors val="0"/>
        <c:ser>
          <c:idx val="0"/>
          <c:order val="0"/>
          <c:tx>
            <c:v>Arm A</c:v>
          </c:tx>
          <c:spPr>
            <a:solidFill xmlns:a="http://schemas.openxmlformats.org/drawingml/2006/main">
              <a:srgbClr val="3D8DFF"/>
            </a:solidFill>
          </c:spPr>
          <c:cat>
            <c:strLit>
              <c:ptCount val="4"/>
              <c:pt idx="0">
                <c:v>B2_1</c:v>
              </c:pt>
              <c:pt idx="1">
                <c:v>B2_2</c:v>
              </c:pt>
              <c:pt idx="2">
                <c:v>B2_3</c:v>
              </c:pt>
              <c:pt idx="3">
                <c:v>B2_4</c:v>
              </c:pt>
            </c:strLit>
          </c:cat>
          <c:val>
            <c:numLit>
              <c:formatCode>General</c:formatCode>
              <c:ptCount val="4"/>
              <c:pt idx="0">
                <c:v>0.887</c:v>
              </c:pt>
              <c:pt idx="1">
                <c:v>0.991</c:v>
              </c:pt>
              <c:pt idx="2">
                <c:v>0.974</c:v>
              </c:pt>
              <c:pt idx="3">
                <c:v>0.681</c:v>
              </c:pt>
            </c:numLit>
          </c:val>
        </c:ser>
        <c:ser>
          <c:idx val="1"/>
          <c:order val="1"/>
          <c:tx>
            <c:v>Arm B</c:v>
          </c:tx>
          <c:spPr>
            <a:solidFill xmlns:a="http://schemas.openxmlformats.org/drawingml/2006/main">
              <a:srgbClr val="39A96B"/>
            </a:solidFill>
          </c:spPr>
          <c:cat>
            <c:strLit>
              <c:ptCount val="4"/>
              <c:pt idx="0">
                <c:v>B2_1</c:v>
              </c:pt>
              <c:pt idx="1">
                <c:v>B2_2</c:v>
              </c:pt>
              <c:pt idx="2">
                <c:v>B2_3</c:v>
              </c:pt>
              <c:pt idx="3">
                <c:v>B2_4</c:v>
              </c:pt>
            </c:strLit>
          </c:cat>
          <c:val>
            <c:numLit>
              <c:formatCode>General</c:formatCode>
              <c:ptCount val="4"/>
              <c:pt idx="0">
                <c:v>0.914</c:v>
              </c:pt>
              <c:pt idx="1">
                <c:v>0.994</c:v>
              </c:pt>
              <c:pt idx="2">
                <c:v>0.979</c:v>
              </c:pt>
              <c:pt idx="3">
                <c:v>0.993</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D9DEE5"/>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0.2"/>
      </c:valAx>
    </c:plotArea>
    <c:legend>
      <c:legendPos val="b"/>
      <c:overlay val="0"/>
    </c:legend>
    <c:plotVisOnly val="1"/>
  </c:chart>
</c:chartSpace>
</file>

<file path=ppt/slides/slide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47E7854-21D4-4DBD-8546-D7732356D1EE}"/>
              </a:ext>
            </a:extLst>
          </p:cNvPr>
          <p:cNvSpPr>
            <a:spLocks xmlns:a="http://schemas.openxmlformats.org/drawingml/2006/main" noGrp="1"/>
          </p:cNvSpPr>
          <p:nvPr/>
        </p:nvSpPr>
        <p:spPr>
          <a:xfrm xmlns:a="http://schemas.openxmlformats.org/drawingml/2006/main">
            <a:off x="609600" y="5524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a:solidFill>
                  <a:srgbClr val="3D8DFF"/>
                </a:solidFill>
              </a:defRPr>
            </a:pPr>
            <a:r>
              <a:rPr sz="1050" b="1">
                <a:solidFill>
                  <a:srgbClr val="3D8DFF"/>
                </a:solidFill>
              </a:rPr>
              <a:t>STATE INTERPRETER</a:t>
            </a:r>
          </a:p>
        </p:txBody>
      </p:sp>
      <p:sp>
        <p:nvSpPr>
          <p:cNvPr id="2" name="">
            <a:extLst xmlns:a="http://schemas.openxmlformats.org/drawingml/2006/main">
              <a:ext uri="{FF2B5EF4-FFF2-40B4-BE49-F238E27FC236}">
                <a16:creationId xmlns:a16="http://schemas.microsoft.com/office/drawing/2014/main" id="{DCC93318-4540-4E0F-9955-40FA321CB80B}"/>
              </a:ext>
            </a:extLst>
          </p:cNvPr>
          <p:cNvSpPr>
            <a:spLocks xmlns:a="http://schemas.openxmlformats.org/drawingml/2006/main" noGrp="1"/>
          </p:cNvSpPr>
          <p:nvPr/>
        </p:nvSpPr>
        <p:spPr>
          <a:xfrm xmlns:a="http://schemas.openxmlformats.org/drawingml/2006/main">
            <a:off x="609600" y="1524000"/>
            <a:ext cx="7239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900" b="1">
                <a:solidFill>
                  <a:srgbClr val="101318"/>
                </a:solidFill>
              </a:defRPr>
            </a:pPr>
            <a:r>
              <a:rPr sz="3900" b="1">
                <a:solidFill>
                  <a:srgbClr val="101318"/>
                </a:solidFill>
              </a:rPr>
              <a:t>Vom latenten Raum</a:t>
            </a:r>
          </a:p>
          <a:p xmlns:a="http://schemas.openxmlformats.org/drawingml/2006/main">
            <a:pPr algn="l">
              <a:buNone/>
              <a:defRPr sz="3900" b="1">
                <a:solidFill>
                  <a:srgbClr val="101318"/>
                </a:solidFill>
              </a:defRPr>
            </a:pPr>
            <a:r>
              <a:rPr sz="3900" b="1">
                <a:solidFill>
                  <a:srgbClr val="101318"/>
                </a:solidFill>
              </a:rPr>
              <a:t>zum interpretierbaren</a:t>
            </a:r>
          </a:p>
          <a:p xmlns:a="http://schemas.openxmlformats.org/drawingml/2006/main">
            <a:pPr algn="l">
              <a:buNone/>
              <a:defRPr sz="3900" b="1">
                <a:solidFill>
                  <a:srgbClr val="101318"/>
                </a:solidFill>
              </a:defRPr>
            </a:pPr>
            <a:r>
              <a:rPr sz="3900" b="1">
                <a:solidFill>
                  <a:srgbClr val="101318"/>
                </a:solidFill>
              </a:rPr>
              <a:t>Maschinenzustand</a:t>
            </a:r>
          </a:p>
        </p:txBody>
      </p:sp>
      <p:sp>
        <p:nvSpPr>
          <p:cNvPr id="3" name="">
            <a:extLst xmlns:a="http://schemas.openxmlformats.org/drawingml/2006/main">
              <a:ext uri="{FF2B5EF4-FFF2-40B4-BE49-F238E27FC236}">
                <a16:creationId xmlns:a16="http://schemas.microsoft.com/office/drawing/2014/main" id="{89727555-35E6-4A09-9162-FC261F4B09D3}"/>
              </a:ext>
            </a:extLst>
          </p:cNvPr>
          <p:cNvSpPr>
            <a:spLocks xmlns:a="http://schemas.openxmlformats.org/drawingml/2006/main" noGrp="1"/>
          </p:cNvSpPr>
          <p:nvPr/>
        </p:nvSpPr>
        <p:spPr>
          <a:xfrm xmlns:a="http://schemas.openxmlformats.org/drawingml/2006/main">
            <a:off x="647700" y="4286250"/>
            <a:ext cx="647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59616D"/>
                </a:solidFill>
              </a:defRPr>
            </a:pPr>
            <a:r>
              <a:rPr sz="1575" b="0">
                <a:solidFill>
                  <a:srgbClr val="59616D"/>
                </a:solidFill>
              </a:rPr>
              <a:t>Arbeitsstand · XJTU-SY · AutoEncoder z = 8</a:t>
            </a:r>
          </a:p>
        </p:txBody>
      </p:sp>
      <p:sp>
        <p:nvSpPr>
          <p:cNvPr id="4" name="">
            <a:extLst xmlns:a="http://schemas.openxmlformats.org/drawingml/2006/main">
              <a:ext uri="{FF2B5EF4-FFF2-40B4-BE49-F238E27FC236}">
                <a16:creationId xmlns:a16="http://schemas.microsoft.com/office/drawing/2014/main" id="{6106EE21-5645-41CF-A251-0317D27F3944}"/>
              </a:ext>
            </a:extLst>
          </p:cNvPr>
          <p:cNvSpPr>
            <a:spLocks xmlns:a="http://schemas.openxmlformats.org/drawingml/2006/main" noGrp="1"/>
          </p:cNvSpPr>
          <p:nvPr/>
        </p:nvSpPr>
        <p:spPr>
          <a:xfrm xmlns:a="http://schemas.openxmlformats.org/drawingml/2006/main">
            <a:off x="8743950" y="1047750"/>
            <a:ext cx="2381250" cy="4000500"/>
          </a:xfrm>
          <a:prstGeom xmlns:a="http://schemas.openxmlformats.org/drawingml/2006/main" prst="roundRect">
            <a:avLst>
              <a:gd name="adj" fmla="val 6400"/>
            </a:avLst>
          </a:prstGeom>
          <a:solidFill xmlns:a="http://schemas.openxmlformats.org/drawingml/2006/main">
            <a:srgbClr val="222831"/>
          </a:solidFill>
          <a:ln xmlns:a="http://schemas.openxmlformats.org/drawingml/2006/main" w="9525">
            <a:solidFill>
              <a:srgbClr val="222831"/>
            </a:solidFill>
            <a:prstDash val="solid"/>
          </a:ln>
        </p:spPr>
      </p:sp>
      <p:sp>
        <p:nvSpPr>
          <p:cNvPr id="5" name="">
            <a:extLst xmlns:a="http://schemas.openxmlformats.org/drawingml/2006/main">
              <a:ext uri="{FF2B5EF4-FFF2-40B4-BE49-F238E27FC236}">
                <a16:creationId xmlns:a16="http://schemas.microsoft.com/office/drawing/2014/main" id="{7C8E28BE-ED7D-45BF-8878-399F60E7E31C}"/>
              </a:ext>
            </a:extLst>
          </p:cNvPr>
          <p:cNvSpPr>
            <a:spLocks xmlns:a="http://schemas.openxmlformats.org/drawingml/2006/main" noGrp="1"/>
          </p:cNvSpPr>
          <p:nvPr/>
        </p:nvSpPr>
        <p:spPr>
          <a:xfrm xmlns:a="http://schemas.openxmlformats.org/drawingml/2006/main">
            <a:off x="9353550" y="1714500"/>
            <a:ext cx="1143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5400" b="1">
                <a:solidFill>
                  <a:srgbClr val="FFFFFF"/>
                </a:solidFill>
              </a:defRPr>
            </a:pPr>
            <a:r>
              <a:rPr sz="5400" b="1">
                <a:solidFill>
                  <a:srgbClr val="FFFFFF"/>
                </a:solidFill>
              </a:rPr>
              <a:t>z</a:t>
            </a:r>
          </a:p>
        </p:txBody>
      </p:sp>
      <p:sp>
        <p:nvSpPr>
          <p:cNvPr id="6" name="">
            <a:extLst xmlns:a="http://schemas.openxmlformats.org/drawingml/2006/main">
              <a:ext uri="{FF2B5EF4-FFF2-40B4-BE49-F238E27FC236}">
                <a16:creationId xmlns:a16="http://schemas.microsoft.com/office/drawing/2014/main" id="{7A068410-6303-43B6-AE20-1EB5828F1D94}"/>
              </a:ext>
            </a:extLst>
          </p:cNvPr>
          <p:cNvSpPr>
            <a:spLocks xmlns:a="http://schemas.openxmlformats.org/drawingml/2006/main" noGrp="1"/>
          </p:cNvSpPr>
          <p:nvPr/>
        </p:nvSpPr>
        <p:spPr>
          <a:xfrm xmlns:a="http://schemas.openxmlformats.org/drawingml/2006/main">
            <a:off x="9448800" y="2619375"/>
            <a:ext cx="95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850" b="1">
                <a:solidFill>
                  <a:srgbClr val="6DCBF4"/>
                </a:solidFill>
              </a:defRPr>
            </a:pPr>
            <a:r>
              <a:rPr sz="2850" b="1">
                <a:solidFill>
                  <a:srgbClr val="6DCBF4"/>
                </a:solidFill>
              </a:rPr>
              <a:t>→</a:t>
            </a:r>
          </a:p>
        </p:txBody>
      </p:sp>
      <p:sp>
        <p:nvSpPr>
          <p:cNvPr id="7" name="">
            <a:extLst xmlns:a="http://schemas.openxmlformats.org/drawingml/2006/main">
              <a:ext uri="{FF2B5EF4-FFF2-40B4-BE49-F238E27FC236}">
                <a16:creationId xmlns:a16="http://schemas.microsoft.com/office/drawing/2014/main" id="{17D5B27E-F38D-4808-992C-9DF5011EDB62}"/>
              </a:ext>
            </a:extLst>
          </p:cNvPr>
          <p:cNvSpPr>
            <a:spLocks xmlns:a="http://schemas.openxmlformats.org/drawingml/2006/main" noGrp="1"/>
          </p:cNvSpPr>
          <p:nvPr/>
        </p:nvSpPr>
        <p:spPr>
          <a:xfrm xmlns:a="http://schemas.openxmlformats.org/drawingml/2006/main">
            <a:off x="9048750" y="3238500"/>
            <a:ext cx="17716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FFFFFF"/>
                </a:solidFill>
              </a:defRPr>
            </a:pPr>
            <a:r>
              <a:rPr sz="2100" b="1">
                <a:solidFill>
                  <a:srgbClr val="FFFFFF"/>
                </a:solidFill>
              </a:rPr>
              <a:t>Level</a:t>
            </a:r>
          </a:p>
          <a:p xmlns:a="http://schemas.openxmlformats.org/drawingml/2006/main">
            <a:pPr algn="ctr">
              <a:buNone/>
              <a:defRPr sz="2100" b="1">
                <a:solidFill>
                  <a:srgbClr val="FFFFFF"/>
                </a:solidFill>
              </a:defRPr>
            </a:pPr>
            <a:r>
              <a:rPr sz="2100" b="1">
                <a:solidFill>
                  <a:srgbClr val="FFFFFF"/>
                </a:solidFill>
              </a:rPr>
              <a:t>Trend</a:t>
            </a:r>
          </a:p>
          <a:p xmlns:a="http://schemas.openxmlformats.org/drawingml/2006/main">
            <a:pPr algn="ctr">
              <a:buNone/>
              <a:defRPr sz="2100" b="1">
                <a:solidFill>
                  <a:srgbClr val="FFFFFF"/>
                </a:solidFill>
              </a:defRPr>
            </a:pPr>
            <a:r>
              <a:rPr sz="2100" b="1">
                <a:solidFill>
                  <a:srgbClr val="FFFFFF"/>
                </a:solidFill>
              </a:rPr>
              <a:t>Movement</a:t>
            </a:r>
          </a:p>
        </p:txBody>
      </p:sp>
      <p:sp>
        <p:nvSpPr>
          <p:cNvPr id="8" name="">
            <a:extLst xmlns:a="http://schemas.openxmlformats.org/drawingml/2006/main">
              <a:ext uri="{FF2B5EF4-FFF2-40B4-BE49-F238E27FC236}">
                <a16:creationId xmlns:a16="http://schemas.microsoft.com/office/drawing/2014/main" id="{4FFF2724-D61B-408B-95D5-E148B8461632}"/>
              </a:ext>
            </a:extLst>
          </p:cNvPr>
          <p:cNvSpPr>
            <a:spLocks xmlns:a="http://schemas.openxmlformats.org/drawingml/2006/main" noGrp="1"/>
          </p:cNvSpPr>
          <p:nvPr/>
        </p:nvSpPr>
        <p:spPr>
          <a:xfrm xmlns:a="http://schemas.openxmlformats.org/drawingml/2006/main">
            <a:off x="647700" y="60769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0">
                <a:solidFill>
                  <a:srgbClr val="59616D"/>
                </a:solidFill>
              </a:defRPr>
            </a:pPr>
            <a:r>
              <a:rPr sz="1125" b="0">
                <a:solidFill>
                  <a:srgbClr val="59616D"/>
                </a:solidFill>
              </a:rPr>
              <a:t>Yuxin</a:t>
            </a:r>
            <a:r>
              <a:rPr sz="1125" b="0">
                <a:solidFill>
                  <a:srgbClr val="59616D"/>
                </a:solidFill>
              </a:rPr>
              <a:t> · 31.08.2026</a:t>
            </a:r>
          </a:p>
        </p:txBody>
      </p:sp>
    </p:spTree>
    <p:extLst>
      <p:ext uri="{BB962C8B-B14F-4D97-AF65-F5344CB8AC3E}">
        <p14:creationId xmlns:p14="http://schemas.microsoft.com/office/powerpoint/2010/main" val="1710445141"/>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4182810-586C-4DF9-81B1-69E6CB74B707}"/>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FORSCHUNGSFRAGE</a:t>
            </a:r>
          </a:p>
        </p:txBody>
      </p:sp>
      <p:sp>
        <p:nvSpPr>
          <p:cNvPr id="2" name="">
            <a:extLst xmlns:a="http://schemas.openxmlformats.org/drawingml/2006/main">
              <a:ext uri="{FF2B5EF4-FFF2-40B4-BE49-F238E27FC236}">
                <a16:creationId xmlns:a16="http://schemas.microsoft.com/office/drawing/2014/main" id="{1B355884-58D7-4467-BB7F-03F47D92B42F}"/>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Ein Embedding ist noch kein interpretierbarer Zustand</a:t>
            </a:r>
          </a:p>
        </p:txBody>
      </p:sp>
      <p:sp>
        <p:nvSpPr>
          <p:cNvPr id="3" name="">
            <a:extLst xmlns:a="http://schemas.openxmlformats.org/drawingml/2006/main">
              <a:ext uri="{FF2B5EF4-FFF2-40B4-BE49-F238E27FC236}">
                <a16:creationId xmlns:a16="http://schemas.microsoft.com/office/drawing/2014/main" id="{6B37153F-DB8A-4A4A-BB9E-89FA1A44A17F}"/>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19BE2C34-D931-4F2D-91AA-3C06AD1C375A}"/>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02</a:t>
            </a:r>
          </a:p>
        </p:txBody>
      </p:sp>
      <p:sp>
        <p:nvSpPr>
          <p:cNvPr id="5" name="">
            <a:extLst xmlns:a="http://schemas.openxmlformats.org/drawingml/2006/main">
              <a:ext uri="{FF2B5EF4-FFF2-40B4-BE49-F238E27FC236}">
                <a16:creationId xmlns:a16="http://schemas.microsoft.com/office/drawing/2014/main" id="{39241A05-1133-405B-A49D-FD74A879ECB6}"/>
              </a:ext>
            </a:extLst>
          </p:cNvPr>
          <p:cNvSpPr>
            <a:spLocks xmlns:a="http://schemas.openxmlformats.org/drawingml/2006/main" noGrp="1"/>
          </p:cNvSpPr>
          <p:nvPr/>
        </p:nvSpPr>
        <p:spPr>
          <a:xfrm xmlns:a="http://schemas.openxmlformats.org/drawingml/2006/main">
            <a:off x="609600" y="1695450"/>
            <a:ext cx="4762500" cy="3810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F03DB8B6-4999-4042-AFC1-4E0766317328}"/>
              </a:ext>
            </a:extLst>
          </p:cNvPr>
          <p:cNvSpPr>
            <a:spLocks xmlns:a="http://schemas.openxmlformats.org/drawingml/2006/main" noGrp="1"/>
          </p:cNvSpPr>
          <p:nvPr/>
        </p:nvSpPr>
        <p:spPr>
          <a:xfrm xmlns:a="http://schemas.openxmlformats.org/drawingml/2006/main">
            <a:off x="876300" y="1962150"/>
            <a:ext cx="2095500" cy="342900"/>
          </a:xfrm>
          <a:prstGeom xmlns:a="http://schemas.openxmlformats.org/drawingml/2006/main" prst="roundRect">
            <a:avLst>
              <a:gd name="adj" fmla="val 50000"/>
            </a:avLst>
          </a:prstGeom>
          <a:solidFill xmlns:a="http://schemas.openxmlformats.org/drawingml/2006/main">
            <a:srgbClr val="EAF6FC"/>
          </a:solidFill>
          <a:ln xmlns:a="http://schemas.openxmlformats.org/drawingml/2006/main" w="9525">
            <a:solidFill>
              <a:srgbClr val="EAF6FC"/>
            </a:solidFill>
            <a:prstDash val="solid"/>
          </a:ln>
        </p:spPr>
      </p:sp>
      <p:sp>
        <p:nvSpPr>
          <p:cNvPr id="7" name="">
            <a:extLst xmlns:a="http://schemas.openxmlformats.org/drawingml/2006/main">
              <a:ext uri="{FF2B5EF4-FFF2-40B4-BE49-F238E27FC236}">
                <a16:creationId xmlns:a16="http://schemas.microsoft.com/office/drawing/2014/main" id="{03149562-7736-4116-BBE4-B060103FD003}"/>
              </a:ext>
            </a:extLst>
          </p:cNvPr>
          <p:cNvSpPr>
            <a:spLocks xmlns:a="http://schemas.openxmlformats.org/drawingml/2006/main" noGrp="1"/>
          </p:cNvSpPr>
          <p:nvPr/>
        </p:nvSpPr>
        <p:spPr>
          <a:xfrm xmlns:a="http://schemas.openxmlformats.org/drawingml/2006/main">
            <a:off x="990600" y="1962150"/>
            <a:ext cx="1866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3D8DFF"/>
                </a:solidFill>
              </a:defRPr>
            </a:pPr>
            <a:r>
              <a:rPr sz="1125" b="1">
                <a:solidFill>
                  <a:srgbClr val="3D8DFF"/>
                </a:solidFill>
              </a:rPr>
              <a:t>LATENTE REPRÄSENTATION</a:t>
            </a:r>
          </a:p>
        </p:txBody>
      </p:sp>
      <p:sp>
        <p:nvSpPr>
          <p:cNvPr id="8" name="">
            <a:extLst xmlns:a="http://schemas.openxmlformats.org/drawingml/2006/main">
              <a:ext uri="{FF2B5EF4-FFF2-40B4-BE49-F238E27FC236}">
                <a16:creationId xmlns:a16="http://schemas.microsoft.com/office/drawing/2014/main" id="{91795F99-F29A-48E1-B56C-727BF65207B5}"/>
              </a:ext>
            </a:extLst>
          </p:cNvPr>
          <p:cNvSpPr>
            <a:spLocks xmlns:a="http://schemas.openxmlformats.org/drawingml/2006/main" noGrp="1"/>
          </p:cNvSpPr>
          <p:nvPr/>
        </p:nvSpPr>
        <p:spPr>
          <a:xfrm xmlns:a="http://schemas.openxmlformats.org/drawingml/2006/main">
            <a:off x="895350" y="2628900"/>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950" b="1">
                <a:solidFill>
                  <a:srgbClr val="101318"/>
                </a:solidFill>
              </a:defRPr>
            </a:pPr>
            <a:r>
              <a:rPr sz="1950" b="1">
                <a:solidFill>
                  <a:srgbClr val="101318"/>
                </a:solidFill>
              </a:rPr>
              <a:t>z = [0.21, −0.74, 1.03, …]</a:t>
            </a:r>
          </a:p>
        </p:txBody>
      </p:sp>
      <p:sp>
        <p:nvSpPr>
          <p:cNvPr id="9" name="">
            <a:extLst xmlns:a="http://schemas.openxmlformats.org/drawingml/2006/main">
              <a:ext uri="{FF2B5EF4-FFF2-40B4-BE49-F238E27FC236}">
                <a16:creationId xmlns:a16="http://schemas.microsoft.com/office/drawing/2014/main" id="{1ED943A8-EA7C-4847-B647-AA4D2193E37C}"/>
              </a:ext>
            </a:extLst>
          </p:cNvPr>
          <p:cNvSpPr>
            <a:spLocks xmlns:a="http://schemas.openxmlformats.org/drawingml/2006/main" noGrp="1"/>
          </p:cNvSpPr>
          <p:nvPr/>
        </p:nvSpPr>
        <p:spPr>
          <a:xfrm xmlns:a="http://schemas.openxmlformats.org/drawingml/2006/main">
            <a:off x="895350" y="3352800"/>
            <a:ext cx="3905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59616D"/>
                </a:solidFill>
              </a:defRPr>
            </a:pPr>
            <a:r>
              <a:rPr sz="1575" b="0">
                <a:solidFill>
                  <a:srgbClr val="59616D"/>
                </a:solidFill>
              </a:rPr>
              <a:t>kompakt und lernbar — aber ohne direkte Bedeutung für Wartung oder Regelung</a:t>
            </a:r>
          </a:p>
        </p:txBody>
      </p:sp>
      <p:sp>
        <p:nvSpPr>
          <p:cNvPr id="10" name="">
            <a:extLst xmlns:a="http://schemas.openxmlformats.org/drawingml/2006/main">
              <a:ext uri="{FF2B5EF4-FFF2-40B4-BE49-F238E27FC236}">
                <a16:creationId xmlns:a16="http://schemas.microsoft.com/office/drawing/2014/main" id="{27D8BECC-8A74-47ED-A2C6-48AD26FDBC7D}"/>
              </a:ext>
            </a:extLst>
          </p:cNvPr>
          <p:cNvSpPr>
            <a:spLocks xmlns:a="http://schemas.openxmlformats.org/drawingml/2006/main" noGrp="1"/>
          </p:cNvSpPr>
          <p:nvPr/>
        </p:nvSpPr>
        <p:spPr>
          <a:xfrm xmlns:a="http://schemas.openxmlformats.org/drawingml/2006/main">
            <a:off x="4248150" y="4495800"/>
            <a:ext cx="68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450" b="1">
                <a:solidFill>
                  <a:srgbClr val="E35D6A"/>
                </a:solidFill>
              </a:defRPr>
            </a:pPr>
            <a:r>
              <a:rPr sz="3450" b="1">
                <a:solidFill>
                  <a:srgbClr val="E35D6A"/>
                </a:solidFill>
              </a:rPr>
              <a:t>?</a:t>
            </a:r>
          </a:p>
        </p:txBody>
      </p:sp>
      <p:sp>
        <p:nvSpPr>
          <p:cNvPr id="11" name="">
            <a:extLst xmlns:a="http://schemas.openxmlformats.org/drawingml/2006/main">
              <a:ext uri="{FF2B5EF4-FFF2-40B4-BE49-F238E27FC236}">
                <a16:creationId xmlns:a16="http://schemas.microsoft.com/office/drawing/2014/main" id="{70867B36-25D9-43A4-A04E-BBA4E399889A}"/>
              </a:ext>
            </a:extLst>
          </p:cNvPr>
          <p:cNvSpPr>
            <a:spLocks xmlns:a="http://schemas.openxmlformats.org/drawingml/2006/main" noGrp="1"/>
          </p:cNvSpPr>
          <p:nvPr/>
        </p:nvSpPr>
        <p:spPr>
          <a:xfrm xmlns:a="http://schemas.openxmlformats.org/drawingml/2006/main">
            <a:off x="5524500" y="3143250"/>
            <a:ext cx="85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450" b="1">
                <a:solidFill>
                  <a:srgbClr val="3D8DFF"/>
                </a:solidFill>
              </a:defRPr>
            </a:pPr>
            <a:r>
              <a:rPr sz="3450" b="1">
                <a:solidFill>
                  <a:srgbClr val="3D8DFF"/>
                </a:solidFill>
              </a:rPr>
              <a:t>→</a:t>
            </a:r>
          </a:p>
        </p:txBody>
      </p:sp>
      <p:sp>
        <p:nvSpPr>
          <p:cNvPr id="12" name="">
            <a:extLst xmlns:a="http://schemas.openxmlformats.org/drawingml/2006/main">
              <a:ext uri="{FF2B5EF4-FFF2-40B4-BE49-F238E27FC236}">
                <a16:creationId xmlns:a16="http://schemas.microsoft.com/office/drawing/2014/main" id="{8F4237FE-F1BB-4B1C-AB1E-06C594FDAD11}"/>
              </a:ext>
            </a:extLst>
          </p:cNvPr>
          <p:cNvSpPr>
            <a:spLocks xmlns:a="http://schemas.openxmlformats.org/drawingml/2006/main" noGrp="1"/>
          </p:cNvSpPr>
          <p:nvPr/>
        </p:nvSpPr>
        <p:spPr>
          <a:xfrm xmlns:a="http://schemas.openxmlformats.org/drawingml/2006/main">
            <a:off x="6496050" y="1695450"/>
            <a:ext cx="5086350" cy="3810000"/>
          </a:xfrm>
          <a:prstGeom xmlns:a="http://schemas.openxmlformats.org/drawingml/2006/main" prst="roundRect">
            <a:avLst>
              <a:gd name="adj" fmla="val 3000"/>
            </a:avLst>
          </a:prstGeom>
          <a:solidFill xmlns:a="http://schemas.openxmlformats.org/drawingml/2006/main">
            <a:srgbClr val="222831"/>
          </a:solidFill>
          <a:ln xmlns:a="http://schemas.openxmlformats.org/drawingml/2006/main" w="9525">
            <a:solidFill>
              <a:srgbClr val="222831"/>
            </a:solidFill>
            <a:prstDash val="solid"/>
          </a:ln>
        </p:spPr>
      </p:sp>
      <p:sp>
        <p:nvSpPr>
          <p:cNvPr id="13" name="">
            <a:extLst xmlns:a="http://schemas.openxmlformats.org/drawingml/2006/main">
              <a:ext uri="{FF2B5EF4-FFF2-40B4-BE49-F238E27FC236}">
                <a16:creationId xmlns:a16="http://schemas.microsoft.com/office/drawing/2014/main" id="{E6B300C8-8CA6-4201-9D7D-2D3713115FF9}"/>
              </a:ext>
            </a:extLst>
          </p:cNvPr>
          <p:cNvSpPr>
            <a:spLocks xmlns:a="http://schemas.openxmlformats.org/drawingml/2006/main" noGrp="1"/>
          </p:cNvSpPr>
          <p:nvPr/>
        </p:nvSpPr>
        <p:spPr>
          <a:xfrm xmlns:a="http://schemas.openxmlformats.org/drawingml/2006/main">
            <a:off x="6762750" y="1962150"/>
            <a:ext cx="1714500" cy="3429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14" name="">
            <a:extLst xmlns:a="http://schemas.openxmlformats.org/drawingml/2006/main">
              <a:ext uri="{FF2B5EF4-FFF2-40B4-BE49-F238E27FC236}">
                <a16:creationId xmlns:a16="http://schemas.microsoft.com/office/drawing/2014/main" id="{21529153-1995-43E8-BC0A-6712A1BD622E}"/>
              </a:ext>
            </a:extLst>
          </p:cNvPr>
          <p:cNvSpPr>
            <a:spLocks xmlns:a="http://schemas.openxmlformats.org/drawingml/2006/main" noGrp="1"/>
          </p:cNvSpPr>
          <p:nvPr/>
        </p:nvSpPr>
        <p:spPr>
          <a:xfrm xmlns:a="http://schemas.openxmlformats.org/drawingml/2006/main">
            <a:off x="6877050" y="1962150"/>
            <a:ext cx="1485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NUTZBARER STATE</a:t>
            </a:r>
          </a:p>
        </p:txBody>
      </p:sp>
      <p:sp>
        <p:nvSpPr>
          <p:cNvPr id="15" name="">
            <a:extLst xmlns:a="http://schemas.openxmlformats.org/drawingml/2006/main">
              <a:ext uri="{FF2B5EF4-FFF2-40B4-BE49-F238E27FC236}">
                <a16:creationId xmlns:a16="http://schemas.microsoft.com/office/drawing/2014/main" id="{FC39993F-6872-4CB3-BB9C-1ACB9DBA2447}"/>
              </a:ext>
            </a:extLst>
          </p:cNvPr>
          <p:cNvSpPr>
            <a:spLocks xmlns:a="http://schemas.openxmlformats.org/drawingml/2006/main" noGrp="1"/>
          </p:cNvSpPr>
          <p:nvPr/>
        </p:nvSpPr>
        <p:spPr>
          <a:xfrm xmlns:a="http://schemas.openxmlformats.org/drawingml/2006/main">
            <a:off x="6800850" y="2667000"/>
            <a:ext cx="428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00" b="1">
                <a:solidFill>
                  <a:srgbClr val="FFFFFF"/>
                </a:solidFill>
              </a:defRPr>
            </a:pPr>
            <a:r>
              <a:rPr sz="1800" b="1">
                <a:solidFill>
                  <a:srgbClr val="FFFFFF"/>
                </a:solidFill>
              </a:rPr>
              <a:t>Wie weit vom gesunden Zustand?</a:t>
            </a:r>
          </a:p>
        </p:txBody>
      </p:sp>
      <p:sp>
        <p:nvSpPr>
          <p:cNvPr id="16" name="">
            <a:extLst xmlns:a="http://schemas.openxmlformats.org/drawingml/2006/main">
              <a:ext uri="{FF2B5EF4-FFF2-40B4-BE49-F238E27FC236}">
                <a16:creationId xmlns:a16="http://schemas.microsoft.com/office/drawing/2014/main" id="{63ED812B-304D-4C8A-BDDC-3130474C5FD6}"/>
              </a:ext>
            </a:extLst>
          </p:cNvPr>
          <p:cNvSpPr>
            <a:spLocks xmlns:a="http://schemas.openxmlformats.org/drawingml/2006/main" noGrp="1"/>
          </p:cNvSpPr>
          <p:nvPr/>
        </p:nvSpPr>
        <p:spPr>
          <a:xfrm xmlns:a="http://schemas.openxmlformats.org/drawingml/2006/main">
            <a:off x="6800850" y="3390900"/>
            <a:ext cx="428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00" b="1">
                <a:solidFill>
                  <a:srgbClr val="FFFFFF"/>
                </a:solidFill>
              </a:defRPr>
            </a:pPr>
            <a:r>
              <a:rPr sz="1800" b="1">
                <a:solidFill>
                  <a:srgbClr val="FFFFFF"/>
                </a:solidFill>
              </a:rPr>
              <a:t>Wie entwickelt sich der Zustand?</a:t>
            </a:r>
          </a:p>
        </p:txBody>
      </p:sp>
      <p:sp>
        <p:nvSpPr>
          <p:cNvPr id="17" name="">
            <a:extLst xmlns:a="http://schemas.openxmlformats.org/drawingml/2006/main">
              <a:ext uri="{FF2B5EF4-FFF2-40B4-BE49-F238E27FC236}">
                <a16:creationId xmlns:a16="http://schemas.microsoft.com/office/drawing/2014/main" id="{E10EA495-5FFC-4862-B709-7105DFE40A76}"/>
              </a:ext>
            </a:extLst>
          </p:cNvPr>
          <p:cNvSpPr>
            <a:spLocks xmlns:a="http://schemas.openxmlformats.org/drawingml/2006/main" noGrp="1"/>
          </p:cNvSpPr>
          <p:nvPr/>
        </p:nvSpPr>
        <p:spPr>
          <a:xfrm xmlns:a="http://schemas.openxmlformats.org/drawingml/2006/main">
            <a:off x="6800850" y="4114800"/>
            <a:ext cx="428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00" b="1">
                <a:solidFill>
                  <a:srgbClr val="FFFFFF"/>
                </a:solidFill>
              </a:defRPr>
            </a:pPr>
            <a:r>
              <a:rPr sz="1800" b="1">
                <a:solidFill>
                  <a:srgbClr val="FFFFFF"/>
                </a:solidFill>
              </a:rPr>
              <a:t>Wie stark bewegt sich z aktuell?</a:t>
            </a:r>
          </a:p>
        </p:txBody>
      </p:sp>
    </p:spTree>
    <p:extLst>
      <p:ext uri="{BB962C8B-B14F-4D97-AF65-F5344CB8AC3E}">
        <p14:creationId xmlns:p14="http://schemas.microsoft.com/office/powerpoint/2010/main" val="1840745180"/>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1AFDA67-7C79-4EA9-B29D-284A4B69F29B}"/>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SYSTEMIDEE</a:t>
            </a:r>
          </a:p>
        </p:txBody>
      </p:sp>
      <p:sp>
        <p:nvSpPr>
          <p:cNvPr id="2" name="">
            <a:extLst xmlns:a="http://schemas.openxmlformats.org/drawingml/2006/main">
              <a:ext uri="{FF2B5EF4-FFF2-40B4-BE49-F238E27FC236}">
                <a16:creationId xmlns:a16="http://schemas.microsoft.com/office/drawing/2014/main" id="{B7A67B1B-6D28-4B87-AB57-7B848C33F2DF}"/>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Die erste Version trennt Repräsentation und Interpretation</a:t>
            </a:r>
          </a:p>
        </p:txBody>
      </p:sp>
      <p:sp>
        <p:nvSpPr>
          <p:cNvPr id="3" name="">
            <a:extLst xmlns:a="http://schemas.openxmlformats.org/drawingml/2006/main">
              <a:ext uri="{FF2B5EF4-FFF2-40B4-BE49-F238E27FC236}">
                <a16:creationId xmlns:a16="http://schemas.microsoft.com/office/drawing/2014/main" id="{8334C4A5-BB40-4D2A-901B-62391F9FD59D}"/>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DF183F7F-3999-4ED9-A936-CB2DD6DC946E}"/>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03</a:t>
            </a:r>
          </a:p>
        </p:txBody>
      </p:sp>
      <p:sp>
        <p:nvSpPr>
          <p:cNvPr id="5" name="">
            <a:extLst xmlns:a="http://schemas.openxmlformats.org/drawingml/2006/main">
              <a:ext uri="{FF2B5EF4-FFF2-40B4-BE49-F238E27FC236}">
                <a16:creationId xmlns:a16="http://schemas.microsoft.com/office/drawing/2014/main" id="{347A27A4-7B10-41C5-9AA4-38E0DC7B15F8}"/>
              </a:ext>
            </a:extLst>
          </p:cNvPr>
          <p:cNvSpPr>
            <a:spLocks xmlns:a="http://schemas.openxmlformats.org/drawingml/2006/main" noGrp="1"/>
          </p:cNvSpPr>
          <p:nvPr/>
        </p:nvSpPr>
        <p:spPr>
          <a:xfrm xmlns:a="http://schemas.openxmlformats.org/drawingml/2006/main">
            <a:off x="609600" y="2305050"/>
            <a:ext cx="142875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AEFAB66F-A557-4931-974B-617C69A604DC}"/>
              </a:ext>
            </a:extLst>
          </p:cNvPr>
          <p:cNvSpPr>
            <a:spLocks xmlns:a="http://schemas.openxmlformats.org/drawingml/2006/main" noGrp="1"/>
          </p:cNvSpPr>
          <p:nvPr/>
        </p:nvSpPr>
        <p:spPr>
          <a:xfrm xmlns:a="http://schemas.openxmlformats.org/drawingml/2006/main">
            <a:off x="723900" y="2571750"/>
            <a:ext cx="12001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101318"/>
                </a:solidFill>
              </a:defRPr>
            </a:pPr>
            <a:r>
              <a:rPr sz="1650" b="1">
                <a:solidFill>
                  <a:srgbClr val="101318"/>
                </a:solidFill>
              </a:rPr>
              <a:t>Schwingung</a:t>
            </a:r>
          </a:p>
        </p:txBody>
      </p:sp>
      <p:sp>
        <p:nvSpPr>
          <p:cNvPr id="7" name="">
            <a:extLst xmlns:a="http://schemas.openxmlformats.org/drawingml/2006/main">
              <a:ext uri="{FF2B5EF4-FFF2-40B4-BE49-F238E27FC236}">
                <a16:creationId xmlns:a16="http://schemas.microsoft.com/office/drawing/2014/main" id="{093DC3FF-B3CF-4CE6-A4D9-5E7F3E0F4D89}"/>
              </a:ext>
            </a:extLst>
          </p:cNvPr>
          <p:cNvSpPr>
            <a:spLocks xmlns:a="http://schemas.openxmlformats.org/drawingml/2006/main" noGrp="1"/>
          </p:cNvSpPr>
          <p:nvPr/>
        </p:nvSpPr>
        <p:spPr>
          <a:xfrm xmlns:a="http://schemas.openxmlformats.org/drawingml/2006/main">
            <a:off x="2076450" y="268605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3D8DFF"/>
                </a:solidFill>
              </a:defRPr>
            </a:pPr>
            <a:r>
              <a:rPr sz="2250" b="1">
                <a:solidFill>
                  <a:srgbClr val="3D8DFF"/>
                </a:solidFill>
              </a:rPr>
              <a:t>→</a:t>
            </a:r>
          </a:p>
        </p:txBody>
      </p:sp>
      <p:sp>
        <p:nvSpPr>
          <p:cNvPr id="8" name="">
            <a:extLst xmlns:a="http://schemas.openxmlformats.org/drawingml/2006/main">
              <a:ext uri="{FF2B5EF4-FFF2-40B4-BE49-F238E27FC236}">
                <a16:creationId xmlns:a16="http://schemas.microsoft.com/office/drawing/2014/main" id="{685B7ABA-2DAE-4147-B42C-A774E7C9D257}"/>
              </a:ext>
            </a:extLst>
          </p:cNvPr>
          <p:cNvSpPr>
            <a:spLocks xmlns:a="http://schemas.openxmlformats.org/drawingml/2006/main" noGrp="1"/>
          </p:cNvSpPr>
          <p:nvPr/>
        </p:nvSpPr>
        <p:spPr>
          <a:xfrm xmlns:a="http://schemas.openxmlformats.org/drawingml/2006/main">
            <a:off x="2457450" y="2305050"/>
            <a:ext cx="142875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9525">
            <a:solidFill>
              <a:srgbClr val="D9DEE5"/>
            </a:solidFill>
            <a:prstDash val="solid"/>
          </a:ln>
        </p:spPr>
      </p:sp>
      <p:sp>
        <p:nvSpPr>
          <p:cNvPr id="9" name="">
            <a:extLst xmlns:a="http://schemas.openxmlformats.org/drawingml/2006/main">
              <a:ext uri="{FF2B5EF4-FFF2-40B4-BE49-F238E27FC236}">
                <a16:creationId xmlns:a16="http://schemas.microsoft.com/office/drawing/2014/main" id="{3E9C1154-ED36-4867-AA7E-6BDF66861E24}"/>
              </a:ext>
            </a:extLst>
          </p:cNvPr>
          <p:cNvSpPr>
            <a:spLocks xmlns:a="http://schemas.openxmlformats.org/drawingml/2006/main" noGrp="1"/>
          </p:cNvSpPr>
          <p:nvPr/>
        </p:nvSpPr>
        <p:spPr>
          <a:xfrm xmlns:a="http://schemas.openxmlformats.org/drawingml/2006/main">
            <a:off x="2571750" y="2571750"/>
            <a:ext cx="12001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101318"/>
                </a:solidFill>
              </a:defRPr>
            </a:pPr>
            <a:r>
              <a:rPr sz="1650" b="1">
                <a:solidFill>
                  <a:srgbClr val="101318"/>
                </a:solidFill>
              </a:rPr>
              <a:t>STFT</a:t>
            </a:r>
          </a:p>
        </p:txBody>
      </p:sp>
      <p:sp>
        <p:nvSpPr>
          <p:cNvPr id="10" name="">
            <a:extLst xmlns:a="http://schemas.openxmlformats.org/drawingml/2006/main">
              <a:ext uri="{FF2B5EF4-FFF2-40B4-BE49-F238E27FC236}">
                <a16:creationId xmlns:a16="http://schemas.microsoft.com/office/drawing/2014/main" id="{91DE0B7C-F304-4FB4-B083-F38AA535171E}"/>
              </a:ext>
            </a:extLst>
          </p:cNvPr>
          <p:cNvSpPr>
            <a:spLocks xmlns:a="http://schemas.openxmlformats.org/drawingml/2006/main" noGrp="1"/>
          </p:cNvSpPr>
          <p:nvPr/>
        </p:nvSpPr>
        <p:spPr>
          <a:xfrm xmlns:a="http://schemas.openxmlformats.org/drawingml/2006/main">
            <a:off x="3924300" y="268605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3D8DFF"/>
                </a:solidFill>
              </a:defRPr>
            </a:pPr>
            <a:r>
              <a:rPr sz="2250" b="1">
                <a:solidFill>
                  <a:srgbClr val="3D8DFF"/>
                </a:solidFill>
              </a:rPr>
              <a:t>→</a:t>
            </a:r>
          </a:p>
        </p:txBody>
      </p:sp>
      <p:sp>
        <p:nvSpPr>
          <p:cNvPr id="11" name="">
            <a:extLst xmlns:a="http://schemas.openxmlformats.org/drawingml/2006/main">
              <a:ext uri="{FF2B5EF4-FFF2-40B4-BE49-F238E27FC236}">
                <a16:creationId xmlns:a16="http://schemas.microsoft.com/office/drawing/2014/main" id="{6D41D24E-E5A0-428B-8F3C-23501540E788}"/>
              </a:ext>
            </a:extLst>
          </p:cNvPr>
          <p:cNvSpPr>
            <a:spLocks xmlns:a="http://schemas.openxmlformats.org/drawingml/2006/main" noGrp="1"/>
          </p:cNvSpPr>
          <p:nvPr/>
        </p:nvSpPr>
        <p:spPr>
          <a:xfrm xmlns:a="http://schemas.openxmlformats.org/drawingml/2006/main">
            <a:off x="4305300" y="2305050"/>
            <a:ext cx="1428750" cy="1352550"/>
          </a:xfrm>
          <a:prstGeom xmlns:a="http://schemas.openxmlformats.org/drawingml/2006/main" prst="roundRect">
            <a:avLst>
              <a:gd name="adj" fmla="val 8451"/>
            </a:avLst>
          </a:prstGeom>
          <a:solidFill xmlns:a="http://schemas.openxmlformats.org/drawingml/2006/main">
            <a:srgbClr val="EAF6FC"/>
          </a:solidFill>
          <a:ln xmlns:a="http://schemas.openxmlformats.org/drawingml/2006/main" w="9525">
            <a:solidFill>
              <a:srgbClr val="D9DEE5"/>
            </a:solidFill>
            <a:prstDash val="solid"/>
          </a:ln>
        </p:spPr>
      </p:sp>
      <p:sp>
        <p:nvSpPr>
          <p:cNvPr id="12" name="">
            <a:extLst xmlns:a="http://schemas.openxmlformats.org/drawingml/2006/main">
              <a:ext uri="{FF2B5EF4-FFF2-40B4-BE49-F238E27FC236}">
                <a16:creationId xmlns:a16="http://schemas.microsoft.com/office/drawing/2014/main" id="{47000CC0-65E7-482D-BB68-8362CE93B0F4}"/>
              </a:ext>
            </a:extLst>
          </p:cNvPr>
          <p:cNvSpPr>
            <a:spLocks xmlns:a="http://schemas.openxmlformats.org/drawingml/2006/main" noGrp="1"/>
          </p:cNvSpPr>
          <p:nvPr/>
        </p:nvSpPr>
        <p:spPr>
          <a:xfrm xmlns:a="http://schemas.openxmlformats.org/drawingml/2006/main">
            <a:off x="4419600" y="2571750"/>
            <a:ext cx="12001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101318"/>
                </a:solidFill>
              </a:defRPr>
            </a:pPr>
            <a:r>
              <a:rPr sz="1650" b="1">
                <a:solidFill>
                  <a:srgbClr val="101318"/>
                </a:solidFill>
              </a:rPr>
              <a:t>AutoEncoder</a:t>
            </a:r>
          </a:p>
        </p:txBody>
      </p:sp>
      <p:sp>
        <p:nvSpPr>
          <p:cNvPr id="13" name="">
            <a:extLst xmlns:a="http://schemas.openxmlformats.org/drawingml/2006/main">
              <a:ext uri="{FF2B5EF4-FFF2-40B4-BE49-F238E27FC236}">
                <a16:creationId xmlns:a16="http://schemas.microsoft.com/office/drawing/2014/main" id="{47A1DFA2-D040-4630-8AB7-F253C2D88046}"/>
              </a:ext>
            </a:extLst>
          </p:cNvPr>
          <p:cNvSpPr>
            <a:spLocks xmlns:a="http://schemas.openxmlformats.org/drawingml/2006/main" noGrp="1"/>
          </p:cNvSpPr>
          <p:nvPr/>
        </p:nvSpPr>
        <p:spPr>
          <a:xfrm xmlns:a="http://schemas.openxmlformats.org/drawingml/2006/main">
            <a:off x="5772150" y="268605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3D8DFF"/>
                </a:solidFill>
              </a:defRPr>
            </a:pPr>
            <a:r>
              <a:rPr sz="2250" b="1">
                <a:solidFill>
                  <a:srgbClr val="3D8DFF"/>
                </a:solidFill>
              </a:rPr>
              <a:t>→</a:t>
            </a:r>
          </a:p>
        </p:txBody>
      </p:sp>
      <p:sp>
        <p:nvSpPr>
          <p:cNvPr id="14" name="">
            <a:extLst xmlns:a="http://schemas.openxmlformats.org/drawingml/2006/main">
              <a:ext uri="{FF2B5EF4-FFF2-40B4-BE49-F238E27FC236}">
                <a16:creationId xmlns:a16="http://schemas.microsoft.com/office/drawing/2014/main" id="{66324F67-C14E-4EAB-A2C5-8B86B40206E9}"/>
              </a:ext>
            </a:extLst>
          </p:cNvPr>
          <p:cNvSpPr>
            <a:spLocks xmlns:a="http://schemas.openxmlformats.org/drawingml/2006/main" noGrp="1"/>
          </p:cNvSpPr>
          <p:nvPr/>
        </p:nvSpPr>
        <p:spPr>
          <a:xfrm xmlns:a="http://schemas.openxmlformats.org/drawingml/2006/main">
            <a:off x="6153150" y="2305050"/>
            <a:ext cx="1428750" cy="1352550"/>
          </a:xfrm>
          <a:prstGeom xmlns:a="http://schemas.openxmlformats.org/drawingml/2006/main" prst="roundRect">
            <a:avLst>
              <a:gd name="adj" fmla="val 8451"/>
            </a:avLst>
          </a:prstGeom>
          <a:solidFill xmlns:a="http://schemas.openxmlformats.org/drawingml/2006/main">
            <a:srgbClr val="222831"/>
          </a:solidFill>
          <a:ln xmlns:a="http://schemas.openxmlformats.org/drawingml/2006/main" w="9525">
            <a:solidFill>
              <a:srgbClr val="222831"/>
            </a:solidFill>
            <a:prstDash val="solid"/>
          </a:ln>
        </p:spPr>
      </p:sp>
      <p:sp>
        <p:nvSpPr>
          <p:cNvPr id="15" name="">
            <a:extLst xmlns:a="http://schemas.openxmlformats.org/drawingml/2006/main">
              <a:ext uri="{FF2B5EF4-FFF2-40B4-BE49-F238E27FC236}">
                <a16:creationId xmlns:a16="http://schemas.microsoft.com/office/drawing/2014/main" id="{8D583326-9043-41AE-B998-9650BA2FEC1C}"/>
              </a:ext>
            </a:extLst>
          </p:cNvPr>
          <p:cNvSpPr>
            <a:spLocks xmlns:a="http://schemas.openxmlformats.org/drawingml/2006/main" noGrp="1"/>
          </p:cNvSpPr>
          <p:nvPr/>
        </p:nvSpPr>
        <p:spPr>
          <a:xfrm xmlns:a="http://schemas.openxmlformats.org/drawingml/2006/main">
            <a:off x="6267450" y="2571750"/>
            <a:ext cx="12001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FFFFFF"/>
                </a:solidFill>
              </a:defRPr>
            </a:pPr>
            <a:r>
              <a:rPr sz="1650" b="1">
                <a:solidFill>
                  <a:srgbClr val="FFFFFF"/>
                </a:solidFill>
              </a:rPr>
              <a:t>z ∈ ℝ⁸</a:t>
            </a:r>
          </a:p>
        </p:txBody>
      </p:sp>
      <p:sp>
        <p:nvSpPr>
          <p:cNvPr id="16" name="">
            <a:extLst xmlns:a="http://schemas.openxmlformats.org/drawingml/2006/main">
              <a:ext uri="{FF2B5EF4-FFF2-40B4-BE49-F238E27FC236}">
                <a16:creationId xmlns:a16="http://schemas.microsoft.com/office/drawing/2014/main" id="{4428E29F-3D86-4375-ADC8-7E7EC13D966F}"/>
              </a:ext>
            </a:extLst>
          </p:cNvPr>
          <p:cNvSpPr>
            <a:spLocks xmlns:a="http://schemas.openxmlformats.org/drawingml/2006/main" noGrp="1"/>
          </p:cNvSpPr>
          <p:nvPr/>
        </p:nvSpPr>
        <p:spPr>
          <a:xfrm xmlns:a="http://schemas.openxmlformats.org/drawingml/2006/main">
            <a:off x="7620000" y="268605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3D8DFF"/>
                </a:solidFill>
              </a:defRPr>
            </a:pPr>
            <a:r>
              <a:rPr sz="2250" b="1">
                <a:solidFill>
                  <a:srgbClr val="3D8DFF"/>
                </a:solidFill>
              </a:rPr>
              <a:t>→</a:t>
            </a:r>
          </a:p>
        </p:txBody>
      </p:sp>
      <p:sp>
        <p:nvSpPr>
          <p:cNvPr id="17" name="">
            <a:extLst xmlns:a="http://schemas.openxmlformats.org/drawingml/2006/main">
              <a:ext uri="{FF2B5EF4-FFF2-40B4-BE49-F238E27FC236}">
                <a16:creationId xmlns:a16="http://schemas.microsoft.com/office/drawing/2014/main" id="{74B9AF48-0DA7-4A56-84B3-DAAC14C7C221}"/>
              </a:ext>
            </a:extLst>
          </p:cNvPr>
          <p:cNvSpPr>
            <a:spLocks xmlns:a="http://schemas.openxmlformats.org/drawingml/2006/main" noGrp="1"/>
          </p:cNvSpPr>
          <p:nvPr/>
        </p:nvSpPr>
        <p:spPr>
          <a:xfrm xmlns:a="http://schemas.openxmlformats.org/drawingml/2006/main">
            <a:off x="8001000" y="2305050"/>
            <a:ext cx="1428750" cy="1352550"/>
          </a:xfrm>
          <a:prstGeom xmlns:a="http://schemas.openxmlformats.org/drawingml/2006/main" prst="roundRect">
            <a:avLst>
              <a:gd name="adj" fmla="val 8451"/>
            </a:avLst>
          </a:prstGeom>
          <a:solidFill xmlns:a="http://schemas.openxmlformats.org/drawingml/2006/main">
            <a:srgbClr val="EAF6FC"/>
          </a:solidFill>
          <a:ln xmlns:a="http://schemas.openxmlformats.org/drawingml/2006/main" w="9525">
            <a:solidFill>
              <a:srgbClr val="D9DEE5"/>
            </a:solidFill>
            <a:prstDash val="solid"/>
          </a:ln>
        </p:spPr>
      </p:sp>
      <p:sp>
        <p:nvSpPr>
          <p:cNvPr id="18" name="">
            <a:extLst xmlns:a="http://schemas.openxmlformats.org/drawingml/2006/main">
              <a:ext uri="{FF2B5EF4-FFF2-40B4-BE49-F238E27FC236}">
                <a16:creationId xmlns:a16="http://schemas.microsoft.com/office/drawing/2014/main" id="{38AAE485-8862-4B48-9ECC-E0B85B8ED63E}"/>
              </a:ext>
            </a:extLst>
          </p:cNvPr>
          <p:cNvSpPr>
            <a:spLocks xmlns:a="http://schemas.openxmlformats.org/drawingml/2006/main" noGrp="1"/>
          </p:cNvSpPr>
          <p:nvPr/>
        </p:nvSpPr>
        <p:spPr>
          <a:xfrm xmlns:a="http://schemas.openxmlformats.org/drawingml/2006/main">
            <a:off x="8115300" y="2571750"/>
            <a:ext cx="12001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101318"/>
                </a:solidFill>
              </a:defRPr>
            </a:pPr>
            <a:r>
              <a:rPr sz="1650" b="1">
                <a:solidFill>
                  <a:srgbClr val="101318"/>
                </a:solidFill>
              </a:rPr>
              <a:t>State</a:t>
            </a:r>
          </a:p>
          <a:p xmlns:a="http://schemas.openxmlformats.org/drawingml/2006/main">
            <a:pPr algn="ctr">
              <a:buNone/>
              <a:defRPr sz="1650" b="1">
                <a:solidFill>
                  <a:srgbClr val="101318"/>
                </a:solidFill>
              </a:defRPr>
            </a:pPr>
            <a:r>
              <a:rPr sz="1650" b="1">
                <a:solidFill>
                  <a:srgbClr val="101318"/>
                </a:solidFill>
              </a:rPr>
              <a:t>Interpreter</a:t>
            </a:r>
          </a:p>
        </p:txBody>
      </p:sp>
      <p:sp>
        <p:nvSpPr>
          <p:cNvPr id="19" name="">
            <a:extLst xmlns:a="http://schemas.openxmlformats.org/drawingml/2006/main">
              <a:ext uri="{FF2B5EF4-FFF2-40B4-BE49-F238E27FC236}">
                <a16:creationId xmlns:a16="http://schemas.microsoft.com/office/drawing/2014/main" id="{05F32945-7886-4E05-822B-CA4E83BE910D}"/>
              </a:ext>
            </a:extLst>
          </p:cNvPr>
          <p:cNvSpPr>
            <a:spLocks xmlns:a="http://schemas.openxmlformats.org/drawingml/2006/main" noGrp="1"/>
          </p:cNvSpPr>
          <p:nvPr/>
        </p:nvSpPr>
        <p:spPr>
          <a:xfrm xmlns:a="http://schemas.openxmlformats.org/drawingml/2006/main">
            <a:off x="9467850" y="268605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3D8DFF"/>
                </a:solidFill>
              </a:defRPr>
            </a:pPr>
            <a:r>
              <a:rPr sz="2250" b="1">
                <a:solidFill>
                  <a:srgbClr val="3D8DFF"/>
                </a:solidFill>
              </a:rPr>
              <a:t>→</a:t>
            </a:r>
          </a:p>
        </p:txBody>
      </p:sp>
      <p:sp>
        <p:nvSpPr>
          <p:cNvPr id="20" name="">
            <a:extLst xmlns:a="http://schemas.openxmlformats.org/drawingml/2006/main">
              <a:ext uri="{FF2B5EF4-FFF2-40B4-BE49-F238E27FC236}">
                <a16:creationId xmlns:a16="http://schemas.microsoft.com/office/drawing/2014/main" id="{9729BC2C-FEF8-4D7C-9AED-B1B3B5AE1E45}"/>
              </a:ext>
            </a:extLst>
          </p:cNvPr>
          <p:cNvSpPr>
            <a:spLocks xmlns:a="http://schemas.openxmlformats.org/drawingml/2006/main" noGrp="1"/>
          </p:cNvSpPr>
          <p:nvPr/>
        </p:nvSpPr>
        <p:spPr>
          <a:xfrm xmlns:a="http://schemas.openxmlformats.org/drawingml/2006/main">
            <a:off x="9848850" y="2305050"/>
            <a:ext cx="142875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9525">
            <a:solidFill>
              <a:srgbClr val="D9DEE5"/>
            </a:solidFill>
            <a:prstDash val="solid"/>
          </a:ln>
        </p:spPr>
      </p:sp>
      <p:sp>
        <p:nvSpPr>
          <p:cNvPr id="21" name="">
            <a:extLst xmlns:a="http://schemas.openxmlformats.org/drawingml/2006/main">
              <a:ext uri="{FF2B5EF4-FFF2-40B4-BE49-F238E27FC236}">
                <a16:creationId xmlns:a16="http://schemas.microsoft.com/office/drawing/2014/main" id="{11D68972-DA6A-4175-93D8-802438D3E081}"/>
              </a:ext>
            </a:extLst>
          </p:cNvPr>
          <p:cNvSpPr>
            <a:spLocks xmlns:a="http://schemas.openxmlformats.org/drawingml/2006/main" noGrp="1"/>
          </p:cNvSpPr>
          <p:nvPr/>
        </p:nvSpPr>
        <p:spPr>
          <a:xfrm xmlns:a="http://schemas.openxmlformats.org/drawingml/2006/main">
            <a:off x="9963150" y="2571750"/>
            <a:ext cx="12001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101318"/>
                </a:solidFill>
              </a:defRPr>
            </a:pPr>
            <a:r>
              <a:rPr sz="1650" b="1">
                <a:solidFill>
                  <a:srgbClr val="101318"/>
                </a:solidFill>
              </a:rPr>
              <a:t>Level · Trend</a:t>
            </a:r>
          </a:p>
          <a:p xmlns:a="http://schemas.openxmlformats.org/drawingml/2006/main">
            <a:pPr algn="ctr">
              <a:buNone/>
              <a:defRPr sz="1650" b="1">
                <a:solidFill>
                  <a:srgbClr val="101318"/>
                </a:solidFill>
              </a:defRPr>
            </a:pPr>
            <a:r>
              <a:rPr sz="1650" b="1">
                <a:solidFill>
                  <a:srgbClr val="101318"/>
                </a:solidFill>
              </a:rPr>
              <a:t>Movement</a:t>
            </a:r>
          </a:p>
        </p:txBody>
      </p:sp>
      <p:sp>
        <p:nvSpPr>
          <p:cNvPr id="22" name="">
            <a:extLst xmlns:a="http://schemas.openxmlformats.org/drawingml/2006/main">
              <a:ext uri="{FF2B5EF4-FFF2-40B4-BE49-F238E27FC236}">
                <a16:creationId xmlns:a16="http://schemas.microsoft.com/office/drawing/2014/main" id="{3413C072-8B5D-476A-8051-997D83023FE1}"/>
              </a:ext>
            </a:extLst>
          </p:cNvPr>
          <p:cNvSpPr>
            <a:spLocks xmlns:a="http://schemas.openxmlformats.org/drawingml/2006/main" noGrp="1"/>
          </p:cNvSpPr>
          <p:nvPr/>
        </p:nvSpPr>
        <p:spPr>
          <a:xfrm xmlns:a="http://schemas.openxmlformats.org/drawingml/2006/main">
            <a:off x="2457450" y="4267200"/>
            <a:ext cx="725805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5"/>
            </a:solidFill>
            <a:prstDash val="solid"/>
          </a:ln>
        </p:spPr>
      </p:sp>
      <p:sp>
        <p:nvSpPr>
          <p:cNvPr id="23" name="">
            <a:extLst xmlns:a="http://schemas.openxmlformats.org/drawingml/2006/main">
              <a:ext uri="{FF2B5EF4-FFF2-40B4-BE49-F238E27FC236}">
                <a16:creationId xmlns:a16="http://schemas.microsoft.com/office/drawing/2014/main" id="{16D2A69B-CAD9-4D43-BFE0-C17A00A34383}"/>
              </a:ext>
            </a:extLst>
          </p:cNvPr>
          <p:cNvSpPr>
            <a:spLocks xmlns:a="http://schemas.openxmlformats.org/drawingml/2006/main" noGrp="1"/>
          </p:cNvSpPr>
          <p:nvPr/>
        </p:nvSpPr>
        <p:spPr>
          <a:xfrm xmlns:a="http://schemas.openxmlformats.org/drawingml/2006/main">
            <a:off x="2724150" y="4438650"/>
            <a:ext cx="6724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1">
                <a:solidFill>
                  <a:srgbClr val="59616D"/>
                </a:solidFill>
              </a:defRPr>
            </a:pPr>
            <a:r>
              <a:rPr sz="1575" b="1">
                <a:solidFill>
                  <a:srgbClr val="59616D"/>
                </a:solidFill>
              </a:rPr>
              <a:t>Später: AutoEncoder durch VibFM ersetzen — der Interpreter bleibt als austauschbare Schicht erhalten.</a:t>
            </a:r>
          </a:p>
        </p:txBody>
      </p:sp>
    </p:spTree>
    <p:extLst>
      <p:ext uri="{BB962C8B-B14F-4D97-AF65-F5344CB8AC3E}">
        <p14:creationId xmlns:p14="http://schemas.microsoft.com/office/powerpoint/2010/main" val="1716369627"/>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801ED8F-3C8C-4B4B-B5B8-3DDC72B42BDD}"/>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DATEN &amp; REPRÄSENTATION</a:t>
            </a:r>
          </a:p>
        </p:txBody>
      </p:sp>
      <p:sp>
        <p:nvSpPr>
          <p:cNvPr id="2" name="">
            <a:extLst xmlns:a="http://schemas.openxmlformats.org/drawingml/2006/main">
              <a:ext uri="{FF2B5EF4-FFF2-40B4-BE49-F238E27FC236}">
                <a16:creationId xmlns:a16="http://schemas.microsoft.com/office/drawing/2014/main" id="{712FE30C-07AA-43C6-A675-3C5EDC41715E}"/>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XJTU-SY liefert zeitlich geordnete Run-to-Failure-Sequenzen</a:t>
            </a:r>
          </a:p>
        </p:txBody>
      </p:sp>
      <p:sp>
        <p:nvSpPr>
          <p:cNvPr id="3" name="">
            <a:extLst xmlns:a="http://schemas.openxmlformats.org/drawingml/2006/main">
              <a:ext uri="{FF2B5EF4-FFF2-40B4-BE49-F238E27FC236}">
                <a16:creationId xmlns:a16="http://schemas.microsoft.com/office/drawing/2014/main" id="{F3402217-48B9-49AC-8030-09B925F9C608}"/>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26B287C3-B745-4217-97D4-207E97641115}"/>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04</a:t>
            </a:r>
          </a:p>
        </p:txBody>
      </p:sp>
      <p:sp>
        <p:nvSpPr>
          <p:cNvPr id="5" name="">
            <a:extLst xmlns:a="http://schemas.openxmlformats.org/drawingml/2006/main">
              <a:ext uri="{FF2B5EF4-FFF2-40B4-BE49-F238E27FC236}">
                <a16:creationId xmlns:a16="http://schemas.microsoft.com/office/drawing/2014/main" id="{607A72B2-0B63-4C5A-A17B-7121D12360AA}"/>
              </a:ext>
            </a:extLst>
          </p:cNvPr>
          <p:cNvSpPr>
            <a:spLocks xmlns:a="http://schemas.openxmlformats.org/drawingml/2006/main" noGrp="1"/>
          </p:cNvSpPr>
          <p:nvPr/>
        </p:nvSpPr>
        <p:spPr>
          <a:xfrm xmlns:a="http://schemas.openxmlformats.org/drawingml/2006/main">
            <a:off x="609600" y="1695450"/>
            <a:ext cx="5143500" cy="4038600"/>
          </a:xfrm>
          <a:prstGeom xmlns:a="http://schemas.openxmlformats.org/drawingml/2006/main" prst="roundRect">
            <a:avLst>
              <a:gd name="adj" fmla="val 2830"/>
            </a:avLst>
          </a:prstGeom>
          <a:solidFill xmlns:a="http://schemas.openxmlformats.org/drawingml/2006/main">
            <a:srgbClr val="FFFFFF"/>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82A5AC1B-B416-41F7-A87C-F88CD32EFE53}"/>
              </a:ext>
            </a:extLst>
          </p:cNvPr>
          <p:cNvSpPr>
            <a:spLocks xmlns:a="http://schemas.openxmlformats.org/drawingml/2006/main" noGrp="1"/>
          </p:cNvSpPr>
          <p:nvPr/>
        </p:nvSpPr>
        <p:spPr>
          <a:xfrm xmlns:a="http://schemas.openxmlformats.org/drawingml/2006/main">
            <a:off x="895350" y="1943100"/>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250" b="1">
                <a:solidFill>
                  <a:srgbClr val="101318"/>
                </a:solidFill>
              </a:defRPr>
            </a:pPr>
            <a:r>
              <a:rPr sz="2250" b="1">
                <a:solidFill>
                  <a:srgbClr val="101318"/>
                </a:solidFill>
              </a:rPr>
              <a:t>XJTU-SY</a:t>
            </a:r>
          </a:p>
        </p:txBody>
      </p:sp>
      <p:sp>
        <p:nvSpPr>
          <p:cNvPr id="7" name="">
            <a:extLst xmlns:a="http://schemas.openxmlformats.org/drawingml/2006/main">
              <a:ext uri="{FF2B5EF4-FFF2-40B4-BE49-F238E27FC236}">
                <a16:creationId xmlns:a16="http://schemas.microsoft.com/office/drawing/2014/main" id="{CF80BE46-BC49-44F8-A429-578FEF6D2A18}"/>
              </a:ext>
            </a:extLst>
          </p:cNvPr>
          <p:cNvSpPr>
            <a:spLocks xmlns:a="http://schemas.openxmlformats.org/drawingml/2006/main" noGrp="1"/>
          </p:cNvSpPr>
          <p:nvPr/>
        </p:nvSpPr>
        <p:spPr>
          <a:xfrm xmlns:a="http://schemas.openxmlformats.org/drawingml/2006/main">
            <a:off x="895350" y="2571750"/>
            <a:ext cx="436245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59616D"/>
                </a:solidFill>
              </a:defRPr>
            </a:pPr>
            <a:r>
              <a:rPr sz="1575" b="0">
                <a:solidFill>
                  <a:srgbClr val="59616D"/>
                </a:solidFill>
              </a:rPr>
              <a:t>• mehrere Bearings und Betriebsbedingungen</a:t>
            </a:r>
          </a:p>
          <a:p xmlns:a="http://schemas.openxmlformats.org/drawingml/2006/main">
            <a:pPr algn="l">
              <a:buNone/>
              <a:defRPr sz="1575" b="0">
                <a:solidFill>
                  <a:srgbClr val="59616D"/>
                </a:solidFill>
              </a:defRPr>
            </a:pPr>
            <a:r>
              <a:rPr sz="1575" b="0">
                <a:solidFill>
                  <a:srgbClr val="59616D"/>
                </a:solidFill>
              </a:rPr>
              <a:t>• zwei Schwingungskanäle je Messung</a:t>
            </a:r>
          </a:p>
          <a:p xmlns:a="http://schemas.openxmlformats.org/drawingml/2006/main">
            <a:pPr algn="l">
              <a:buNone/>
              <a:defRPr sz="1575" b="0">
                <a:solidFill>
                  <a:srgbClr val="59616D"/>
                </a:solidFill>
              </a:defRPr>
            </a:pPr>
            <a:r>
              <a:rPr sz="1575" b="0">
                <a:solidFill>
                  <a:srgbClr val="59616D"/>
                </a:solidFill>
              </a:rPr>
              <a:t>• Messungen vom frühen Betrieb bis zum Ausfall</a:t>
            </a:r>
          </a:p>
          <a:p xmlns:a="http://schemas.openxmlformats.org/drawingml/2006/main">
            <a:pPr algn="l">
              <a:buNone/>
              <a:defRPr sz="1575" b="0">
                <a:solidFill>
                  <a:srgbClr val="59616D"/>
                </a:solidFill>
              </a:defRPr>
            </a:pPr>
            <a:r>
              <a:rPr sz="1575" b="0">
                <a:solidFill>
                  <a:srgbClr val="59616D"/>
                </a:solidFill>
              </a:rPr>
              <a:t>• Reihenfolge der CSV-Dateien bildet die Zeitachse</a:t>
            </a:r>
          </a:p>
        </p:txBody>
      </p:sp>
      <p:sp>
        <p:nvSpPr>
          <p:cNvPr id="8" name="">
            <a:extLst xmlns:a="http://schemas.openxmlformats.org/drawingml/2006/main">
              <a:ext uri="{FF2B5EF4-FFF2-40B4-BE49-F238E27FC236}">
                <a16:creationId xmlns:a16="http://schemas.microsoft.com/office/drawing/2014/main" id="{86444F49-12C0-49C6-8A76-FF3248C5C76A}"/>
              </a:ext>
            </a:extLst>
          </p:cNvPr>
          <p:cNvSpPr>
            <a:spLocks xmlns:a="http://schemas.openxmlformats.org/drawingml/2006/main" noGrp="1"/>
          </p:cNvSpPr>
          <p:nvPr/>
        </p:nvSpPr>
        <p:spPr>
          <a:xfrm xmlns:a="http://schemas.openxmlformats.org/drawingml/2006/main">
            <a:off x="895350" y="4857750"/>
            <a:ext cx="1428750" cy="342900"/>
          </a:xfrm>
          <a:prstGeom xmlns:a="http://schemas.openxmlformats.org/drawingml/2006/main" prst="roundRect">
            <a:avLst>
              <a:gd name="adj" fmla="val 50000"/>
            </a:avLst>
          </a:prstGeom>
          <a:solidFill xmlns:a="http://schemas.openxmlformats.org/drawingml/2006/main">
            <a:srgbClr val="EAF6FC"/>
          </a:solidFill>
          <a:ln xmlns:a="http://schemas.openxmlformats.org/drawingml/2006/main" w="9525">
            <a:solidFill>
              <a:srgbClr val="EAF6FC"/>
            </a:solidFill>
            <a:prstDash val="solid"/>
          </a:ln>
        </p:spPr>
      </p:sp>
      <p:sp>
        <p:nvSpPr>
          <p:cNvPr id="9" name="">
            <a:extLst xmlns:a="http://schemas.openxmlformats.org/drawingml/2006/main">
              <a:ext uri="{FF2B5EF4-FFF2-40B4-BE49-F238E27FC236}">
                <a16:creationId xmlns:a16="http://schemas.microsoft.com/office/drawing/2014/main" id="{ED464331-C1FE-4B8A-AD4C-1942976B6014}"/>
              </a:ext>
            </a:extLst>
          </p:cNvPr>
          <p:cNvSpPr>
            <a:spLocks xmlns:a="http://schemas.openxmlformats.org/drawingml/2006/main" noGrp="1"/>
          </p:cNvSpPr>
          <p:nvPr/>
        </p:nvSpPr>
        <p:spPr>
          <a:xfrm xmlns:a="http://schemas.openxmlformats.org/drawingml/2006/main">
            <a:off x="1009650" y="4857750"/>
            <a:ext cx="1200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1318"/>
                </a:solidFill>
              </a:defRPr>
            </a:pPr>
            <a:r>
              <a:rPr sz="1125" b="1">
                <a:solidFill>
                  <a:srgbClr val="101318"/>
                </a:solidFill>
              </a:rPr>
              <a:t>35 Hz / 12 kN</a:t>
            </a:r>
          </a:p>
        </p:txBody>
      </p:sp>
      <p:sp>
        <p:nvSpPr>
          <p:cNvPr id="10" name="">
            <a:extLst xmlns:a="http://schemas.openxmlformats.org/drawingml/2006/main">
              <a:ext uri="{FF2B5EF4-FFF2-40B4-BE49-F238E27FC236}">
                <a16:creationId xmlns:a16="http://schemas.microsoft.com/office/drawing/2014/main" id="{CB0C5315-BFE9-4A0E-AC82-AECF7C1CB77D}"/>
              </a:ext>
            </a:extLst>
          </p:cNvPr>
          <p:cNvSpPr>
            <a:spLocks xmlns:a="http://schemas.openxmlformats.org/drawingml/2006/main" noGrp="1"/>
          </p:cNvSpPr>
          <p:nvPr/>
        </p:nvSpPr>
        <p:spPr>
          <a:xfrm xmlns:a="http://schemas.openxmlformats.org/drawingml/2006/main">
            <a:off x="2457450" y="4857750"/>
            <a:ext cx="1676400" cy="342900"/>
          </a:xfrm>
          <a:prstGeom xmlns:a="http://schemas.openxmlformats.org/drawingml/2006/main" prst="roundRect">
            <a:avLst>
              <a:gd name="adj" fmla="val 50000"/>
            </a:avLst>
          </a:prstGeom>
          <a:solidFill xmlns:a="http://schemas.openxmlformats.org/drawingml/2006/main">
            <a:srgbClr val="EAF6FC"/>
          </a:solidFill>
          <a:ln xmlns:a="http://schemas.openxmlformats.org/drawingml/2006/main" w="9525">
            <a:solidFill>
              <a:srgbClr val="EAF6FC"/>
            </a:solidFill>
            <a:prstDash val="solid"/>
          </a:ln>
        </p:spPr>
      </p:sp>
      <p:sp>
        <p:nvSpPr>
          <p:cNvPr id="11" name="">
            <a:extLst xmlns:a="http://schemas.openxmlformats.org/drawingml/2006/main">
              <a:ext uri="{FF2B5EF4-FFF2-40B4-BE49-F238E27FC236}">
                <a16:creationId xmlns:a16="http://schemas.microsoft.com/office/drawing/2014/main" id="{2597111E-F935-44FA-B63D-6EA7DEA09754}"/>
              </a:ext>
            </a:extLst>
          </p:cNvPr>
          <p:cNvSpPr>
            <a:spLocks xmlns:a="http://schemas.openxmlformats.org/drawingml/2006/main" noGrp="1"/>
          </p:cNvSpPr>
          <p:nvPr/>
        </p:nvSpPr>
        <p:spPr>
          <a:xfrm xmlns:a="http://schemas.openxmlformats.org/drawingml/2006/main">
            <a:off x="2571750" y="4857750"/>
            <a:ext cx="1447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1318"/>
                </a:solidFill>
              </a:defRPr>
            </a:pPr>
            <a:r>
              <a:rPr sz="1125" b="1">
                <a:solidFill>
                  <a:srgbClr val="101318"/>
                </a:solidFill>
              </a:rPr>
              <a:t>37,5 Hz / 11 kN</a:t>
            </a:r>
          </a:p>
        </p:txBody>
      </p:sp>
      <p:sp>
        <p:nvSpPr>
          <p:cNvPr id="12" name="">
            <a:extLst xmlns:a="http://schemas.openxmlformats.org/drawingml/2006/main">
              <a:ext uri="{FF2B5EF4-FFF2-40B4-BE49-F238E27FC236}">
                <a16:creationId xmlns:a16="http://schemas.microsoft.com/office/drawing/2014/main" id="{CF8701A0-F182-4473-B1C1-113F60EFE741}"/>
              </a:ext>
            </a:extLst>
          </p:cNvPr>
          <p:cNvSpPr>
            <a:spLocks xmlns:a="http://schemas.openxmlformats.org/drawingml/2006/main" noGrp="1"/>
          </p:cNvSpPr>
          <p:nvPr/>
        </p:nvSpPr>
        <p:spPr>
          <a:xfrm xmlns:a="http://schemas.openxmlformats.org/drawingml/2006/main">
            <a:off x="6038850" y="1695450"/>
            <a:ext cx="5543550" cy="4038600"/>
          </a:xfrm>
          <a:prstGeom xmlns:a="http://schemas.openxmlformats.org/drawingml/2006/main" prst="roundRect">
            <a:avLst>
              <a:gd name="adj" fmla="val 2830"/>
            </a:avLst>
          </a:prstGeom>
          <a:solidFill xmlns:a="http://schemas.openxmlformats.org/drawingml/2006/main">
            <a:srgbClr val="222831"/>
          </a:solidFill>
          <a:ln xmlns:a="http://schemas.openxmlformats.org/drawingml/2006/main" w="9525">
            <a:solidFill>
              <a:srgbClr val="222831"/>
            </a:solidFill>
            <a:prstDash val="solid"/>
          </a:ln>
        </p:spPr>
      </p:sp>
      <p:sp>
        <p:nvSpPr>
          <p:cNvPr id="13" name="">
            <a:extLst xmlns:a="http://schemas.openxmlformats.org/drawingml/2006/main">
              <a:ext uri="{FF2B5EF4-FFF2-40B4-BE49-F238E27FC236}">
                <a16:creationId xmlns:a16="http://schemas.microsoft.com/office/drawing/2014/main" id="{9EE1917F-B8A7-4C8F-92D5-841D364EFBCF}"/>
              </a:ext>
            </a:extLst>
          </p:cNvPr>
          <p:cNvSpPr>
            <a:spLocks xmlns:a="http://schemas.openxmlformats.org/drawingml/2006/main" noGrp="1"/>
          </p:cNvSpPr>
          <p:nvPr/>
        </p:nvSpPr>
        <p:spPr>
          <a:xfrm xmlns:a="http://schemas.openxmlformats.org/drawingml/2006/main">
            <a:off x="6381750" y="2000250"/>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a:solidFill>
                  <a:srgbClr val="6DCBF4"/>
                </a:solidFill>
              </a:defRPr>
            </a:pPr>
            <a:r>
              <a:rPr sz="1875" b="1">
                <a:solidFill>
                  <a:srgbClr val="6DCBF4"/>
                </a:solidFill>
              </a:rPr>
              <a:t>STFT</a:t>
            </a:r>
          </a:p>
        </p:txBody>
      </p:sp>
      <p:sp>
        <p:nvSpPr>
          <p:cNvPr id="14" name="">
            <a:extLst xmlns:a="http://schemas.openxmlformats.org/drawingml/2006/main">
              <a:ext uri="{FF2B5EF4-FFF2-40B4-BE49-F238E27FC236}">
                <a16:creationId xmlns:a16="http://schemas.microsoft.com/office/drawing/2014/main" id="{22073CAC-1CF6-4558-A50A-2E58EC96F4BA}"/>
              </a:ext>
            </a:extLst>
          </p:cNvPr>
          <p:cNvSpPr>
            <a:spLocks xmlns:a="http://schemas.openxmlformats.org/drawingml/2006/main" noGrp="1"/>
          </p:cNvSpPr>
          <p:nvPr/>
        </p:nvSpPr>
        <p:spPr>
          <a:xfrm xmlns:a="http://schemas.openxmlformats.org/drawingml/2006/main">
            <a:off x="7848600" y="20002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a:solidFill>
                  <a:srgbClr val="FFFFFF"/>
                </a:solidFill>
              </a:defRPr>
            </a:pPr>
            <a:r>
              <a:rPr sz="1875" b="1">
                <a:solidFill>
                  <a:srgbClr val="FFFFFF"/>
                </a:solidFill>
              </a:rPr>
              <a:t>[2 × 32 × 32]</a:t>
            </a:r>
          </a:p>
        </p:txBody>
      </p:sp>
      <p:sp>
        <p:nvSpPr>
          <p:cNvPr id="15" name="">
            <a:extLst xmlns:a="http://schemas.openxmlformats.org/drawingml/2006/main">
              <a:ext uri="{FF2B5EF4-FFF2-40B4-BE49-F238E27FC236}">
                <a16:creationId xmlns:a16="http://schemas.microsoft.com/office/drawing/2014/main" id="{A45C5601-3014-40F8-917E-920684FC1DFC}"/>
              </a:ext>
            </a:extLst>
          </p:cNvPr>
          <p:cNvSpPr>
            <a:spLocks xmlns:a="http://schemas.openxmlformats.org/drawingml/2006/main" noGrp="1"/>
          </p:cNvSpPr>
          <p:nvPr/>
        </p:nvSpPr>
        <p:spPr>
          <a:xfrm xmlns:a="http://schemas.openxmlformats.org/drawingml/2006/main">
            <a:off x="8486775" y="247650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6DCBF4"/>
                </a:solidFill>
              </a:defRPr>
            </a:pPr>
            <a:r>
              <a:rPr sz="2250" b="1">
                <a:solidFill>
                  <a:srgbClr val="6DCBF4"/>
                </a:solidFill>
              </a:rPr>
              <a:t>↓</a:t>
            </a:r>
          </a:p>
        </p:txBody>
      </p:sp>
      <p:sp>
        <p:nvSpPr>
          <p:cNvPr id="16" name="">
            <a:extLst xmlns:a="http://schemas.openxmlformats.org/drawingml/2006/main">
              <a:ext uri="{FF2B5EF4-FFF2-40B4-BE49-F238E27FC236}">
                <a16:creationId xmlns:a16="http://schemas.microsoft.com/office/drawing/2014/main" id="{5E3F8CBC-D732-4B19-AC57-26FEA87B1886}"/>
              </a:ext>
            </a:extLst>
          </p:cNvPr>
          <p:cNvSpPr>
            <a:spLocks xmlns:a="http://schemas.openxmlformats.org/drawingml/2006/main" noGrp="1"/>
          </p:cNvSpPr>
          <p:nvPr/>
        </p:nvSpPr>
        <p:spPr>
          <a:xfrm xmlns:a="http://schemas.openxmlformats.org/drawingml/2006/main">
            <a:off x="6381750" y="3009900"/>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a:solidFill>
                  <a:srgbClr val="FFFFFF"/>
                </a:solidFill>
              </a:defRPr>
            </a:pPr>
            <a:r>
              <a:rPr sz="1875" b="1">
                <a:solidFill>
                  <a:srgbClr val="FFFFFF"/>
                </a:solidFill>
              </a:rPr>
              <a:t>Encoder</a:t>
            </a:r>
          </a:p>
        </p:txBody>
      </p:sp>
      <p:sp>
        <p:nvSpPr>
          <p:cNvPr id="17" name="">
            <a:extLst xmlns:a="http://schemas.openxmlformats.org/drawingml/2006/main">
              <a:ext uri="{FF2B5EF4-FFF2-40B4-BE49-F238E27FC236}">
                <a16:creationId xmlns:a16="http://schemas.microsoft.com/office/drawing/2014/main" id="{A2BB0337-4064-4D75-AC85-95A8EE7D8142}"/>
              </a:ext>
            </a:extLst>
          </p:cNvPr>
          <p:cNvSpPr>
            <a:spLocks xmlns:a="http://schemas.openxmlformats.org/drawingml/2006/main" noGrp="1"/>
          </p:cNvSpPr>
          <p:nvPr/>
        </p:nvSpPr>
        <p:spPr>
          <a:xfrm xmlns:a="http://schemas.openxmlformats.org/drawingml/2006/main">
            <a:off x="8591550" y="3009900"/>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a:solidFill>
                  <a:srgbClr val="FFFFFF"/>
                </a:solidFill>
              </a:defRPr>
            </a:pPr>
            <a:r>
              <a:rPr sz="1875" b="1">
                <a:solidFill>
                  <a:srgbClr val="FFFFFF"/>
                </a:solidFill>
              </a:rPr>
              <a:t>z ∈ ℝ⁸</a:t>
            </a:r>
          </a:p>
        </p:txBody>
      </p:sp>
      <p:sp>
        <p:nvSpPr>
          <p:cNvPr id="18" name="">
            <a:extLst xmlns:a="http://schemas.openxmlformats.org/drawingml/2006/main">
              <a:ext uri="{FF2B5EF4-FFF2-40B4-BE49-F238E27FC236}">
                <a16:creationId xmlns:a16="http://schemas.microsoft.com/office/drawing/2014/main" id="{F7E49A06-DFBE-4E4F-BEEA-91774C07C86F}"/>
              </a:ext>
            </a:extLst>
          </p:cNvPr>
          <p:cNvSpPr>
            <a:spLocks xmlns:a="http://schemas.openxmlformats.org/drawingml/2006/main" noGrp="1"/>
          </p:cNvSpPr>
          <p:nvPr/>
        </p:nvSpPr>
        <p:spPr>
          <a:xfrm xmlns:a="http://schemas.openxmlformats.org/drawingml/2006/main">
            <a:off x="8486775" y="346710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6DCBF4"/>
                </a:solidFill>
              </a:defRPr>
            </a:pPr>
            <a:r>
              <a:rPr sz="2250" b="1">
                <a:solidFill>
                  <a:srgbClr val="6DCBF4"/>
                </a:solidFill>
              </a:rPr>
              <a:t>↓</a:t>
            </a:r>
          </a:p>
        </p:txBody>
      </p:sp>
      <p:sp>
        <p:nvSpPr>
          <p:cNvPr id="19" name="">
            <a:extLst xmlns:a="http://schemas.openxmlformats.org/drawingml/2006/main">
              <a:ext uri="{FF2B5EF4-FFF2-40B4-BE49-F238E27FC236}">
                <a16:creationId xmlns:a16="http://schemas.microsoft.com/office/drawing/2014/main" id="{5D7E0D0D-C5D1-4427-B038-5234AE034FD7}"/>
              </a:ext>
            </a:extLst>
          </p:cNvPr>
          <p:cNvSpPr>
            <a:spLocks xmlns:a="http://schemas.openxmlformats.org/drawingml/2006/main" noGrp="1"/>
          </p:cNvSpPr>
          <p:nvPr/>
        </p:nvSpPr>
        <p:spPr>
          <a:xfrm xmlns:a="http://schemas.openxmlformats.org/drawingml/2006/main">
            <a:off x="6381750" y="4038600"/>
            <a:ext cx="419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a:solidFill>
                  <a:srgbClr val="FFFFFF"/>
                </a:solidFill>
              </a:defRPr>
            </a:pPr>
            <a:r>
              <a:rPr sz="1725" b="1">
                <a:solidFill>
                  <a:srgbClr val="FFFFFF"/>
                </a:solidFill>
              </a:rPr>
              <a:t>Decoder rekonstruiert STFT</a:t>
            </a:r>
          </a:p>
        </p:txBody>
      </p:sp>
      <p:sp>
        <p:nvSpPr>
          <p:cNvPr id="20" name="">
            <a:extLst xmlns:a="http://schemas.openxmlformats.org/drawingml/2006/main">
              <a:ext uri="{FF2B5EF4-FFF2-40B4-BE49-F238E27FC236}">
                <a16:creationId xmlns:a16="http://schemas.microsoft.com/office/drawing/2014/main" id="{E81BBD1A-1963-4D43-A8CE-5F7AB4414E70}"/>
              </a:ext>
            </a:extLst>
          </p:cNvPr>
          <p:cNvSpPr>
            <a:spLocks xmlns:a="http://schemas.openxmlformats.org/drawingml/2006/main" noGrp="1"/>
          </p:cNvSpPr>
          <p:nvPr/>
        </p:nvSpPr>
        <p:spPr>
          <a:xfrm xmlns:a="http://schemas.openxmlformats.org/drawingml/2006/main">
            <a:off x="6381750" y="466725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a:solidFill>
                  <a:srgbClr val="6DCBF4"/>
                </a:solidFill>
              </a:defRPr>
            </a:pPr>
            <a:r>
              <a:rPr sz="1350" b="0">
                <a:solidFill>
                  <a:srgbClr val="6DCBF4"/>
                </a:solidFill>
              </a:rPr>
              <a:t>Trainingsziel: Rekonstruktions-MSE</a:t>
            </a:r>
          </a:p>
        </p:txBody>
      </p:sp>
    </p:spTree>
    <p:extLst>
      <p:ext uri="{BB962C8B-B14F-4D97-AF65-F5344CB8AC3E}">
        <p14:creationId xmlns:p14="http://schemas.microsoft.com/office/powerpoint/2010/main" val="1960743165"/>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CAC36D9-9D17-4F84-A8E4-B039E4A27031}"/>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STATE INTERPRETER</a:t>
            </a:r>
          </a:p>
        </p:txBody>
      </p:sp>
      <p:sp>
        <p:nvSpPr>
          <p:cNvPr id="2" name="">
            <a:extLst xmlns:a="http://schemas.openxmlformats.org/drawingml/2006/main">
              <a:ext uri="{FF2B5EF4-FFF2-40B4-BE49-F238E27FC236}">
                <a16:creationId xmlns:a16="http://schemas.microsoft.com/office/drawing/2014/main" id="{37DD0346-1D3E-4D98-B631-003D7F589D1C}"/>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Drei Größen übersetzen die Bewegung im latenten Raum</a:t>
            </a:r>
          </a:p>
        </p:txBody>
      </p:sp>
      <p:sp>
        <p:nvSpPr>
          <p:cNvPr id="3" name="">
            <a:extLst xmlns:a="http://schemas.openxmlformats.org/drawingml/2006/main">
              <a:ext uri="{FF2B5EF4-FFF2-40B4-BE49-F238E27FC236}">
                <a16:creationId xmlns:a16="http://schemas.microsoft.com/office/drawing/2014/main" id="{317A902E-DA9C-4B35-BF66-3E8847538F06}"/>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04DC38B6-5542-4357-8C65-1298D2CA4540}"/>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05</a:t>
            </a:r>
          </a:p>
        </p:txBody>
      </p:sp>
      <p:sp>
        <p:nvSpPr>
          <p:cNvPr id="5" name="">
            <a:extLst xmlns:a="http://schemas.openxmlformats.org/drawingml/2006/main">
              <a:ext uri="{FF2B5EF4-FFF2-40B4-BE49-F238E27FC236}">
                <a16:creationId xmlns:a16="http://schemas.microsoft.com/office/drawing/2014/main" id="{E3E0DC39-37CA-4CFB-B589-02DEE2F6B6C7}"/>
              </a:ext>
            </a:extLst>
          </p:cNvPr>
          <p:cNvSpPr>
            <a:spLocks xmlns:a="http://schemas.openxmlformats.org/drawingml/2006/main" noGrp="1"/>
          </p:cNvSpPr>
          <p:nvPr/>
        </p:nvSpPr>
        <p:spPr>
          <a:xfrm xmlns:a="http://schemas.openxmlformats.org/drawingml/2006/main">
            <a:off x="609600" y="1790700"/>
            <a:ext cx="327660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2DDE2C79-4FDD-4D3F-A6A8-9D72AE80D09C}"/>
              </a:ext>
            </a:extLst>
          </p:cNvPr>
          <p:cNvSpPr>
            <a:spLocks xmlns:a="http://schemas.openxmlformats.org/drawingml/2006/main" noGrp="1"/>
          </p:cNvSpPr>
          <p:nvPr/>
        </p:nvSpPr>
        <p:spPr>
          <a:xfrm xmlns:a="http://schemas.openxmlformats.org/drawingml/2006/main">
            <a:off x="857250" y="2038350"/>
            <a:ext cx="1219200" cy="3429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7" name="">
            <a:extLst xmlns:a="http://schemas.openxmlformats.org/drawingml/2006/main">
              <a:ext uri="{FF2B5EF4-FFF2-40B4-BE49-F238E27FC236}">
                <a16:creationId xmlns:a16="http://schemas.microsoft.com/office/drawing/2014/main" id="{D75A8834-2627-4893-9578-C54CFB7511C1}"/>
              </a:ext>
            </a:extLst>
          </p:cNvPr>
          <p:cNvSpPr>
            <a:spLocks xmlns:a="http://schemas.openxmlformats.org/drawingml/2006/main" noGrp="1"/>
          </p:cNvSpPr>
          <p:nvPr/>
        </p:nvSpPr>
        <p:spPr>
          <a:xfrm xmlns:a="http://schemas.openxmlformats.org/drawingml/2006/main">
            <a:off x="971550" y="2038350"/>
            <a:ext cx="990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LEVEL</a:t>
            </a:r>
          </a:p>
        </p:txBody>
      </p:sp>
      <p:sp>
        <p:nvSpPr>
          <p:cNvPr id="8" name="">
            <a:extLst xmlns:a="http://schemas.openxmlformats.org/drawingml/2006/main">
              <a:ext uri="{FF2B5EF4-FFF2-40B4-BE49-F238E27FC236}">
                <a16:creationId xmlns:a16="http://schemas.microsoft.com/office/drawing/2014/main" id="{E7AC8043-4976-486A-B50F-98565EE9AA9E}"/>
              </a:ext>
            </a:extLst>
          </p:cNvPr>
          <p:cNvSpPr>
            <a:spLocks xmlns:a="http://schemas.openxmlformats.org/drawingml/2006/main" noGrp="1"/>
          </p:cNvSpPr>
          <p:nvPr/>
        </p:nvSpPr>
        <p:spPr>
          <a:xfrm xmlns:a="http://schemas.openxmlformats.org/drawingml/2006/main">
            <a:off x="857250" y="259080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250" b="1">
                <a:solidFill>
                  <a:srgbClr val="101318"/>
                </a:solidFill>
              </a:defRPr>
            </a:pPr>
            <a:r>
              <a:rPr sz="2250" b="1">
                <a:solidFill>
                  <a:srgbClr val="101318"/>
                </a:solidFill>
              </a:rPr>
              <a:t>Abstand</a:t>
            </a:r>
          </a:p>
        </p:txBody>
      </p:sp>
      <p:sp>
        <p:nvSpPr>
          <p:cNvPr id="9" name="">
            <a:extLst xmlns:a="http://schemas.openxmlformats.org/drawingml/2006/main">
              <a:ext uri="{FF2B5EF4-FFF2-40B4-BE49-F238E27FC236}">
                <a16:creationId xmlns:a16="http://schemas.microsoft.com/office/drawing/2014/main" id="{09CE3BA4-B32B-49FD-9E97-D13050B18B27}"/>
              </a:ext>
            </a:extLst>
          </p:cNvPr>
          <p:cNvSpPr>
            <a:spLocks xmlns:a="http://schemas.openxmlformats.org/drawingml/2006/main" noGrp="1"/>
          </p:cNvSpPr>
          <p:nvPr/>
        </p:nvSpPr>
        <p:spPr>
          <a:xfrm xmlns:a="http://schemas.openxmlformats.org/drawingml/2006/main">
            <a:off x="857250" y="3219450"/>
            <a:ext cx="27813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59616D"/>
                </a:solidFill>
              </a:defRPr>
            </a:pPr>
            <a:r>
              <a:rPr sz="1500" b="0">
                <a:solidFill>
                  <a:srgbClr val="59616D"/>
                </a:solidFill>
              </a:rPr>
              <a:t>Distanz zum frühen, bearing-spezifischen Referenzzustand.</a:t>
            </a:r>
          </a:p>
        </p:txBody>
      </p:sp>
      <p:sp>
        <p:nvSpPr>
          <p:cNvPr id="10" name="">
            <a:extLst xmlns:a="http://schemas.openxmlformats.org/drawingml/2006/main">
              <a:ext uri="{FF2B5EF4-FFF2-40B4-BE49-F238E27FC236}">
                <a16:creationId xmlns:a16="http://schemas.microsoft.com/office/drawing/2014/main" id="{82852BF5-AFAD-44F4-B165-CE45F59DBB2D}"/>
              </a:ext>
            </a:extLst>
          </p:cNvPr>
          <p:cNvSpPr>
            <a:spLocks xmlns:a="http://schemas.openxmlformats.org/drawingml/2006/main" noGrp="1"/>
          </p:cNvSpPr>
          <p:nvPr/>
        </p:nvSpPr>
        <p:spPr>
          <a:xfrm xmlns:a="http://schemas.openxmlformats.org/drawingml/2006/main">
            <a:off x="4305300" y="1790700"/>
            <a:ext cx="327660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9DEE5"/>
            </a:solidFill>
            <a:prstDash val="solid"/>
          </a:ln>
        </p:spPr>
      </p:sp>
      <p:sp>
        <p:nvSpPr>
          <p:cNvPr id="11" name="">
            <a:extLst xmlns:a="http://schemas.openxmlformats.org/drawingml/2006/main">
              <a:ext uri="{FF2B5EF4-FFF2-40B4-BE49-F238E27FC236}">
                <a16:creationId xmlns:a16="http://schemas.microsoft.com/office/drawing/2014/main" id="{25BAFDA0-0BE3-47EE-873F-ABBEABF97808}"/>
              </a:ext>
            </a:extLst>
          </p:cNvPr>
          <p:cNvSpPr>
            <a:spLocks xmlns:a="http://schemas.openxmlformats.org/drawingml/2006/main" noGrp="1"/>
          </p:cNvSpPr>
          <p:nvPr/>
        </p:nvSpPr>
        <p:spPr>
          <a:xfrm xmlns:a="http://schemas.openxmlformats.org/drawingml/2006/main">
            <a:off x="4552950" y="2038350"/>
            <a:ext cx="1219200" cy="342900"/>
          </a:xfrm>
          <a:prstGeom xmlns:a="http://schemas.openxmlformats.org/drawingml/2006/main" prst="roundRect">
            <a:avLst>
              <a:gd name="adj" fmla="val 50000"/>
            </a:avLst>
          </a:prstGeom>
          <a:solidFill xmlns:a="http://schemas.openxmlformats.org/drawingml/2006/main">
            <a:srgbClr val="39A96B"/>
          </a:solidFill>
          <a:ln xmlns:a="http://schemas.openxmlformats.org/drawingml/2006/main" w="9525">
            <a:solidFill>
              <a:srgbClr val="39A96B"/>
            </a:solidFill>
            <a:prstDash val="solid"/>
          </a:ln>
        </p:spPr>
      </p:sp>
      <p:sp>
        <p:nvSpPr>
          <p:cNvPr id="12" name="">
            <a:extLst xmlns:a="http://schemas.openxmlformats.org/drawingml/2006/main">
              <a:ext uri="{FF2B5EF4-FFF2-40B4-BE49-F238E27FC236}">
                <a16:creationId xmlns:a16="http://schemas.microsoft.com/office/drawing/2014/main" id="{38B181CA-3ADA-483C-8E88-5A3479C3B7E6}"/>
              </a:ext>
            </a:extLst>
          </p:cNvPr>
          <p:cNvSpPr>
            <a:spLocks xmlns:a="http://schemas.openxmlformats.org/drawingml/2006/main" noGrp="1"/>
          </p:cNvSpPr>
          <p:nvPr/>
        </p:nvSpPr>
        <p:spPr>
          <a:xfrm xmlns:a="http://schemas.openxmlformats.org/drawingml/2006/main">
            <a:off x="4667250" y="2038350"/>
            <a:ext cx="990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TREND</a:t>
            </a:r>
          </a:p>
        </p:txBody>
      </p:sp>
      <p:sp>
        <p:nvSpPr>
          <p:cNvPr id="13" name="">
            <a:extLst xmlns:a="http://schemas.openxmlformats.org/drawingml/2006/main">
              <a:ext uri="{FF2B5EF4-FFF2-40B4-BE49-F238E27FC236}">
                <a16:creationId xmlns:a16="http://schemas.microsoft.com/office/drawing/2014/main" id="{036F43B1-DFF4-47CA-B827-515FED8531B1}"/>
              </a:ext>
            </a:extLst>
          </p:cNvPr>
          <p:cNvSpPr>
            <a:spLocks xmlns:a="http://schemas.openxmlformats.org/drawingml/2006/main" noGrp="1"/>
          </p:cNvSpPr>
          <p:nvPr/>
        </p:nvSpPr>
        <p:spPr>
          <a:xfrm xmlns:a="http://schemas.openxmlformats.org/drawingml/2006/main">
            <a:off x="4552950" y="259080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250" b="1">
                <a:solidFill>
                  <a:srgbClr val="101318"/>
                </a:solidFill>
              </a:defRPr>
            </a:pPr>
            <a:r>
              <a:rPr sz="2250" b="1">
                <a:solidFill>
                  <a:srgbClr val="101318"/>
                </a:solidFill>
              </a:rPr>
              <a:t>Richtung</a:t>
            </a:r>
          </a:p>
        </p:txBody>
      </p:sp>
      <p:sp>
        <p:nvSpPr>
          <p:cNvPr id="14" name="">
            <a:extLst xmlns:a="http://schemas.openxmlformats.org/drawingml/2006/main">
              <a:ext uri="{FF2B5EF4-FFF2-40B4-BE49-F238E27FC236}">
                <a16:creationId xmlns:a16="http://schemas.microsoft.com/office/drawing/2014/main" id="{AA91236D-CF37-4882-88FF-520827EEAE9A}"/>
              </a:ext>
            </a:extLst>
          </p:cNvPr>
          <p:cNvSpPr>
            <a:spLocks xmlns:a="http://schemas.openxmlformats.org/drawingml/2006/main" noGrp="1"/>
          </p:cNvSpPr>
          <p:nvPr/>
        </p:nvSpPr>
        <p:spPr>
          <a:xfrm xmlns:a="http://schemas.openxmlformats.org/drawingml/2006/main">
            <a:off x="4552950" y="3219450"/>
            <a:ext cx="27813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59616D"/>
                </a:solidFill>
              </a:defRPr>
            </a:pPr>
            <a:r>
              <a:rPr sz="1500" b="0">
                <a:solidFill>
                  <a:srgbClr val="59616D"/>
                </a:solidFill>
              </a:rPr>
              <a:t>Steigung des Level innerhalb des aktuellen Zeitfensters.</a:t>
            </a:r>
          </a:p>
        </p:txBody>
      </p:sp>
      <p:sp>
        <p:nvSpPr>
          <p:cNvPr id="15" name="">
            <a:extLst xmlns:a="http://schemas.openxmlformats.org/drawingml/2006/main">
              <a:ext uri="{FF2B5EF4-FFF2-40B4-BE49-F238E27FC236}">
                <a16:creationId xmlns:a16="http://schemas.microsoft.com/office/drawing/2014/main" id="{D361E47A-BE6F-42DE-8807-FAB03F1114E2}"/>
              </a:ext>
            </a:extLst>
          </p:cNvPr>
          <p:cNvSpPr>
            <a:spLocks xmlns:a="http://schemas.openxmlformats.org/drawingml/2006/main" noGrp="1"/>
          </p:cNvSpPr>
          <p:nvPr/>
        </p:nvSpPr>
        <p:spPr>
          <a:xfrm xmlns:a="http://schemas.openxmlformats.org/drawingml/2006/main">
            <a:off x="8001000" y="1790700"/>
            <a:ext cx="327660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9DEE5"/>
            </a:solidFill>
            <a:prstDash val="solid"/>
          </a:ln>
        </p:spPr>
      </p:sp>
      <p:sp>
        <p:nvSpPr>
          <p:cNvPr id="16" name="">
            <a:extLst xmlns:a="http://schemas.openxmlformats.org/drawingml/2006/main">
              <a:ext uri="{FF2B5EF4-FFF2-40B4-BE49-F238E27FC236}">
                <a16:creationId xmlns:a16="http://schemas.microsoft.com/office/drawing/2014/main" id="{14A01D9B-4AF1-4AF8-9BBE-7A1099A01117}"/>
              </a:ext>
            </a:extLst>
          </p:cNvPr>
          <p:cNvSpPr>
            <a:spLocks xmlns:a="http://schemas.openxmlformats.org/drawingml/2006/main" noGrp="1"/>
          </p:cNvSpPr>
          <p:nvPr/>
        </p:nvSpPr>
        <p:spPr>
          <a:xfrm xmlns:a="http://schemas.openxmlformats.org/drawingml/2006/main">
            <a:off x="8248650" y="2038350"/>
            <a:ext cx="1219200" cy="342900"/>
          </a:xfrm>
          <a:prstGeom xmlns:a="http://schemas.openxmlformats.org/drawingml/2006/main" prst="roundRect">
            <a:avLst>
              <a:gd name="adj" fmla="val 50000"/>
            </a:avLst>
          </a:prstGeom>
          <a:solidFill xmlns:a="http://schemas.openxmlformats.org/drawingml/2006/main">
            <a:srgbClr val="F2A24A"/>
          </a:solidFill>
          <a:ln xmlns:a="http://schemas.openxmlformats.org/drawingml/2006/main" w="9525">
            <a:solidFill>
              <a:srgbClr val="F2A24A"/>
            </a:solidFill>
            <a:prstDash val="solid"/>
          </a:ln>
        </p:spPr>
      </p:sp>
      <p:sp>
        <p:nvSpPr>
          <p:cNvPr id="17" name="">
            <a:extLst xmlns:a="http://schemas.openxmlformats.org/drawingml/2006/main">
              <a:ext uri="{FF2B5EF4-FFF2-40B4-BE49-F238E27FC236}">
                <a16:creationId xmlns:a16="http://schemas.microsoft.com/office/drawing/2014/main" id="{D51A4F36-2B12-4746-BA96-C3ACC63286EB}"/>
              </a:ext>
            </a:extLst>
          </p:cNvPr>
          <p:cNvSpPr>
            <a:spLocks xmlns:a="http://schemas.openxmlformats.org/drawingml/2006/main" noGrp="1"/>
          </p:cNvSpPr>
          <p:nvPr/>
        </p:nvSpPr>
        <p:spPr>
          <a:xfrm xmlns:a="http://schemas.openxmlformats.org/drawingml/2006/main">
            <a:off x="8362950" y="2038350"/>
            <a:ext cx="990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MOVEMENT</a:t>
            </a:r>
          </a:p>
        </p:txBody>
      </p:sp>
      <p:sp>
        <p:nvSpPr>
          <p:cNvPr id="18" name="">
            <a:extLst xmlns:a="http://schemas.openxmlformats.org/drawingml/2006/main">
              <a:ext uri="{FF2B5EF4-FFF2-40B4-BE49-F238E27FC236}">
                <a16:creationId xmlns:a16="http://schemas.microsoft.com/office/drawing/2014/main" id="{D832E3ED-9975-4E0C-8FD3-5FC5B8A50BFC}"/>
              </a:ext>
            </a:extLst>
          </p:cNvPr>
          <p:cNvSpPr>
            <a:spLocks xmlns:a="http://schemas.openxmlformats.org/drawingml/2006/main" noGrp="1"/>
          </p:cNvSpPr>
          <p:nvPr/>
        </p:nvSpPr>
        <p:spPr>
          <a:xfrm xmlns:a="http://schemas.openxmlformats.org/drawingml/2006/main">
            <a:off x="8248650" y="259080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250" b="1">
                <a:solidFill>
                  <a:srgbClr val="101318"/>
                </a:solidFill>
              </a:defRPr>
            </a:pPr>
            <a:r>
              <a:rPr sz="2250" b="1">
                <a:solidFill>
                  <a:srgbClr val="101318"/>
                </a:solidFill>
              </a:rPr>
              <a:t>Dynamik</a:t>
            </a:r>
          </a:p>
        </p:txBody>
      </p:sp>
      <p:sp>
        <p:nvSpPr>
          <p:cNvPr id="19" name="">
            <a:extLst xmlns:a="http://schemas.openxmlformats.org/drawingml/2006/main">
              <a:ext uri="{FF2B5EF4-FFF2-40B4-BE49-F238E27FC236}">
                <a16:creationId xmlns:a16="http://schemas.microsoft.com/office/drawing/2014/main" id="{3ACB44C0-34E5-41D0-BF10-48AF9BC490B1}"/>
              </a:ext>
            </a:extLst>
          </p:cNvPr>
          <p:cNvSpPr>
            <a:spLocks xmlns:a="http://schemas.openxmlformats.org/drawingml/2006/main" noGrp="1"/>
          </p:cNvSpPr>
          <p:nvPr/>
        </p:nvSpPr>
        <p:spPr>
          <a:xfrm xmlns:a="http://schemas.openxmlformats.org/drawingml/2006/main">
            <a:off x="8248650" y="3219450"/>
            <a:ext cx="27813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59616D"/>
                </a:solidFill>
              </a:defRPr>
            </a:pPr>
            <a:r>
              <a:rPr sz="1500" b="0">
                <a:solidFill>
                  <a:srgbClr val="59616D"/>
                </a:solidFill>
              </a:rPr>
              <a:t>Mittlere kurzfristige Bewegung zwischen aufeinanderfolgenden z-Punkten.</a:t>
            </a:r>
          </a:p>
        </p:txBody>
      </p:sp>
      <p:sp>
        <p:nvSpPr>
          <p:cNvPr id="20" name="">
            <a:extLst xmlns:a="http://schemas.openxmlformats.org/drawingml/2006/main">
              <a:ext uri="{FF2B5EF4-FFF2-40B4-BE49-F238E27FC236}">
                <a16:creationId xmlns:a16="http://schemas.microsoft.com/office/drawing/2014/main" id="{1F7B81E3-1674-4B15-AA7F-CBA2FD08567F}"/>
              </a:ext>
            </a:extLst>
          </p:cNvPr>
          <p:cNvSpPr>
            <a:spLocks xmlns:a="http://schemas.openxmlformats.org/drawingml/2006/main" noGrp="1"/>
          </p:cNvSpPr>
          <p:nvPr/>
        </p:nvSpPr>
        <p:spPr>
          <a:xfrm xmlns:a="http://schemas.openxmlformats.org/drawingml/2006/main">
            <a:off x="609600" y="5010150"/>
            <a:ext cx="10668000" cy="723900"/>
          </a:xfrm>
          <a:prstGeom xmlns:a="http://schemas.openxmlformats.org/drawingml/2006/main" prst="roundRect">
            <a:avLst>
              <a:gd name="adj" fmla="val 15789"/>
            </a:avLst>
          </a:prstGeom>
          <a:solidFill xmlns:a="http://schemas.openxmlformats.org/drawingml/2006/main">
            <a:srgbClr val="222831"/>
          </a:solidFill>
          <a:ln xmlns:a="http://schemas.openxmlformats.org/drawingml/2006/main" w="9525">
            <a:solidFill>
              <a:srgbClr val="222831"/>
            </a:solidFill>
            <a:prstDash val="solid"/>
          </a:ln>
        </p:spPr>
      </p:sp>
      <p:sp>
        <p:nvSpPr>
          <p:cNvPr id="21" name="">
            <a:extLst xmlns:a="http://schemas.openxmlformats.org/drawingml/2006/main">
              <a:ext uri="{FF2B5EF4-FFF2-40B4-BE49-F238E27FC236}">
                <a16:creationId xmlns:a16="http://schemas.microsoft.com/office/drawing/2014/main" id="{B96A9850-6C56-4D0F-AC46-C5E406ABEC75}"/>
              </a:ext>
            </a:extLst>
          </p:cNvPr>
          <p:cNvSpPr>
            <a:spLocks xmlns:a="http://schemas.openxmlformats.org/drawingml/2006/main" noGrp="1"/>
          </p:cNvSpPr>
          <p:nvPr/>
        </p:nvSpPr>
        <p:spPr>
          <a:xfrm xmlns:a="http://schemas.openxmlformats.org/drawingml/2006/main">
            <a:off x="876300" y="5172075"/>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6DCBF4"/>
                </a:solidFill>
              </a:defRPr>
            </a:pPr>
            <a:r>
              <a:rPr sz="1350" b="1">
                <a:solidFill>
                  <a:srgbClr val="6DCBF4"/>
                </a:solidFill>
              </a:rPr>
              <a:t>CALIBRATING</a:t>
            </a:r>
          </a:p>
        </p:txBody>
      </p:sp>
      <p:sp>
        <p:nvSpPr>
          <p:cNvPr id="22" name="">
            <a:extLst xmlns:a="http://schemas.openxmlformats.org/drawingml/2006/main">
              <a:ext uri="{FF2B5EF4-FFF2-40B4-BE49-F238E27FC236}">
                <a16:creationId xmlns:a16="http://schemas.microsoft.com/office/drawing/2014/main" id="{450BB591-6C13-4947-AC73-29FE9EF69CAF}"/>
              </a:ext>
            </a:extLst>
          </p:cNvPr>
          <p:cNvSpPr>
            <a:spLocks xmlns:a="http://schemas.openxmlformats.org/drawingml/2006/main" noGrp="1"/>
          </p:cNvSpPr>
          <p:nvPr/>
        </p:nvSpPr>
        <p:spPr>
          <a:xfrm xmlns:a="http://schemas.openxmlformats.org/drawingml/2006/main">
            <a:off x="2514600" y="5172075"/>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FFFFFF"/>
                </a:solidFill>
              </a:defRPr>
            </a:pPr>
            <a:r>
              <a:rPr sz="1425" b="1">
                <a:solidFill>
                  <a:srgbClr val="FFFFFF"/>
                </a:solidFill>
              </a:rPr>
              <a:t>15 frühe Messungen</a:t>
            </a:r>
          </a:p>
        </p:txBody>
      </p:sp>
      <p:sp>
        <p:nvSpPr>
          <p:cNvPr id="23" name="">
            <a:extLst xmlns:a="http://schemas.openxmlformats.org/drawingml/2006/main">
              <a:ext uri="{FF2B5EF4-FFF2-40B4-BE49-F238E27FC236}">
                <a16:creationId xmlns:a16="http://schemas.microsoft.com/office/drawing/2014/main" id="{7681FA43-A78E-45F0-BED8-3C12C7F7553D}"/>
              </a:ext>
            </a:extLst>
          </p:cNvPr>
          <p:cNvSpPr>
            <a:spLocks xmlns:a="http://schemas.openxmlformats.org/drawingml/2006/main" noGrp="1"/>
          </p:cNvSpPr>
          <p:nvPr/>
        </p:nvSpPr>
        <p:spPr>
          <a:xfrm xmlns:a="http://schemas.openxmlformats.org/drawingml/2006/main">
            <a:off x="4610100" y="5172075"/>
            <a:ext cx="457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1">
                <a:solidFill>
                  <a:srgbClr val="6DCBF4"/>
                </a:solidFill>
              </a:defRPr>
            </a:pPr>
            <a:r>
              <a:rPr sz="1950" b="1">
                <a:solidFill>
                  <a:srgbClr val="6DCBF4"/>
                </a:solidFill>
              </a:rPr>
              <a:t>→</a:t>
            </a:r>
          </a:p>
        </p:txBody>
      </p:sp>
      <p:sp>
        <p:nvSpPr>
          <p:cNvPr id="24" name="">
            <a:extLst xmlns:a="http://schemas.openxmlformats.org/drawingml/2006/main">
              <a:ext uri="{FF2B5EF4-FFF2-40B4-BE49-F238E27FC236}">
                <a16:creationId xmlns:a16="http://schemas.microsoft.com/office/drawing/2014/main" id="{51FBE075-3F8F-4AA8-AF73-B2BA8542147F}"/>
              </a:ext>
            </a:extLst>
          </p:cNvPr>
          <p:cNvSpPr>
            <a:spLocks xmlns:a="http://schemas.openxmlformats.org/drawingml/2006/main" noGrp="1"/>
          </p:cNvSpPr>
          <p:nvPr/>
        </p:nvSpPr>
        <p:spPr>
          <a:xfrm xmlns:a="http://schemas.openxmlformats.org/drawingml/2006/main">
            <a:off x="5219700" y="5172075"/>
            <a:ext cx="95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39A96B"/>
                </a:solidFill>
              </a:defRPr>
            </a:pPr>
            <a:r>
              <a:rPr sz="1350" b="1">
                <a:solidFill>
                  <a:srgbClr val="39A96B"/>
                </a:solidFill>
              </a:rPr>
              <a:t>READY</a:t>
            </a:r>
          </a:p>
        </p:txBody>
      </p:sp>
      <p:sp>
        <p:nvSpPr>
          <p:cNvPr id="25" name="">
            <a:extLst xmlns:a="http://schemas.openxmlformats.org/drawingml/2006/main">
              <a:ext uri="{FF2B5EF4-FFF2-40B4-BE49-F238E27FC236}">
                <a16:creationId xmlns:a16="http://schemas.microsoft.com/office/drawing/2014/main" id="{8A96087D-5A39-433F-94EF-1A4FB47A60D3}"/>
              </a:ext>
            </a:extLst>
          </p:cNvPr>
          <p:cNvSpPr>
            <a:spLocks xmlns:a="http://schemas.openxmlformats.org/drawingml/2006/main" noGrp="1"/>
          </p:cNvSpPr>
          <p:nvPr/>
        </p:nvSpPr>
        <p:spPr>
          <a:xfrm xmlns:a="http://schemas.openxmlformats.org/drawingml/2006/main">
            <a:off x="6591300" y="5172075"/>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FFFFFF"/>
                </a:solidFill>
              </a:defRPr>
            </a:pPr>
            <a:r>
              <a:rPr sz="1425" b="1">
                <a:solidFill>
                  <a:srgbClr val="FFFFFF"/>
                </a:solidFill>
              </a:rPr>
              <a:t>Zeitfenster = 10 Messungen</a:t>
            </a:r>
          </a:p>
        </p:txBody>
      </p:sp>
    </p:spTree>
    <p:extLst>
      <p:ext uri="{BB962C8B-B14F-4D97-AF65-F5344CB8AC3E}">
        <p14:creationId xmlns:p14="http://schemas.microsoft.com/office/powerpoint/2010/main" val="1131130275"/>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7B6F4DF-27C1-4BF8-9861-9BC885438F2A}"/>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VERSUCHSDESIGN</a:t>
            </a:r>
          </a:p>
        </p:txBody>
      </p:sp>
      <p:sp>
        <p:nvSpPr>
          <p:cNvPr id="2" name="">
            <a:extLst xmlns:a="http://schemas.openxmlformats.org/drawingml/2006/main">
              <a:ext uri="{FF2B5EF4-FFF2-40B4-BE49-F238E27FC236}">
                <a16:creationId xmlns:a16="http://schemas.microsoft.com/office/drawing/2014/main" id="{D2C63240-1B78-4A6F-AF5C-C64C7C868322}"/>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Zwei Arme trennen direkte Generalisierung und Encoder-Anpassung</a:t>
            </a:r>
          </a:p>
        </p:txBody>
      </p:sp>
      <p:sp>
        <p:nvSpPr>
          <p:cNvPr id="3" name="">
            <a:extLst xmlns:a="http://schemas.openxmlformats.org/drawingml/2006/main">
              <a:ext uri="{FF2B5EF4-FFF2-40B4-BE49-F238E27FC236}">
                <a16:creationId xmlns:a16="http://schemas.microsoft.com/office/drawing/2014/main" id="{7E6055EF-B764-4DC0-A980-37AD12780AE5}"/>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80B7CA02-86CD-4DEB-B050-A85EF42370D3}"/>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06</a:t>
            </a:r>
          </a:p>
        </p:txBody>
      </p:sp>
      <p:sp>
        <p:nvSpPr>
          <p:cNvPr id="5" name="">
            <a:extLst xmlns:a="http://schemas.openxmlformats.org/drawingml/2006/main">
              <a:ext uri="{FF2B5EF4-FFF2-40B4-BE49-F238E27FC236}">
                <a16:creationId xmlns:a16="http://schemas.microsoft.com/office/drawing/2014/main" id="{DFA5E788-8E5E-4D22-8022-47A67D33528E}"/>
              </a:ext>
            </a:extLst>
          </p:cNvPr>
          <p:cNvSpPr>
            <a:spLocks xmlns:a="http://schemas.openxmlformats.org/drawingml/2006/main" noGrp="1"/>
          </p:cNvSpPr>
          <p:nvPr/>
        </p:nvSpPr>
        <p:spPr>
          <a:xfrm xmlns:a="http://schemas.openxmlformats.org/drawingml/2006/main">
            <a:off x="609600" y="1714500"/>
            <a:ext cx="5143500" cy="3219450"/>
          </a:xfrm>
          <a:prstGeom xmlns:a="http://schemas.openxmlformats.org/drawingml/2006/main" prst="roundRect">
            <a:avLst>
              <a:gd name="adj" fmla="val 3550"/>
            </a:avLst>
          </a:prstGeom>
          <a:solidFill xmlns:a="http://schemas.openxmlformats.org/drawingml/2006/main">
            <a:srgbClr val="FFFFFF"/>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A876E741-15D1-4DF2-AC5E-E9129916149F}"/>
              </a:ext>
            </a:extLst>
          </p:cNvPr>
          <p:cNvSpPr>
            <a:spLocks xmlns:a="http://schemas.openxmlformats.org/drawingml/2006/main" noGrp="1"/>
          </p:cNvSpPr>
          <p:nvPr/>
        </p:nvSpPr>
        <p:spPr>
          <a:xfrm xmlns:a="http://schemas.openxmlformats.org/drawingml/2006/main">
            <a:off x="876300" y="1981200"/>
            <a:ext cx="952500" cy="3429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7" name="">
            <a:extLst xmlns:a="http://schemas.openxmlformats.org/drawingml/2006/main">
              <a:ext uri="{FF2B5EF4-FFF2-40B4-BE49-F238E27FC236}">
                <a16:creationId xmlns:a16="http://schemas.microsoft.com/office/drawing/2014/main" id="{55BD02A8-B54A-4CEB-A7DC-6B17A8B51998}"/>
              </a:ext>
            </a:extLst>
          </p:cNvPr>
          <p:cNvSpPr>
            <a:spLocks xmlns:a="http://schemas.openxmlformats.org/drawingml/2006/main" noGrp="1"/>
          </p:cNvSpPr>
          <p:nvPr/>
        </p:nvSpPr>
        <p:spPr>
          <a:xfrm xmlns:a="http://schemas.openxmlformats.org/drawingml/2006/main">
            <a:off x="990600" y="1981200"/>
            <a:ext cx="72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ARM A</a:t>
            </a:r>
          </a:p>
        </p:txBody>
      </p:sp>
      <p:sp>
        <p:nvSpPr>
          <p:cNvPr id="8" name="">
            <a:extLst xmlns:a="http://schemas.openxmlformats.org/drawingml/2006/main">
              <a:ext uri="{FF2B5EF4-FFF2-40B4-BE49-F238E27FC236}">
                <a16:creationId xmlns:a16="http://schemas.microsoft.com/office/drawing/2014/main" id="{F333BE34-9569-42C2-851C-63F093102D19}"/>
              </a:ext>
            </a:extLst>
          </p:cNvPr>
          <p:cNvSpPr>
            <a:spLocks xmlns:a="http://schemas.openxmlformats.org/drawingml/2006/main" noGrp="1"/>
          </p:cNvSpPr>
          <p:nvPr/>
        </p:nvSpPr>
        <p:spPr>
          <a:xfrm xmlns:a="http://schemas.openxmlformats.org/drawingml/2006/main">
            <a:off x="876300" y="2533650"/>
            <a:ext cx="426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75" b="1">
                <a:solidFill>
                  <a:srgbClr val="101318"/>
                </a:solidFill>
              </a:defRPr>
            </a:pPr>
            <a:r>
              <a:rPr sz="2175" b="1">
                <a:solidFill>
                  <a:srgbClr val="101318"/>
                </a:solidFill>
              </a:rPr>
              <a:t>Direkte Generalisierung</a:t>
            </a:r>
          </a:p>
        </p:txBody>
      </p:sp>
      <p:sp>
        <p:nvSpPr>
          <p:cNvPr id="9" name="">
            <a:extLst xmlns:a="http://schemas.openxmlformats.org/drawingml/2006/main">
              <a:ext uri="{FF2B5EF4-FFF2-40B4-BE49-F238E27FC236}">
                <a16:creationId xmlns:a16="http://schemas.microsoft.com/office/drawing/2014/main" id="{8F7955BB-8F69-4F3E-8BC2-CC5708F50010}"/>
              </a:ext>
            </a:extLst>
          </p:cNvPr>
          <p:cNvSpPr>
            <a:spLocks xmlns:a="http://schemas.openxmlformats.org/drawingml/2006/main" noGrp="1"/>
          </p:cNvSpPr>
          <p:nvPr/>
        </p:nvSpPr>
        <p:spPr>
          <a:xfrm xmlns:a="http://schemas.openxmlformats.org/drawingml/2006/main">
            <a:off x="876300" y="3124200"/>
            <a:ext cx="42481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59616D"/>
                </a:solidFill>
              </a:defRPr>
            </a:pPr>
            <a:r>
              <a:rPr sz="1575" b="0">
                <a:solidFill>
                  <a:srgbClr val="59616D"/>
                </a:solidFill>
              </a:rPr>
              <a:t>Quell-Normalisierung</a:t>
            </a:r>
          </a:p>
          <a:p xmlns:a="http://schemas.openxmlformats.org/drawingml/2006/main">
            <a:pPr algn="l">
              <a:buNone/>
              <a:defRPr sz="1575" b="0">
                <a:solidFill>
                  <a:srgbClr val="59616D"/>
                </a:solidFill>
              </a:defRPr>
            </a:pPr>
            <a:r>
              <a:rPr sz="1575" b="0">
                <a:solidFill>
                  <a:srgbClr val="59616D"/>
                </a:solidFill>
              </a:rPr>
              <a:t>+ eingefrorener Quell-AutoEncoder</a:t>
            </a:r>
          </a:p>
          <a:p xmlns:a="http://schemas.openxmlformats.org/drawingml/2006/main">
            <a:pPr algn="l">
              <a:buNone/>
              <a:defRPr sz="1575" b="0">
                <a:solidFill>
                  <a:srgbClr val="59616D"/>
                </a:solidFill>
              </a:defRPr>
            </a:pPr>
            <a:r>
              <a:rPr sz="1575" b="0">
                <a:solidFill>
                  <a:srgbClr val="59616D"/>
                </a:solidFill>
              </a:rPr>
              <a:t>+ unveränderter State Interpreter</a:t>
            </a:r>
          </a:p>
        </p:txBody>
      </p:sp>
      <p:sp>
        <p:nvSpPr>
          <p:cNvPr id="10" name="">
            <a:extLst xmlns:a="http://schemas.openxmlformats.org/drawingml/2006/main">
              <a:ext uri="{FF2B5EF4-FFF2-40B4-BE49-F238E27FC236}">
                <a16:creationId xmlns:a16="http://schemas.microsoft.com/office/drawing/2014/main" id="{CF2B5925-51EE-483A-93C5-D2C0D415D495}"/>
              </a:ext>
            </a:extLst>
          </p:cNvPr>
          <p:cNvSpPr>
            <a:spLocks xmlns:a="http://schemas.openxmlformats.org/drawingml/2006/main" noGrp="1"/>
          </p:cNvSpPr>
          <p:nvPr/>
        </p:nvSpPr>
        <p:spPr>
          <a:xfrm xmlns:a="http://schemas.openxmlformats.org/drawingml/2006/main">
            <a:off x="6057900" y="1714500"/>
            <a:ext cx="5219700" cy="3219450"/>
          </a:xfrm>
          <a:prstGeom xmlns:a="http://schemas.openxmlformats.org/drawingml/2006/main" prst="roundRect">
            <a:avLst>
              <a:gd name="adj" fmla="val 3550"/>
            </a:avLst>
          </a:prstGeom>
          <a:solidFill xmlns:a="http://schemas.openxmlformats.org/drawingml/2006/main">
            <a:srgbClr val="FFFFFF"/>
          </a:solidFill>
          <a:ln xmlns:a="http://schemas.openxmlformats.org/drawingml/2006/main" w="9525">
            <a:solidFill>
              <a:srgbClr val="D9DEE5"/>
            </a:solidFill>
            <a:prstDash val="solid"/>
          </a:ln>
        </p:spPr>
      </p:sp>
      <p:sp>
        <p:nvSpPr>
          <p:cNvPr id="11" name="">
            <a:extLst xmlns:a="http://schemas.openxmlformats.org/drawingml/2006/main">
              <a:ext uri="{FF2B5EF4-FFF2-40B4-BE49-F238E27FC236}">
                <a16:creationId xmlns:a16="http://schemas.microsoft.com/office/drawing/2014/main" id="{DE075C46-7058-484D-B0E4-BC8CD2BB6C26}"/>
              </a:ext>
            </a:extLst>
          </p:cNvPr>
          <p:cNvSpPr>
            <a:spLocks xmlns:a="http://schemas.openxmlformats.org/drawingml/2006/main" noGrp="1"/>
          </p:cNvSpPr>
          <p:nvPr/>
        </p:nvSpPr>
        <p:spPr>
          <a:xfrm xmlns:a="http://schemas.openxmlformats.org/drawingml/2006/main">
            <a:off x="6324600" y="1981200"/>
            <a:ext cx="952500" cy="342900"/>
          </a:xfrm>
          <a:prstGeom xmlns:a="http://schemas.openxmlformats.org/drawingml/2006/main" prst="roundRect">
            <a:avLst>
              <a:gd name="adj" fmla="val 50000"/>
            </a:avLst>
          </a:prstGeom>
          <a:solidFill xmlns:a="http://schemas.openxmlformats.org/drawingml/2006/main">
            <a:srgbClr val="39A96B"/>
          </a:solidFill>
          <a:ln xmlns:a="http://schemas.openxmlformats.org/drawingml/2006/main" w="9525">
            <a:solidFill>
              <a:srgbClr val="39A96B"/>
            </a:solidFill>
            <a:prstDash val="solid"/>
          </a:ln>
        </p:spPr>
      </p:sp>
      <p:sp>
        <p:nvSpPr>
          <p:cNvPr id="12" name="">
            <a:extLst xmlns:a="http://schemas.openxmlformats.org/drawingml/2006/main">
              <a:ext uri="{FF2B5EF4-FFF2-40B4-BE49-F238E27FC236}">
                <a16:creationId xmlns:a16="http://schemas.microsoft.com/office/drawing/2014/main" id="{E0D5BBD3-671A-492A-BEC0-857A1937A4EA}"/>
              </a:ext>
            </a:extLst>
          </p:cNvPr>
          <p:cNvSpPr>
            <a:spLocks xmlns:a="http://schemas.openxmlformats.org/drawingml/2006/main" noGrp="1"/>
          </p:cNvSpPr>
          <p:nvPr/>
        </p:nvSpPr>
        <p:spPr>
          <a:xfrm xmlns:a="http://schemas.openxmlformats.org/drawingml/2006/main">
            <a:off x="6438900" y="1981200"/>
            <a:ext cx="72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ARM B</a:t>
            </a:r>
          </a:p>
        </p:txBody>
      </p:sp>
      <p:sp>
        <p:nvSpPr>
          <p:cNvPr id="13" name="">
            <a:extLst xmlns:a="http://schemas.openxmlformats.org/drawingml/2006/main">
              <a:ext uri="{FF2B5EF4-FFF2-40B4-BE49-F238E27FC236}">
                <a16:creationId xmlns:a16="http://schemas.microsoft.com/office/drawing/2014/main" id="{FDA0BBE2-AAA8-439F-B35D-3C1F80F235CA}"/>
              </a:ext>
            </a:extLst>
          </p:cNvPr>
          <p:cNvSpPr>
            <a:spLocks xmlns:a="http://schemas.openxmlformats.org/drawingml/2006/main" noGrp="1"/>
          </p:cNvSpPr>
          <p:nvPr/>
        </p:nvSpPr>
        <p:spPr>
          <a:xfrm xmlns:a="http://schemas.openxmlformats.org/drawingml/2006/main">
            <a:off x="6324600" y="2533650"/>
            <a:ext cx="430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75" b="1">
                <a:solidFill>
                  <a:srgbClr val="101318"/>
                </a:solidFill>
              </a:defRPr>
            </a:pPr>
            <a:r>
              <a:rPr sz="2175" b="1">
                <a:solidFill>
                  <a:srgbClr val="101318"/>
                </a:solidFill>
              </a:rPr>
              <a:t>Encoder-Anpassung</a:t>
            </a:r>
          </a:p>
        </p:txBody>
      </p:sp>
      <p:sp>
        <p:nvSpPr>
          <p:cNvPr id="14" name="">
            <a:extLst xmlns:a="http://schemas.openxmlformats.org/drawingml/2006/main">
              <a:ext uri="{FF2B5EF4-FFF2-40B4-BE49-F238E27FC236}">
                <a16:creationId xmlns:a16="http://schemas.microsoft.com/office/drawing/2014/main" id="{FCD3F805-184F-4F2D-ACDC-369CD86C15C3}"/>
              </a:ext>
            </a:extLst>
          </p:cNvPr>
          <p:cNvSpPr>
            <a:spLocks xmlns:a="http://schemas.openxmlformats.org/drawingml/2006/main" noGrp="1"/>
          </p:cNvSpPr>
          <p:nvPr/>
        </p:nvSpPr>
        <p:spPr>
          <a:xfrm xmlns:a="http://schemas.openxmlformats.org/drawingml/2006/main">
            <a:off x="6324600" y="3124200"/>
            <a:ext cx="43053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59616D"/>
                </a:solidFill>
              </a:defRPr>
            </a:pPr>
            <a:r>
              <a:rPr sz="1575" b="0">
                <a:solidFill>
                  <a:srgbClr val="59616D"/>
                </a:solidFill>
              </a:rPr>
              <a:t>Ziel-Normalisierung</a:t>
            </a:r>
          </a:p>
          <a:p xmlns:a="http://schemas.openxmlformats.org/drawingml/2006/main">
            <a:pPr algn="l">
              <a:buNone/>
              <a:defRPr sz="1575" b="0">
                <a:solidFill>
                  <a:srgbClr val="59616D"/>
                </a:solidFill>
              </a:defRPr>
            </a:pPr>
            <a:r>
              <a:rPr sz="1575" b="0">
                <a:solidFill>
                  <a:srgbClr val="59616D"/>
                </a:solidFill>
              </a:rPr>
              <a:t>+ neu trainierter AutoEncoder gleicher Struktur</a:t>
            </a:r>
          </a:p>
          <a:p xmlns:a="http://schemas.openxmlformats.org/drawingml/2006/main">
            <a:pPr algn="l">
              <a:buNone/>
              <a:defRPr sz="1575" b="0">
                <a:solidFill>
                  <a:srgbClr val="59616D"/>
                </a:solidFill>
              </a:defRPr>
            </a:pPr>
            <a:r>
              <a:rPr sz="1575" b="0">
                <a:solidFill>
                  <a:srgbClr val="59616D"/>
                </a:solidFill>
              </a:rPr>
              <a:t>+ derselbe unveränderte State Interpreter</a:t>
            </a:r>
          </a:p>
        </p:txBody>
      </p:sp>
      <p:sp>
        <p:nvSpPr>
          <p:cNvPr id="15" name="">
            <a:extLst xmlns:a="http://schemas.openxmlformats.org/drawingml/2006/main">
              <a:ext uri="{FF2B5EF4-FFF2-40B4-BE49-F238E27FC236}">
                <a16:creationId xmlns:a16="http://schemas.microsoft.com/office/drawing/2014/main" id="{FCBB6727-C696-4FC5-8369-C7B52CE5BB28}"/>
              </a:ext>
            </a:extLst>
          </p:cNvPr>
          <p:cNvSpPr>
            <a:spLocks xmlns:a="http://schemas.openxmlformats.org/drawingml/2006/main" noGrp="1"/>
          </p:cNvSpPr>
          <p:nvPr/>
        </p:nvSpPr>
        <p:spPr>
          <a:xfrm xmlns:a="http://schemas.openxmlformats.org/drawingml/2006/main">
            <a:off x="609600" y="5219700"/>
            <a:ext cx="10668000" cy="571500"/>
          </a:xfrm>
          <a:prstGeom xmlns:a="http://schemas.openxmlformats.org/drawingml/2006/main" prst="roundRect">
            <a:avLst>
              <a:gd name="adj" fmla="val 20000"/>
            </a:avLst>
          </a:prstGeom>
          <a:solidFill xmlns:a="http://schemas.openxmlformats.org/drawingml/2006/main">
            <a:srgbClr val="222831"/>
          </a:solidFill>
          <a:ln xmlns:a="http://schemas.openxmlformats.org/drawingml/2006/main" w="9525">
            <a:solidFill>
              <a:srgbClr val="222831"/>
            </a:solidFill>
            <a:prstDash val="solid"/>
          </a:ln>
        </p:spPr>
      </p:sp>
      <p:sp>
        <p:nvSpPr>
          <p:cNvPr id="16" name="">
            <a:extLst xmlns:a="http://schemas.openxmlformats.org/drawingml/2006/main">
              <a:ext uri="{FF2B5EF4-FFF2-40B4-BE49-F238E27FC236}">
                <a16:creationId xmlns:a16="http://schemas.microsoft.com/office/drawing/2014/main" id="{A32CD6C4-3079-4F35-BC82-BE95F4AEB11E}"/>
              </a:ext>
            </a:extLst>
          </p:cNvPr>
          <p:cNvSpPr>
            <a:spLocks xmlns:a="http://schemas.openxmlformats.org/drawingml/2006/main" noGrp="1"/>
          </p:cNvSpPr>
          <p:nvPr/>
        </p:nvSpPr>
        <p:spPr>
          <a:xfrm xmlns:a="http://schemas.openxmlformats.org/drawingml/2006/main">
            <a:off x="838200" y="5305425"/>
            <a:ext cx="1019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FFFFFF"/>
                </a:solidFill>
              </a:defRPr>
            </a:pPr>
            <a:r>
              <a:rPr sz="1350" b="1">
                <a:solidFill>
                  <a:srgbClr val="FFFFFF"/>
                </a:solidFill>
              </a:rPr>
              <a:t>37,5 Hz / 11 kN  ·  Entwicklung: Bearing2_1–2_3  ·  Validierung: Bearing2_4  ·  Blind: Bearing2_5</a:t>
            </a:r>
          </a:p>
        </p:txBody>
      </p:sp>
    </p:spTree>
    <p:extLst>
      <p:ext uri="{BB962C8B-B14F-4D97-AF65-F5344CB8AC3E}">
        <p14:creationId xmlns:p14="http://schemas.microsoft.com/office/powerpoint/2010/main" val="1063451921"/>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08DCE63-0FB3-49BF-975B-3032C4B40464}"/>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ENTWICKLUNGSERGEBNISSE</a:t>
            </a:r>
          </a:p>
        </p:txBody>
      </p:sp>
      <p:sp>
        <p:nvSpPr>
          <p:cNvPr id="2" name="">
            <a:extLst xmlns:a="http://schemas.openxmlformats.org/drawingml/2006/main">
              <a:ext uri="{FF2B5EF4-FFF2-40B4-BE49-F238E27FC236}">
                <a16:creationId xmlns:a16="http://schemas.microsoft.com/office/drawing/2014/main" id="{ECCC3718-6C3C-49E7-9809-D6CF550C5162}"/>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Beide Arme ordnen die Lebensdauer positiv — Arm B stabilisiert Bearing2_4</a:t>
            </a:r>
          </a:p>
        </p:txBody>
      </p:sp>
      <p:sp>
        <p:nvSpPr>
          <p:cNvPr id="3" name="">
            <a:extLst xmlns:a="http://schemas.openxmlformats.org/drawingml/2006/main">
              <a:ext uri="{FF2B5EF4-FFF2-40B4-BE49-F238E27FC236}">
                <a16:creationId xmlns:a16="http://schemas.microsoft.com/office/drawing/2014/main" id="{472FE97C-E4B1-4A76-95FF-B9A0C7A769BA}"/>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AC667D86-2D7F-4CB9-8ACA-88BE3911FFFC}"/>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07</a:t>
            </a:r>
          </a:p>
        </p:txBody>
      </p:sp>
      <p:graphicFrame>
        <p:nvGraphicFramePr>
          <p:cNvPr id="20" name="Chart"/>
          <p:cNvGraphicFramePr/>
          <p:nvPr/>
        </p:nvGraphicFramePr>
        <p:xfrm>
          <a:off xmlns:a="http://schemas.openxmlformats.org/drawingml/2006/main" x="609600" y="1714500"/>
          <a:ext xmlns:a="http://schemas.openxmlformats.org/drawingml/2006/main" cx="7524750" cy="3905250"/>
        </p:xfrm>
        <a:graphic xmlns:a="http://schemas.openxmlformats.org/drawingml/2006/main">
          <a:graphicData uri="http://schemas.openxmlformats.org/drawingml/2006/chart">
            <c:chart xmlns:r="http://schemas.openxmlformats.org/officeDocument/2006/relationships" xmlns:c="http://schemas.openxmlformats.org/drawingml/2006/chart" r:id="R7d609e3bca264321"/>
          </a:graphicData>
        </a:graphic>
      </p:graphicFrame>
      <p:sp>
        <p:nvSpPr>
          <p:cNvPr id="6" name="">
            <a:extLst xmlns:a="http://schemas.openxmlformats.org/drawingml/2006/main">
              <a:ext uri="{FF2B5EF4-FFF2-40B4-BE49-F238E27FC236}">
                <a16:creationId xmlns:a16="http://schemas.microsoft.com/office/drawing/2014/main" id="{74C2B073-736D-42B3-B5E9-CE1939E4E03F}"/>
              </a:ext>
            </a:extLst>
          </p:cNvPr>
          <p:cNvSpPr>
            <a:spLocks xmlns:a="http://schemas.openxmlformats.org/drawingml/2006/main" noGrp="1"/>
          </p:cNvSpPr>
          <p:nvPr/>
        </p:nvSpPr>
        <p:spPr>
          <a:xfrm xmlns:a="http://schemas.openxmlformats.org/drawingml/2006/main">
            <a:off x="8496300" y="1828800"/>
            <a:ext cx="2781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9DEE5"/>
            </a:solidFill>
            <a:prstDash val="solid"/>
          </a:ln>
        </p:spPr>
      </p:sp>
      <p:sp>
        <p:nvSpPr>
          <p:cNvPr id="7" name="">
            <a:extLst xmlns:a="http://schemas.openxmlformats.org/drawingml/2006/main">
              <a:ext uri="{FF2B5EF4-FFF2-40B4-BE49-F238E27FC236}">
                <a16:creationId xmlns:a16="http://schemas.microsoft.com/office/drawing/2014/main" id="{0743A60F-DB16-4DCA-9111-913220D56D82}"/>
              </a:ext>
            </a:extLst>
          </p:cNvPr>
          <p:cNvSpPr>
            <a:spLocks xmlns:a="http://schemas.openxmlformats.org/drawingml/2006/main" noGrp="1"/>
          </p:cNvSpPr>
          <p:nvPr/>
        </p:nvSpPr>
        <p:spPr>
          <a:xfrm xmlns:a="http://schemas.openxmlformats.org/drawingml/2006/main">
            <a:off x="8743950" y="201930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39A96B"/>
                </a:solidFill>
              </a:defRPr>
            </a:pPr>
            <a:r>
              <a:rPr sz="2550" b="1">
                <a:solidFill>
                  <a:srgbClr val="39A96B"/>
                </a:solidFill>
              </a:rPr>
              <a:t>+0,087</a:t>
            </a:r>
          </a:p>
        </p:txBody>
      </p:sp>
      <p:sp>
        <p:nvSpPr>
          <p:cNvPr id="8" name="">
            <a:extLst xmlns:a="http://schemas.openxmlformats.org/drawingml/2006/main">
              <a:ext uri="{FF2B5EF4-FFF2-40B4-BE49-F238E27FC236}">
                <a16:creationId xmlns:a16="http://schemas.microsoft.com/office/drawing/2014/main" id="{E72925BD-CBD6-45A3-90DB-5F84961B9311}"/>
              </a:ext>
            </a:extLst>
          </p:cNvPr>
          <p:cNvSpPr>
            <a:spLocks xmlns:a="http://schemas.openxmlformats.org/drawingml/2006/main" noGrp="1"/>
          </p:cNvSpPr>
          <p:nvPr/>
        </p:nvSpPr>
        <p:spPr>
          <a:xfrm xmlns:a="http://schemas.openxmlformats.org/drawingml/2006/main">
            <a:off x="8743950" y="25336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59616D"/>
                </a:solidFill>
              </a:defRPr>
            </a:pPr>
            <a:r>
              <a:rPr sz="1275" b="1">
                <a:solidFill>
                  <a:srgbClr val="59616D"/>
                </a:solidFill>
              </a:rPr>
              <a:t>mittlere Δρ</a:t>
            </a:r>
          </a:p>
        </p:txBody>
      </p:sp>
      <p:sp>
        <p:nvSpPr>
          <p:cNvPr id="9" name="">
            <a:extLst xmlns:a="http://schemas.openxmlformats.org/drawingml/2006/main">
              <a:ext uri="{FF2B5EF4-FFF2-40B4-BE49-F238E27FC236}">
                <a16:creationId xmlns:a16="http://schemas.microsoft.com/office/drawing/2014/main" id="{EB65848B-0E6B-42B1-A6E1-5A209A326B9E}"/>
              </a:ext>
            </a:extLst>
          </p:cNvPr>
          <p:cNvSpPr>
            <a:spLocks xmlns:a="http://schemas.openxmlformats.org/drawingml/2006/main" noGrp="1"/>
          </p:cNvSpPr>
          <p:nvPr/>
        </p:nvSpPr>
        <p:spPr>
          <a:xfrm xmlns:a="http://schemas.openxmlformats.org/drawingml/2006/main">
            <a:off x="8496300" y="3276600"/>
            <a:ext cx="2781300" cy="1485900"/>
          </a:xfrm>
          <a:prstGeom xmlns:a="http://schemas.openxmlformats.org/drawingml/2006/main" prst="roundRect">
            <a:avLst>
              <a:gd name="adj" fmla="val 7692"/>
            </a:avLst>
          </a:prstGeom>
          <a:solidFill xmlns:a="http://schemas.openxmlformats.org/drawingml/2006/main">
            <a:srgbClr val="222831"/>
          </a:solidFill>
          <a:ln xmlns:a="http://schemas.openxmlformats.org/drawingml/2006/main" w="9525">
            <a:solidFill>
              <a:srgbClr val="222831"/>
            </a:solidFill>
            <a:prstDash val="solid"/>
          </a:ln>
        </p:spPr>
      </p:sp>
      <p:sp>
        <p:nvSpPr>
          <p:cNvPr id="10" name="">
            <a:extLst xmlns:a="http://schemas.openxmlformats.org/drawingml/2006/main">
              <a:ext uri="{FF2B5EF4-FFF2-40B4-BE49-F238E27FC236}">
                <a16:creationId xmlns:a16="http://schemas.microsoft.com/office/drawing/2014/main" id="{89EFD69F-3852-4052-9B2D-08AF6C2DD24D}"/>
              </a:ext>
            </a:extLst>
          </p:cNvPr>
          <p:cNvSpPr>
            <a:spLocks xmlns:a="http://schemas.openxmlformats.org/drawingml/2006/main" noGrp="1"/>
          </p:cNvSpPr>
          <p:nvPr/>
        </p:nvSpPr>
        <p:spPr>
          <a:xfrm xmlns:a="http://schemas.openxmlformats.org/drawingml/2006/main">
            <a:off x="8743950" y="346710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DCBF4"/>
                </a:solidFill>
              </a:defRPr>
            </a:pPr>
            <a:r>
              <a:rPr sz="1350" b="1">
                <a:solidFill>
                  <a:srgbClr val="6DCBF4"/>
                </a:solidFill>
              </a:rPr>
              <a:t>B2_4</a:t>
            </a:r>
          </a:p>
        </p:txBody>
      </p:sp>
      <p:sp>
        <p:nvSpPr>
          <p:cNvPr id="11" name="">
            <a:extLst xmlns:a="http://schemas.openxmlformats.org/drawingml/2006/main">
              <a:ext uri="{FF2B5EF4-FFF2-40B4-BE49-F238E27FC236}">
                <a16:creationId xmlns:a16="http://schemas.microsoft.com/office/drawing/2014/main" id="{A3BD4E8C-4676-40F3-A20B-2945CD18F402}"/>
              </a:ext>
            </a:extLst>
          </p:cNvPr>
          <p:cNvSpPr>
            <a:spLocks xmlns:a="http://schemas.openxmlformats.org/drawingml/2006/main" noGrp="1"/>
          </p:cNvSpPr>
          <p:nvPr/>
        </p:nvSpPr>
        <p:spPr>
          <a:xfrm xmlns:a="http://schemas.openxmlformats.org/drawingml/2006/main">
            <a:off x="8743950" y="3886200"/>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FFFFFF"/>
                </a:solidFill>
              </a:defRPr>
            </a:pPr>
            <a:r>
              <a:rPr sz="2100" b="1">
                <a:solidFill>
                  <a:srgbClr val="FFFFFF"/>
                </a:solidFill>
              </a:rPr>
              <a:t>0,681 → 0,993</a:t>
            </a:r>
          </a:p>
        </p:txBody>
      </p:sp>
      <p:sp>
        <p:nvSpPr>
          <p:cNvPr id="12" name="">
            <a:extLst xmlns:a="http://schemas.openxmlformats.org/drawingml/2006/main">
              <a:ext uri="{FF2B5EF4-FFF2-40B4-BE49-F238E27FC236}">
                <a16:creationId xmlns:a16="http://schemas.microsoft.com/office/drawing/2014/main" id="{3F6622F9-BAD3-401D-A6DD-69109A8C8E6C}"/>
              </a:ext>
            </a:extLst>
          </p:cNvPr>
          <p:cNvSpPr>
            <a:spLocks xmlns:a="http://schemas.openxmlformats.org/drawingml/2006/main" noGrp="1"/>
          </p:cNvSpPr>
          <p:nvPr/>
        </p:nvSpPr>
        <p:spPr>
          <a:xfrm xmlns:a="http://schemas.openxmlformats.org/drawingml/2006/main">
            <a:off x="8743950" y="43624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39A96B"/>
                </a:solidFill>
              </a:defRPr>
            </a:pPr>
            <a:r>
              <a:rPr sz="1275" b="1">
                <a:solidFill>
                  <a:srgbClr val="39A96B"/>
                </a:solidFill>
              </a:rPr>
              <a:t>Δρ = +0,312</a:t>
            </a:r>
          </a:p>
        </p:txBody>
      </p:sp>
      <p:sp>
        <p:nvSpPr>
          <p:cNvPr id="13" name="">
            <a:extLst xmlns:a="http://schemas.openxmlformats.org/drawingml/2006/main">
              <a:ext uri="{FF2B5EF4-FFF2-40B4-BE49-F238E27FC236}">
                <a16:creationId xmlns:a16="http://schemas.microsoft.com/office/drawing/2014/main" id="{3E934C32-41DC-459C-B925-33B93B131C9A}"/>
              </a:ext>
            </a:extLst>
          </p:cNvPr>
          <p:cNvSpPr>
            <a:spLocks xmlns:a="http://schemas.openxmlformats.org/drawingml/2006/main" noGrp="1"/>
          </p:cNvSpPr>
          <p:nvPr/>
        </p:nvSpPr>
        <p:spPr>
          <a:xfrm xmlns:a="http://schemas.openxmlformats.org/drawingml/2006/main">
            <a:off x="8572500" y="5010150"/>
            <a:ext cx="2628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E35D6A"/>
                </a:solidFill>
              </a:defRPr>
            </a:pPr>
            <a:r>
              <a:rPr sz="1200" b="1">
                <a:solidFill>
                  <a:srgbClr val="E35D6A"/>
                </a:solidFill>
              </a:rPr>
              <a:t>Entwicklungsdaten — noch kein Blind-Ergebnis</a:t>
            </a:r>
          </a:p>
        </p:txBody>
      </p:sp>
    </p:spTree>
    <p:extLst>
      <p:ext uri="{BB962C8B-B14F-4D97-AF65-F5344CB8AC3E}">
        <p14:creationId xmlns:p14="http://schemas.microsoft.com/office/powerpoint/2010/main" val="2114676739"/>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792B536-9D82-4331-8CDC-B84CD26AFA03}"/>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EVALUATIONSPIPELINE</a:t>
            </a:r>
          </a:p>
        </p:txBody>
      </p:sp>
      <p:sp>
        <p:nvSpPr>
          <p:cNvPr id="2" name="">
            <a:extLst xmlns:a="http://schemas.openxmlformats.org/drawingml/2006/main">
              <a:ext uri="{FF2B5EF4-FFF2-40B4-BE49-F238E27FC236}">
                <a16:creationId xmlns:a16="http://schemas.microsoft.com/office/drawing/2014/main" id="{02411D69-3F94-4A97-AE27-CACDEECA3B7B}"/>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Der gemeinsame Ablauf ist reproduzierbar — der Blind-Test bleibt geschlossen</a:t>
            </a:r>
          </a:p>
        </p:txBody>
      </p:sp>
      <p:sp>
        <p:nvSpPr>
          <p:cNvPr id="3" name="">
            <a:extLst xmlns:a="http://schemas.openxmlformats.org/drawingml/2006/main">
              <a:ext uri="{FF2B5EF4-FFF2-40B4-BE49-F238E27FC236}">
                <a16:creationId xmlns:a16="http://schemas.microsoft.com/office/drawing/2014/main" id="{600EB339-D67D-4133-9173-08C600B1D40D}"/>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25656C81-AC09-4BCF-930C-8F91761677CB}"/>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08</a:t>
            </a:r>
          </a:p>
        </p:txBody>
      </p:sp>
      <p:sp>
        <p:nvSpPr>
          <p:cNvPr id="5" name="">
            <a:extLst xmlns:a="http://schemas.openxmlformats.org/drawingml/2006/main">
              <a:ext uri="{FF2B5EF4-FFF2-40B4-BE49-F238E27FC236}">
                <a16:creationId xmlns:a16="http://schemas.microsoft.com/office/drawing/2014/main" id="{5E18A063-9DDF-43FD-9536-6E74A72F608F}"/>
              </a:ext>
            </a:extLst>
          </p:cNvPr>
          <p:cNvSpPr>
            <a:spLocks xmlns:a="http://schemas.openxmlformats.org/drawingml/2006/main" noGrp="1"/>
          </p:cNvSpPr>
          <p:nvPr/>
        </p:nvSpPr>
        <p:spPr>
          <a:xfrm xmlns:a="http://schemas.openxmlformats.org/drawingml/2006/main">
            <a:off x="609600" y="1714500"/>
            <a:ext cx="7010400" cy="371475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AEE5A7AC-A507-4AEB-9C29-BBFB457633CA}"/>
              </a:ext>
            </a:extLst>
          </p:cNvPr>
          <p:cNvSpPr>
            <a:spLocks xmlns:a="http://schemas.openxmlformats.org/drawingml/2006/main" noGrp="1"/>
          </p:cNvSpPr>
          <p:nvPr/>
        </p:nvSpPr>
        <p:spPr>
          <a:xfrm xmlns:a="http://schemas.openxmlformats.org/drawingml/2006/main">
            <a:off x="895350" y="19812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a:solidFill>
                  <a:srgbClr val="3D8DFF"/>
                </a:solidFill>
              </a:defRPr>
            </a:pPr>
            <a:r>
              <a:rPr sz="1125" b="1">
                <a:solidFill>
                  <a:srgbClr val="3D8DFF"/>
                </a:solidFill>
              </a:rPr>
              <a:t>EINMAL MATERIALISIEREN</a:t>
            </a:r>
          </a:p>
        </p:txBody>
      </p:sp>
      <p:sp>
        <p:nvSpPr>
          <p:cNvPr id="7" name="">
            <a:extLst xmlns:a="http://schemas.openxmlformats.org/drawingml/2006/main">
              <a:ext uri="{FF2B5EF4-FFF2-40B4-BE49-F238E27FC236}">
                <a16:creationId xmlns:a16="http://schemas.microsoft.com/office/drawing/2014/main" id="{A7A2D144-EA57-4E3A-AA81-4941AE850FF8}"/>
              </a:ext>
            </a:extLst>
          </p:cNvPr>
          <p:cNvSpPr>
            <a:spLocks xmlns:a="http://schemas.openxmlformats.org/drawingml/2006/main" noGrp="1"/>
          </p:cNvSpPr>
          <p:nvPr/>
        </p:nvSpPr>
        <p:spPr>
          <a:xfrm xmlns:a="http://schemas.openxmlformats.org/drawingml/2006/main">
            <a:off x="895350" y="24003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101318"/>
                </a:solidFill>
              </a:defRPr>
            </a:pPr>
            <a:r>
              <a:rPr sz="2100" b="1">
                <a:solidFill>
                  <a:srgbClr val="101318"/>
                </a:solidFill>
              </a:rPr>
              <a:t>Bearing2_4: 42 Messungen</a:t>
            </a:r>
          </a:p>
        </p:txBody>
      </p:sp>
      <p:sp>
        <p:nvSpPr>
          <p:cNvPr id="8" name="">
            <a:extLst xmlns:a="http://schemas.openxmlformats.org/drawingml/2006/main">
              <a:ext uri="{FF2B5EF4-FFF2-40B4-BE49-F238E27FC236}">
                <a16:creationId xmlns:a16="http://schemas.microsoft.com/office/drawing/2014/main" id="{05AC4ED4-4C5E-4F50-8D3A-15E54224C714}"/>
              </a:ext>
            </a:extLst>
          </p:cNvPr>
          <p:cNvSpPr>
            <a:spLocks xmlns:a="http://schemas.openxmlformats.org/drawingml/2006/main" noGrp="1"/>
          </p:cNvSpPr>
          <p:nvPr/>
        </p:nvSpPr>
        <p:spPr>
          <a:xfrm xmlns:a="http://schemas.openxmlformats.org/drawingml/2006/main">
            <a:off x="3581400" y="289560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3D8DFF"/>
                </a:solidFill>
              </a:defRPr>
            </a:pPr>
            <a:r>
              <a:rPr sz="2100" b="1">
                <a:solidFill>
                  <a:srgbClr val="3D8DFF"/>
                </a:solidFill>
              </a:rPr>
              <a:t>↓</a:t>
            </a:r>
          </a:p>
        </p:txBody>
      </p:sp>
      <p:sp>
        <p:nvSpPr>
          <p:cNvPr id="9" name="">
            <a:extLst xmlns:a="http://schemas.openxmlformats.org/drawingml/2006/main">
              <a:ext uri="{FF2B5EF4-FFF2-40B4-BE49-F238E27FC236}">
                <a16:creationId xmlns:a16="http://schemas.microsoft.com/office/drawing/2014/main" id="{BCDE1277-6175-47FC-8F90-DB52F72A250A}"/>
              </a:ext>
            </a:extLst>
          </p:cNvPr>
          <p:cNvSpPr>
            <a:spLocks xmlns:a="http://schemas.openxmlformats.org/drawingml/2006/main" noGrp="1"/>
          </p:cNvSpPr>
          <p:nvPr/>
        </p:nvSpPr>
        <p:spPr>
          <a:xfrm xmlns:a="http://schemas.openxmlformats.org/drawingml/2006/main">
            <a:off x="990600" y="3409950"/>
            <a:ext cx="2609850" cy="952500"/>
          </a:xfrm>
          <a:prstGeom xmlns:a="http://schemas.openxmlformats.org/drawingml/2006/main" prst="roundRect">
            <a:avLst>
              <a:gd name="adj" fmla="val 12000"/>
            </a:avLst>
          </a:prstGeom>
          <a:solidFill xmlns:a="http://schemas.openxmlformats.org/drawingml/2006/main">
            <a:srgbClr val="EAF6FC"/>
          </a:solidFill>
          <a:ln xmlns:a="http://schemas.openxmlformats.org/drawingml/2006/main" w="9525">
            <a:solidFill>
              <a:srgbClr val="EAF6FC"/>
            </a:solidFill>
            <a:prstDash val="solid"/>
          </a:ln>
        </p:spPr>
      </p:sp>
      <p:sp>
        <p:nvSpPr>
          <p:cNvPr id="10" name="">
            <a:extLst xmlns:a="http://schemas.openxmlformats.org/drawingml/2006/main">
              <a:ext uri="{FF2B5EF4-FFF2-40B4-BE49-F238E27FC236}">
                <a16:creationId xmlns:a16="http://schemas.microsoft.com/office/drawing/2014/main" id="{88F9BA90-D2A4-4EB2-82D6-9DCD1EF4F3AB}"/>
              </a:ext>
            </a:extLst>
          </p:cNvPr>
          <p:cNvSpPr>
            <a:spLocks xmlns:a="http://schemas.openxmlformats.org/drawingml/2006/main" noGrp="1"/>
          </p:cNvSpPr>
          <p:nvPr/>
        </p:nvSpPr>
        <p:spPr>
          <a:xfrm xmlns:a="http://schemas.openxmlformats.org/drawingml/2006/main">
            <a:off x="1219200" y="354330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101318"/>
                </a:solidFill>
              </a:defRPr>
            </a:pPr>
            <a:r>
              <a:rPr sz="1725" b="1">
                <a:solidFill>
                  <a:srgbClr val="101318"/>
                </a:solidFill>
              </a:rPr>
              <a:t>Arm A</a:t>
            </a:r>
          </a:p>
          <a:p xmlns:a="http://schemas.openxmlformats.org/drawingml/2006/main">
            <a:pPr algn="ctr">
              <a:buNone/>
              <a:defRPr sz="1725" b="1">
                <a:solidFill>
                  <a:srgbClr val="101318"/>
                </a:solidFill>
              </a:defRPr>
            </a:pPr>
            <a:r>
              <a:rPr sz="1725" b="1">
                <a:solidFill>
                  <a:srgbClr val="101318"/>
                </a:solidFill>
              </a:rPr>
              <a:t>ρ = 0,681319</a:t>
            </a:r>
          </a:p>
        </p:txBody>
      </p:sp>
      <p:sp>
        <p:nvSpPr>
          <p:cNvPr id="11" name="">
            <a:extLst xmlns:a="http://schemas.openxmlformats.org/drawingml/2006/main">
              <a:ext uri="{FF2B5EF4-FFF2-40B4-BE49-F238E27FC236}">
                <a16:creationId xmlns:a16="http://schemas.microsoft.com/office/drawing/2014/main" id="{AACC0F46-54CF-4791-A37B-3DB52D7157A6}"/>
              </a:ext>
            </a:extLst>
          </p:cNvPr>
          <p:cNvSpPr>
            <a:spLocks xmlns:a="http://schemas.openxmlformats.org/drawingml/2006/main" noGrp="1"/>
          </p:cNvSpPr>
          <p:nvPr/>
        </p:nvSpPr>
        <p:spPr>
          <a:xfrm xmlns:a="http://schemas.openxmlformats.org/drawingml/2006/main">
            <a:off x="4629150" y="3409950"/>
            <a:ext cx="2609850" cy="952500"/>
          </a:xfrm>
          <a:prstGeom xmlns:a="http://schemas.openxmlformats.org/drawingml/2006/main" prst="roundRect">
            <a:avLst>
              <a:gd name="adj" fmla="val 12000"/>
            </a:avLst>
          </a:prstGeom>
          <a:solidFill xmlns:a="http://schemas.openxmlformats.org/drawingml/2006/main">
            <a:srgbClr val="EAF7EF"/>
          </a:solidFill>
          <a:ln xmlns:a="http://schemas.openxmlformats.org/drawingml/2006/main" w="9525">
            <a:solidFill>
              <a:srgbClr val="EAF7EF"/>
            </a:solidFill>
            <a:prstDash val="solid"/>
          </a:ln>
        </p:spPr>
      </p:sp>
      <p:sp>
        <p:nvSpPr>
          <p:cNvPr id="12" name="">
            <a:extLst xmlns:a="http://schemas.openxmlformats.org/drawingml/2006/main">
              <a:ext uri="{FF2B5EF4-FFF2-40B4-BE49-F238E27FC236}">
                <a16:creationId xmlns:a16="http://schemas.microsoft.com/office/drawing/2014/main" id="{7026D5C4-58F3-4F87-9ACC-C4B9AFBA57A3}"/>
              </a:ext>
            </a:extLst>
          </p:cNvPr>
          <p:cNvSpPr>
            <a:spLocks xmlns:a="http://schemas.openxmlformats.org/drawingml/2006/main" noGrp="1"/>
          </p:cNvSpPr>
          <p:nvPr/>
        </p:nvSpPr>
        <p:spPr>
          <a:xfrm xmlns:a="http://schemas.openxmlformats.org/drawingml/2006/main">
            <a:off x="4857750" y="354330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101318"/>
                </a:solidFill>
              </a:defRPr>
            </a:pPr>
            <a:r>
              <a:rPr sz="1725" b="1">
                <a:solidFill>
                  <a:srgbClr val="101318"/>
                </a:solidFill>
              </a:rPr>
              <a:t>Arm B</a:t>
            </a:r>
          </a:p>
          <a:p xmlns:a="http://schemas.openxmlformats.org/drawingml/2006/main">
            <a:pPr algn="ctr">
              <a:buNone/>
              <a:defRPr sz="1725" b="1">
                <a:solidFill>
                  <a:srgbClr val="101318"/>
                </a:solidFill>
              </a:defRPr>
            </a:pPr>
            <a:r>
              <a:rPr sz="1725" b="1">
                <a:solidFill>
                  <a:srgbClr val="101318"/>
                </a:solidFill>
              </a:rPr>
              <a:t>ρ = 0,993284</a:t>
            </a:r>
          </a:p>
        </p:txBody>
      </p:sp>
      <p:sp>
        <p:nvSpPr>
          <p:cNvPr id="13" name="">
            <a:extLst xmlns:a="http://schemas.openxmlformats.org/drawingml/2006/main">
              <a:ext uri="{FF2B5EF4-FFF2-40B4-BE49-F238E27FC236}">
                <a16:creationId xmlns:a16="http://schemas.microsoft.com/office/drawing/2014/main" id="{8CD5A479-06B7-4BA1-A1B3-DEF77C1FD736}"/>
              </a:ext>
            </a:extLst>
          </p:cNvPr>
          <p:cNvSpPr>
            <a:spLocks xmlns:a="http://schemas.openxmlformats.org/drawingml/2006/main" noGrp="1"/>
          </p:cNvSpPr>
          <p:nvPr/>
        </p:nvSpPr>
        <p:spPr>
          <a:xfrm xmlns:a="http://schemas.openxmlformats.org/drawingml/2006/main">
            <a:off x="1066800" y="4667250"/>
            <a:ext cx="609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59616D"/>
                </a:solidFill>
              </a:defRPr>
            </a:pPr>
            <a:r>
              <a:rPr sz="1425" b="1">
                <a:solidFill>
                  <a:srgbClr val="59616D"/>
                </a:solidFill>
              </a:rPr>
              <a:t>Δρ = +0,311966 · exakte Reproduktion: Fehler 0</a:t>
            </a:r>
          </a:p>
        </p:txBody>
      </p:sp>
      <p:sp>
        <p:nvSpPr>
          <p:cNvPr id="14" name="">
            <a:extLst xmlns:a="http://schemas.openxmlformats.org/drawingml/2006/main">
              <a:ext uri="{FF2B5EF4-FFF2-40B4-BE49-F238E27FC236}">
                <a16:creationId xmlns:a16="http://schemas.microsoft.com/office/drawing/2014/main" id="{9596777E-C433-4DCA-B126-D4E3E3A18442}"/>
              </a:ext>
            </a:extLst>
          </p:cNvPr>
          <p:cNvSpPr>
            <a:spLocks xmlns:a="http://schemas.openxmlformats.org/drawingml/2006/main" noGrp="1"/>
          </p:cNvSpPr>
          <p:nvPr/>
        </p:nvSpPr>
        <p:spPr>
          <a:xfrm xmlns:a="http://schemas.openxmlformats.org/drawingml/2006/main">
            <a:off x="7962900" y="1714500"/>
            <a:ext cx="3314700" cy="3714750"/>
          </a:xfrm>
          <a:prstGeom xmlns:a="http://schemas.openxmlformats.org/drawingml/2006/main" prst="roundRect">
            <a:avLst>
              <a:gd name="adj" fmla="val 3448"/>
            </a:avLst>
          </a:prstGeom>
          <a:solidFill xmlns:a="http://schemas.openxmlformats.org/drawingml/2006/main">
            <a:srgbClr val="222831"/>
          </a:solidFill>
          <a:ln xmlns:a="http://schemas.openxmlformats.org/drawingml/2006/main" w="9525">
            <a:solidFill>
              <a:srgbClr val="222831"/>
            </a:solidFill>
            <a:prstDash val="solid"/>
          </a:ln>
        </p:spPr>
      </p:sp>
      <p:sp>
        <p:nvSpPr>
          <p:cNvPr id="15" name="">
            <a:extLst xmlns:a="http://schemas.openxmlformats.org/drawingml/2006/main">
              <a:ext uri="{FF2B5EF4-FFF2-40B4-BE49-F238E27FC236}">
                <a16:creationId xmlns:a16="http://schemas.microsoft.com/office/drawing/2014/main" id="{87C1E50C-3173-4343-B201-94AFE7E73CFB}"/>
              </a:ext>
            </a:extLst>
          </p:cNvPr>
          <p:cNvSpPr>
            <a:spLocks xmlns:a="http://schemas.openxmlformats.org/drawingml/2006/main" noGrp="1"/>
          </p:cNvSpPr>
          <p:nvPr/>
        </p:nvSpPr>
        <p:spPr>
          <a:xfrm xmlns:a="http://schemas.openxmlformats.org/drawingml/2006/main">
            <a:off x="8420100" y="21145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150" b="1">
                <a:solidFill>
                  <a:srgbClr val="FFFFFF"/>
                </a:solidFill>
              </a:defRPr>
            </a:pPr>
            <a:r>
              <a:rPr sz="3150" b="1">
                <a:solidFill>
                  <a:srgbClr val="FFFFFF"/>
                </a:solidFill>
              </a:rPr>
              <a:t>B2_5</a:t>
            </a:r>
          </a:p>
        </p:txBody>
      </p:sp>
      <p:sp>
        <p:nvSpPr>
          <p:cNvPr id="16" name="">
            <a:extLst xmlns:a="http://schemas.openxmlformats.org/drawingml/2006/main">
              <a:ext uri="{FF2B5EF4-FFF2-40B4-BE49-F238E27FC236}">
                <a16:creationId xmlns:a16="http://schemas.microsoft.com/office/drawing/2014/main" id="{DC11F679-6BCE-4487-8706-C322B1302FEB}"/>
              </a:ext>
            </a:extLst>
          </p:cNvPr>
          <p:cNvSpPr>
            <a:spLocks xmlns:a="http://schemas.openxmlformats.org/drawingml/2006/main" noGrp="1"/>
          </p:cNvSpPr>
          <p:nvPr/>
        </p:nvSpPr>
        <p:spPr>
          <a:xfrm xmlns:a="http://schemas.openxmlformats.org/drawingml/2006/main">
            <a:off x="8553450" y="2876550"/>
            <a:ext cx="2114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6DCBF4"/>
                </a:solidFill>
              </a:defRPr>
            </a:pPr>
            <a:r>
              <a:rPr sz="1275" b="1">
                <a:solidFill>
                  <a:srgbClr val="6DCBF4"/>
                </a:solidFill>
              </a:rPr>
              <a:t>STRICT BLIND</a:t>
            </a:r>
          </a:p>
        </p:txBody>
      </p:sp>
      <p:sp>
        <p:nvSpPr>
          <p:cNvPr id="17" name="">
            <a:extLst xmlns:a="http://schemas.openxmlformats.org/drawingml/2006/main">
              <a:ext uri="{FF2B5EF4-FFF2-40B4-BE49-F238E27FC236}">
                <a16:creationId xmlns:a16="http://schemas.microsoft.com/office/drawing/2014/main" id="{EB90F8C4-75CE-4B2F-83AE-9D3E9014EC5F}"/>
              </a:ext>
            </a:extLst>
          </p:cNvPr>
          <p:cNvSpPr>
            <a:spLocks xmlns:a="http://schemas.openxmlformats.org/drawingml/2006/main" noGrp="1"/>
          </p:cNvSpPr>
          <p:nvPr/>
        </p:nvSpPr>
        <p:spPr>
          <a:xfrm xmlns:a="http://schemas.openxmlformats.org/drawingml/2006/main">
            <a:off x="8420100" y="3371850"/>
            <a:ext cx="2381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FFFFFF"/>
                </a:solidFill>
              </a:defRPr>
            </a:pPr>
            <a:r>
              <a:rPr sz="1650" b="1">
                <a:solidFill>
                  <a:srgbClr val="FFFFFF"/>
                </a:solidFill>
              </a:rPr>
              <a:t>noch nicht gelesen</a:t>
            </a:r>
          </a:p>
          <a:p xmlns:a="http://schemas.openxmlformats.org/drawingml/2006/main">
            <a:pPr algn="ctr">
              <a:buNone/>
              <a:defRPr sz="1650" b="1">
                <a:solidFill>
                  <a:srgbClr val="FFFFFF"/>
                </a:solidFill>
              </a:defRPr>
            </a:pPr>
            <a:r>
              <a:rPr sz="1650" b="1">
                <a:solidFill>
                  <a:srgbClr val="FFFFFF"/>
                </a:solidFill>
              </a:rPr>
              <a:t>keine Kurven</a:t>
            </a:r>
          </a:p>
          <a:p xmlns:a="http://schemas.openxmlformats.org/drawingml/2006/main">
            <a:pPr algn="ctr">
              <a:buNone/>
              <a:defRPr sz="1650" b="1">
                <a:solidFill>
                  <a:srgbClr val="FFFFFF"/>
                </a:solidFill>
              </a:defRPr>
            </a:pPr>
            <a:r>
              <a:rPr sz="1650" b="1">
                <a:solidFill>
                  <a:srgbClr val="FFFFFF"/>
                </a:solidFill>
              </a:rPr>
              <a:t>keine Kennzahlen</a:t>
            </a:r>
          </a:p>
        </p:txBody>
      </p:sp>
      <p:sp>
        <p:nvSpPr>
          <p:cNvPr id="18" name="">
            <a:extLst xmlns:a="http://schemas.openxmlformats.org/drawingml/2006/main">
              <a:ext uri="{FF2B5EF4-FFF2-40B4-BE49-F238E27FC236}">
                <a16:creationId xmlns:a16="http://schemas.microsoft.com/office/drawing/2014/main" id="{E4A214E0-47ED-4534-A55E-99537EAF914D}"/>
              </a:ext>
            </a:extLst>
          </p:cNvPr>
          <p:cNvSpPr>
            <a:spLocks xmlns:a="http://schemas.openxmlformats.org/drawingml/2006/main" noGrp="1"/>
          </p:cNvSpPr>
          <p:nvPr/>
        </p:nvSpPr>
        <p:spPr>
          <a:xfrm xmlns:a="http://schemas.openxmlformats.org/drawingml/2006/main">
            <a:off x="8629650" y="4800600"/>
            <a:ext cx="1943100" cy="342900"/>
          </a:xfrm>
          <a:prstGeom xmlns:a="http://schemas.openxmlformats.org/drawingml/2006/main" prst="roundRect">
            <a:avLst>
              <a:gd name="adj" fmla="val 50000"/>
            </a:avLst>
          </a:prstGeom>
          <a:solidFill xmlns:a="http://schemas.openxmlformats.org/drawingml/2006/main">
            <a:srgbClr val="39A96B"/>
          </a:solidFill>
          <a:ln xmlns:a="http://schemas.openxmlformats.org/drawingml/2006/main" w="9525">
            <a:solidFill>
              <a:srgbClr val="39A96B"/>
            </a:solidFill>
            <a:prstDash val="solid"/>
          </a:ln>
        </p:spPr>
      </p:sp>
      <p:sp>
        <p:nvSpPr>
          <p:cNvPr id="19" name="">
            <a:extLst xmlns:a="http://schemas.openxmlformats.org/drawingml/2006/main">
              <a:ext uri="{FF2B5EF4-FFF2-40B4-BE49-F238E27FC236}">
                <a16:creationId xmlns:a16="http://schemas.microsoft.com/office/drawing/2014/main" id="{379D0218-0756-4E0B-A887-233E08DAA14A}"/>
              </a:ext>
            </a:extLst>
          </p:cNvPr>
          <p:cNvSpPr>
            <a:spLocks xmlns:a="http://schemas.openxmlformats.org/drawingml/2006/main" noGrp="1"/>
          </p:cNvSpPr>
          <p:nvPr/>
        </p:nvSpPr>
        <p:spPr>
          <a:xfrm xmlns:a="http://schemas.openxmlformats.org/drawingml/2006/main">
            <a:off x="8743950" y="48006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66 Tests bestanden</a:t>
            </a:r>
          </a:p>
        </p:txBody>
      </p:sp>
    </p:spTree>
    <p:extLst>
      <p:ext uri="{BB962C8B-B14F-4D97-AF65-F5344CB8AC3E}">
        <p14:creationId xmlns:p14="http://schemas.microsoft.com/office/powerpoint/2010/main" val="1569868345"/>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D028BB4-30EC-415D-9C7B-57FB7309E67C}"/>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EINORDNUNG</a:t>
            </a:r>
          </a:p>
        </p:txBody>
      </p:sp>
      <p:sp>
        <p:nvSpPr>
          <p:cNvPr id="2" name="">
            <a:extLst xmlns:a="http://schemas.openxmlformats.org/drawingml/2006/main">
              <a:ext uri="{FF2B5EF4-FFF2-40B4-BE49-F238E27FC236}">
                <a16:creationId xmlns:a16="http://schemas.microsoft.com/office/drawing/2014/main" id="{97685357-69C9-43AE-A608-39C7FDE088D4}"/>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Was die bisherigen Ergebnisse zeigen — und was noch offen bleibt</a:t>
            </a:r>
          </a:p>
        </p:txBody>
      </p:sp>
      <p:sp>
        <p:nvSpPr>
          <p:cNvPr id="3" name="">
            <a:extLst xmlns:a="http://schemas.openxmlformats.org/drawingml/2006/main">
              <a:ext uri="{FF2B5EF4-FFF2-40B4-BE49-F238E27FC236}">
                <a16:creationId xmlns:a16="http://schemas.microsoft.com/office/drawing/2014/main" id="{0504E4C8-772E-4CF7-A4CD-F1A0AF017696}"/>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09303DAA-9463-457D-8BBD-70C7225D1BCF}"/>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09</a:t>
            </a:r>
          </a:p>
        </p:txBody>
      </p:sp>
      <p:sp>
        <p:nvSpPr>
          <p:cNvPr id="5" name="">
            <a:extLst xmlns:a="http://schemas.openxmlformats.org/drawingml/2006/main">
              <a:ext uri="{FF2B5EF4-FFF2-40B4-BE49-F238E27FC236}">
                <a16:creationId xmlns:a16="http://schemas.microsoft.com/office/drawing/2014/main" id="{3BCDA2BC-826C-450F-B2BB-C7A2FA6FDFE9}"/>
              </a:ext>
            </a:extLst>
          </p:cNvPr>
          <p:cNvSpPr>
            <a:spLocks xmlns:a="http://schemas.openxmlformats.org/drawingml/2006/main" noGrp="1"/>
          </p:cNvSpPr>
          <p:nvPr/>
        </p:nvSpPr>
        <p:spPr>
          <a:xfrm xmlns:a="http://schemas.openxmlformats.org/drawingml/2006/main">
            <a:off x="609600" y="1714500"/>
            <a:ext cx="5143500" cy="3790950"/>
          </a:xfrm>
          <a:prstGeom xmlns:a="http://schemas.openxmlformats.org/drawingml/2006/main" prst="roundRect">
            <a:avLst>
              <a:gd name="adj" fmla="val 3015"/>
            </a:avLst>
          </a:prstGeom>
          <a:solidFill xmlns:a="http://schemas.openxmlformats.org/drawingml/2006/main">
            <a:srgbClr val="EAF7EF"/>
          </a:solidFill>
          <a:ln xmlns:a="http://schemas.openxmlformats.org/drawingml/2006/main" w="9525">
            <a:solidFill>
              <a:srgbClr val="CFE9D9"/>
            </a:solidFill>
            <a:prstDash val="solid"/>
          </a:ln>
        </p:spPr>
      </p:sp>
      <p:sp>
        <p:nvSpPr>
          <p:cNvPr id="6" name="">
            <a:extLst xmlns:a="http://schemas.openxmlformats.org/drawingml/2006/main">
              <a:ext uri="{FF2B5EF4-FFF2-40B4-BE49-F238E27FC236}">
                <a16:creationId xmlns:a16="http://schemas.microsoft.com/office/drawing/2014/main" id="{8801AB11-B364-450B-80A7-BE660B6962B7}"/>
              </a:ext>
            </a:extLst>
          </p:cNvPr>
          <p:cNvSpPr>
            <a:spLocks xmlns:a="http://schemas.openxmlformats.org/drawingml/2006/main" noGrp="1"/>
          </p:cNvSpPr>
          <p:nvPr/>
        </p:nvSpPr>
        <p:spPr>
          <a:xfrm xmlns:a="http://schemas.openxmlformats.org/drawingml/2006/main">
            <a:off x="895350" y="19812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a:solidFill>
                  <a:srgbClr val="39A96B"/>
                </a:solidFill>
              </a:defRPr>
            </a:pPr>
            <a:r>
              <a:rPr sz="1125" b="1">
                <a:solidFill>
                  <a:srgbClr val="39A96B"/>
                </a:solidFill>
              </a:rPr>
              <a:t>UNTERSTÜTZT</a:t>
            </a:r>
          </a:p>
        </p:txBody>
      </p:sp>
      <p:sp>
        <p:nvSpPr>
          <p:cNvPr id="7" name="">
            <a:extLst xmlns:a="http://schemas.openxmlformats.org/drawingml/2006/main">
              <a:ext uri="{FF2B5EF4-FFF2-40B4-BE49-F238E27FC236}">
                <a16:creationId xmlns:a16="http://schemas.microsoft.com/office/drawing/2014/main" id="{E6F41990-B4C4-4088-B2CA-B24842824400}"/>
              </a:ext>
            </a:extLst>
          </p:cNvPr>
          <p:cNvSpPr>
            <a:spLocks xmlns:a="http://schemas.openxmlformats.org/drawingml/2006/main" noGrp="1"/>
          </p:cNvSpPr>
          <p:nvPr/>
        </p:nvSpPr>
        <p:spPr>
          <a:xfrm xmlns:a="http://schemas.openxmlformats.org/drawingml/2006/main">
            <a:off x="895350" y="2514600"/>
            <a:ext cx="43434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101318"/>
                </a:solidFill>
              </a:defRPr>
            </a:pPr>
            <a:r>
              <a:rPr sz="1575" b="0">
                <a:solidFill>
                  <a:srgbClr val="101318"/>
                </a:solidFill>
              </a:rPr>
              <a:t>✓  Der kleine AutoEncoder erzeugt einen nutzbaren zeitlichen latenten Raum.</a:t>
            </a:r>
          </a:p>
          <a:p xmlns:a="http://schemas.openxmlformats.org/drawingml/2006/main">
            <a:r>
              <a:t/>
            </a:r>
          </a:p>
          <a:p xmlns:a="http://schemas.openxmlformats.org/drawingml/2006/main">
            <a:pPr algn="l">
              <a:buNone/>
              <a:defRPr sz="1575" b="0">
                <a:solidFill>
                  <a:srgbClr val="101318"/>
                </a:solidFill>
              </a:defRPr>
            </a:pPr>
            <a:r>
              <a:rPr sz="1575" b="0">
                <a:solidFill>
                  <a:srgbClr val="101318"/>
                </a:solidFill>
              </a:rPr>
              <a:t>✓  Der feste Interpreter funktioniert mit zwei Encoder-Varianten.</a:t>
            </a:r>
          </a:p>
          <a:p xmlns:a="http://schemas.openxmlformats.org/drawingml/2006/main">
            <a:r>
              <a:t/>
            </a:r>
          </a:p>
          <a:p xmlns:a="http://schemas.openxmlformats.org/drawingml/2006/main">
            <a:pPr algn="l">
              <a:buNone/>
              <a:defRPr sz="1575" b="0">
                <a:solidFill>
                  <a:srgbClr val="101318"/>
                </a:solidFill>
              </a:defRPr>
            </a:pPr>
            <a:r>
              <a:rPr sz="1575" b="0">
                <a:solidFill>
                  <a:srgbClr val="101318"/>
                </a:solidFill>
              </a:rPr>
              <a:t>✓  Encoder-Anpassung kann problematische Bearings deutlich verbessern.</a:t>
            </a:r>
          </a:p>
        </p:txBody>
      </p:sp>
      <p:sp>
        <p:nvSpPr>
          <p:cNvPr id="8" name="">
            <a:extLst xmlns:a="http://schemas.openxmlformats.org/drawingml/2006/main">
              <a:ext uri="{FF2B5EF4-FFF2-40B4-BE49-F238E27FC236}">
                <a16:creationId xmlns:a16="http://schemas.microsoft.com/office/drawing/2014/main" id="{ACA02C31-D7DB-46EE-BBC6-C23332792AD3}"/>
              </a:ext>
            </a:extLst>
          </p:cNvPr>
          <p:cNvSpPr>
            <a:spLocks xmlns:a="http://schemas.openxmlformats.org/drawingml/2006/main" noGrp="1"/>
          </p:cNvSpPr>
          <p:nvPr/>
        </p:nvSpPr>
        <p:spPr>
          <a:xfrm xmlns:a="http://schemas.openxmlformats.org/drawingml/2006/main">
            <a:off x="6057900" y="1714500"/>
            <a:ext cx="5219700" cy="3790950"/>
          </a:xfrm>
          <a:prstGeom xmlns:a="http://schemas.openxmlformats.org/drawingml/2006/main" prst="roundRect">
            <a:avLst>
              <a:gd name="adj" fmla="val 3015"/>
            </a:avLst>
          </a:prstGeom>
          <a:solidFill xmlns:a="http://schemas.openxmlformats.org/drawingml/2006/main">
            <a:srgbClr val="FFF4E7"/>
          </a:solidFill>
          <a:ln xmlns:a="http://schemas.openxmlformats.org/drawingml/2006/main" w="9525">
            <a:solidFill>
              <a:srgbClr val="F3D9B7"/>
            </a:solidFill>
            <a:prstDash val="solid"/>
          </a:ln>
        </p:spPr>
      </p:sp>
      <p:sp>
        <p:nvSpPr>
          <p:cNvPr id="9" name="">
            <a:extLst xmlns:a="http://schemas.openxmlformats.org/drawingml/2006/main">
              <a:ext uri="{FF2B5EF4-FFF2-40B4-BE49-F238E27FC236}">
                <a16:creationId xmlns:a16="http://schemas.microsoft.com/office/drawing/2014/main" id="{07F936B8-3125-4004-AF60-2EAEB19E8E0D}"/>
              </a:ext>
            </a:extLst>
          </p:cNvPr>
          <p:cNvSpPr>
            <a:spLocks xmlns:a="http://schemas.openxmlformats.org/drawingml/2006/main" noGrp="1"/>
          </p:cNvSpPr>
          <p:nvPr/>
        </p:nvSpPr>
        <p:spPr>
          <a:xfrm xmlns:a="http://schemas.openxmlformats.org/drawingml/2006/main">
            <a:off x="6343650" y="19812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a:solidFill>
                  <a:srgbClr val="F2A24A"/>
                </a:solidFill>
              </a:defRPr>
            </a:pPr>
            <a:r>
              <a:rPr sz="1125" b="1">
                <a:solidFill>
                  <a:srgbClr val="F2A24A"/>
                </a:solidFill>
              </a:rPr>
              <a:t>NOCH NICHT BEWIESEN</a:t>
            </a:r>
          </a:p>
        </p:txBody>
      </p:sp>
      <p:sp>
        <p:nvSpPr>
          <p:cNvPr id="10" name="">
            <a:extLst xmlns:a="http://schemas.openxmlformats.org/drawingml/2006/main">
              <a:ext uri="{FF2B5EF4-FFF2-40B4-BE49-F238E27FC236}">
                <a16:creationId xmlns:a16="http://schemas.microsoft.com/office/drawing/2014/main" id="{DA80FE69-FDF4-49D7-80DD-68DA361D4144}"/>
              </a:ext>
            </a:extLst>
          </p:cNvPr>
          <p:cNvSpPr>
            <a:spLocks xmlns:a="http://schemas.openxmlformats.org/drawingml/2006/main" noGrp="1"/>
          </p:cNvSpPr>
          <p:nvPr/>
        </p:nvSpPr>
        <p:spPr>
          <a:xfrm xmlns:a="http://schemas.openxmlformats.org/drawingml/2006/main">
            <a:off x="6343650" y="2514600"/>
            <a:ext cx="44196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101318"/>
                </a:solidFill>
              </a:defRPr>
            </a:pPr>
            <a:r>
              <a:rPr sz="1575" b="0">
                <a:solidFill>
                  <a:srgbClr val="101318"/>
                </a:solidFill>
              </a:rPr>
              <a:t>•  Level ist kein physikalischer Schadensgrad.</a:t>
            </a:r>
          </a:p>
          <a:p xmlns:a="http://schemas.openxmlformats.org/drawingml/2006/main">
            <a:r>
              <a:t/>
            </a:r>
          </a:p>
          <a:p xmlns:a="http://schemas.openxmlformats.org/drawingml/2006/main">
            <a:pPr algn="l">
              <a:buNone/>
              <a:defRPr sz="1575" b="0">
                <a:solidFill>
                  <a:srgbClr val="101318"/>
                </a:solidFill>
              </a:defRPr>
            </a:pPr>
            <a:r>
              <a:rPr sz="1575" b="0">
                <a:solidFill>
                  <a:srgbClr val="101318"/>
                </a:solidFill>
              </a:rPr>
              <a:t>•  Positive Zeitkorrelation garantiert keine Generalisierung auf unbekannte Bearings.</a:t>
            </a:r>
          </a:p>
          <a:p xmlns:a="http://schemas.openxmlformats.org/drawingml/2006/main">
            <a:r>
              <a:t/>
            </a:r>
          </a:p>
          <a:p xmlns:a="http://schemas.openxmlformats.org/drawingml/2006/main">
            <a:pPr algn="l">
              <a:buNone/>
              <a:defRPr sz="1575" b="0">
                <a:solidFill>
                  <a:srgbClr val="101318"/>
                </a:solidFill>
              </a:defRPr>
            </a:pPr>
            <a:r>
              <a:rPr sz="1575" b="0">
                <a:solidFill>
                  <a:srgbClr val="101318"/>
                </a:solidFill>
              </a:rPr>
              <a:t>•  Der Nutzen für RL oder Wartungsentscheidungen ist noch nicht validiert.</a:t>
            </a:r>
          </a:p>
        </p:txBody>
      </p:sp>
    </p:spTree>
    <p:extLst>
      <p:ext uri="{BB962C8B-B14F-4D97-AF65-F5344CB8AC3E}">
        <p14:creationId xmlns:p14="http://schemas.microsoft.com/office/powerpoint/2010/main" val="801896984"/>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7CEB172-1AEB-4B25-907E-F09A3753ED36}"/>
              </a:ext>
            </a:extLst>
          </p:cNvPr>
          <p:cNvSpPr>
            <a:spLocks xmlns:a="http://schemas.openxmlformats.org/drawingml/2006/main" noGrp="1"/>
          </p:cNvSpPr>
          <p:nvPr/>
        </p:nvSpPr>
        <p:spPr>
          <a:xfrm xmlns:a="http://schemas.openxmlformats.org/drawingml/2006/main">
            <a:off x="609600" y="3429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a:solidFill>
                  <a:srgbClr val="3D8DFF"/>
                </a:solidFill>
              </a:defRPr>
            </a:pPr>
            <a:r>
              <a:rPr sz="975" b="1">
                <a:solidFill>
                  <a:srgbClr val="3D8DFF"/>
                </a:solidFill>
              </a:rPr>
              <a:t>NÄCHSTER SCHRITT</a:t>
            </a:r>
          </a:p>
        </p:txBody>
      </p:sp>
      <p:sp>
        <p:nvSpPr>
          <p:cNvPr id="2" name="">
            <a:extLst xmlns:a="http://schemas.openxmlformats.org/drawingml/2006/main">
              <a:ext uri="{FF2B5EF4-FFF2-40B4-BE49-F238E27FC236}">
                <a16:creationId xmlns:a16="http://schemas.microsoft.com/office/drawing/2014/main" id="{D52C2C7D-5733-472D-8B1D-4CE82B8CEB6F}"/>
              </a:ext>
            </a:extLst>
          </p:cNvPr>
          <p:cNvSpPr>
            <a:spLocks xmlns:a="http://schemas.openxmlformats.org/drawingml/2006/main" noGrp="1"/>
          </p:cNvSpPr>
          <p:nvPr/>
        </p:nvSpPr>
        <p:spPr>
          <a:xfrm xmlns:a="http://schemas.openxmlformats.org/drawingml/2006/main">
            <a:off x="609600" y="6286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550" b="1">
                <a:solidFill>
                  <a:srgbClr val="101318"/>
                </a:solidFill>
              </a:defRPr>
            </a:pPr>
            <a:r>
              <a:rPr sz="2550" b="1">
                <a:solidFill>
                  <a:srgbClr val="101318"/>
                </a:solidFill>
              </a:rPr>
              <a:t>Einmalige gemeinsame Blind-Evaluation auf Bearing2_5</a:t>
            </a:r>
          </a:p>
        </p:txBody>
      </p:sp>
      <p:sp>
        <p:nvSpPr>
          <p:cNvPr id="3" name="">
            <a:extLst xmlns:a="http://schemas.openxmlformats.org/drawingml/2006/main">
              <a:ext uri="{FF2B5EF4-FFF2-40B4-BE49-F238E27FC236}">
                <a16:creationId xmlns:a16="http://schemas.microsoft.com/office/drawing/2014/main" id="{0F0127C8-22CD-495C-8364-EAE4983C7F26}"/>
              </a:ext>
            </a:extLst>
          </p:cNvPr>
          <p:cNvSpPr>
            <a:spLocks xmlns:a="http://schemas.openxmlformats.org/drawingml/2006/main" noGrp="1"/>
          </p:cNvSpPr>
          <p:nvPr/>
        </p:nvSpPr>
        <p:spPr>
          <a:xfrm xmlns:a="http://schemas.openxmlformats.org/drawingml/2006/main">
            <a:off x="609600" y="1295400"/>
            <a:ext cx="10972800" cy="19050"/>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4" name="">
            <a:extLst xmlns:a="http://schemas.openxmlformats.org/drawingml/2006/main">
              <a:ext uri="{FF2B5EF4-FFF2-40B4-BE49-F238E27FC236}">
                <a16:creationId xmlns:a16="http://schemas.microsoft.com/office/drawing/2014/main" id="{B3384FD6-91AD-4CB8-A9F1-8079FDA0A11E}"/>
              </a:ext>
            </a:extLst>
          </p:cNvPr>
          <p:cNvSpPr>
            <a:spLocks xmlns:a="http://schemas.openxmlformats.org/drawingml/2006/main" noGrp="1"/>
          </p:cNvSpPr>
          <p:nvPr/>
        </p:nvSpPr>
        <p:spPr>
          <a:xfrm xmlns:a="http://schemas.openxmlformats.org/drawingml/2006/main">
            <a:off x="11068050" y="62865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00" b="1">
                <a:solidFill>
                  <a:srgbClr val="59616D"/>
                </a:solidFill>
              </a:defRPr>
            </a:pPr>
            <a:r>
              <a:rPr sz="900" b="1">
                <a:solidFill>
                  <a:srgbClr val="59616D"/>
                </a:solidFill>
              </a:rPr>
              <a:t>10</a:t>
            </a:r>
          </a:p>
        </p:txBody>
      </p:sp>
      <p:sp>
        <p:nvSpPr>
          <p:cNvPr id="5" name="">
            <a:extLst xmlns:a="http://schemas.openxmlformats.org/drawingml/2006/main">
              <a:ext uri="{FF2B5EF4-FFF2-40B4-BE49-F238E27FC236}">
                <a16:creationId xmlns:a16="http://schemas.microsoft.com/office/drawing/2014/main" id="{2E11285B-A18A-4B2E-B677-EABC43E60B47}"/>
              </a:ext>
            </a:extLst>
          </p:cNvPr>
          <p:cNvSpPr>
            <a:spLocks xmlns:a="http://schemas.openxmlformats.org/drawingml/2006/main" noGrp="1"/>
          </p:cNvSpPr>
          <p:nvPr/>
        </p:nvSpPr>
        <p:spPr>
          <a:xfrm xmlns:a="http://schemas.openxmlformats.org/drawingml/2006/main">
            <a:off x="609600" y="1943100"/>
            <a:ext cx="609600" cy="3429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6" name="">
            <a:extLst xmlns:a="http://schemas.openxmlformats.org/drawingml/2006/main">
              <a:ext uri="{FF2B5EF4-FFF2-40B4-BE49-F238E27FC236}">
                <a16:creationId xmlns:a16="http://schemas.microsoft.com/office/drawing/2014/main" id="{37E49941-8DF4-40EE-886E-CD292A20B1D3}"/>
              </a:ext>
            </a:extLst>
          </p:cNvPr>
          <p:cNvSpPr>
            <a:spLocks xmlns:a="http://schemas.openxmlformats.org/drawingml/2006/main" noGrp="1"/>
          </p:cNvSpPr>
          <p:nvPr/>
        </p:nvSpPr>
        <p:spPr>
          <a:xfrm xmlns:a="http://schemas.openxmlformats.org/drawingml/2006/main">
            <a:off x="723900" y="1943100"/>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01</a:t>
            </a:r>
          </a:p>
        </p:txBody>
      </p:sp>
      <p:sp>
        <p:nvSpPr>
          <p:cNvPr id="7" name="">
            <a:extLst xmlns:a="http://schemas.openxmlformats.org/drawingml/2006/main">
              <a:ext uri="{FF2B5EF4-FFF2-40B4-BE49-F238E27FC236}">
                <a16:creationId xmlns:a16="http://schemas.microsoft.com/office/drawing/2014/main" id="{9BC7A3C6-0E47-4435-A575-456DFCB3B5BB}"/>
              </a:ext>
            </a:extLst>
          </p:cNvPr>
          <p:cNvSpPr>
            <a:spLocks xmlns:a="http://schemas.openxmlformats.org/drawingml/2006/main" noGrp="1"/>
          </p:cNvSpPr>
          <p:nvPr/>
        </p:nvSpPr>
        <p:spPr>
          <a:xfrm xmlns:a="http://schemas.openxmlformats.org/drawingml/2006/main">
            <a:off x="1466850" y="18859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025" b="1">
                <a:solidFill>
                  <a:srgbClr val="101318"/>
                </a:solidFill>
              </a:defRPr>
            </a:pPr>
            <a:r>
              <a:rPr sz="2025" b="1">
                <a:solidFill>
                  <a:srgbClr val="101318"/>
                </a:solidFill>
              </a:rPr>
              <a:t>Artefakte fixieren</a:t>
            </a:r>
          </a:p>
        </p:txBody>
      </p:sp>
      <p:sp>
        <p:nvSpPr>
          <p:cNvPr id="8" name="">
            <a:extLst xmlns:a="http://schemas.openxmlformats.org/drawingml/2006/main">
              <a:ext uri="{FF2B5EF4-FFF2-40B4-BE49-F238E27FC236}">
                <a16:creationId xmlns:a16="http://schemas.microsoft.com/office/drawing/2014/main" id="{E7460907-A499-4144-9818-AD8C0A35C3E1}"/>
              </a:ext>
            </a:extLst>
          </p:cNvPr>
          <p:cNvSpPr>
            <a:spLocks xmlns:a="http://schemas.openxmlformats.org/drawingml/2006/main" noGrp="1"/>
          </p:cNvSpPr>
          <p:nvPr/>
        </p:nvSpPr>
        <p:spPr>
          <a:xfrm xmlns:a="http://schemas.openxmlformats.org/drawingml/2006/main">
            <a:off x="6496050" y="1885950"/>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59616D"/>
                </a:solidFill>
              </a:defRPr>
            </a:pPr>
            <a:r>
              <a:rPr sz="1500" b="0">
                <a:solidFill>
                  <a:srgbClr val="59616D"/>
                </a:solidFill>
              </a:rPr>
              <a:t>Konfiguration, Checkpoints und Hashes final dokumentieren.</a:t>
            </a:r>
          </a:p>
        </p:txBody>
      </p:sp>
      <p:sp>
        <p:nvSpPr>
          <p:cNvPr id="9" name="">
            <a:extLst xmlns:a="http://schemas.openxmlformats.org/drawingml/2006/main">
              <a:ext uri="{FF2B5EF4-FFF2-40B4-BE49-F238E27FC236}">
                <a16:creationId xmlns:a16="http://schemas.microsoft.com/office/drawing/2014/main" id="{99B88DDE-5F66-44EC-A5D9-0ECFE0DC925A}"/>
              </a:ext>
            </a:extLst>
          </p:cNvPr>
          <p:cNvSpPr>
            <a:spLocks xmlns:a="http://schemas.openxmlformats.org/drawingml/2006/main" noGrp="1"/>
          </p:cNvSpPr>
          <p:nvPr/>
        </p:nvSpPr>
        <p:spPr>
          <a:xfrm xmlns:a="http://schemas.openxmlformats.org/drawingml/2006/main">
            <a:off x="1466850" y="2705100"/>
            <a:ext cx="9696450" cy="9525"/>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10" name="">
            <a:extLst xmlns:a="http://schemas.openxmlformats.org/drawingml/2006/main">
              <a:ext uri="{FF2B5EF4-FFF2-40B4-BE49-F238E27FC236}">
                <a16:creationId xmlns:a16="http://schemas.microsoft.com/office/drawing/2014/main" id="{31D5A4A5-9303-4723-8DCA-61A141A8FC0C}"/>
              </a:ext>
            </a:extLst>
          </p:cNvPr>
          <p:cNvSpPr>
            <a:spLocks xmlns:a="http://schemas.openxmlformats.org/drawingml/2006/main" noGrp="1"/>
          </p:cNvSpPr>
          <p:nvPr/>
        </p:nvSpPr>
        <p:spPr>
          <a:xfrm xmlns:a="http://schemas.openxmlformats.org/drawingml/2006/main">
            <a:off x="609600" y="3200400"/>
            <a:ext cx="609600" cy="3429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9525">
            <a:solidFill>
              <a:srgbClr val="3D8DFF"/>
            </a:solidFill>
            <a:prstDash val="solid"/>
          </a:ln>
        </p:spPr>
      </p:sp>
      <p:sp>
        <p:nvSpPr>
          <p:cNvPr id="11" name="">
            <a:extLst xmlns:a="http://schemas.openxmlformats.org/drawingml/2006/main">
              <a:ext uri="{FF2B5EF4-FFF2-40B4-BE49-F238E27FC236}">
                <a16:creationId xmlns:a16="http://schemas.microsoft.com/office/drawing/2014/main" id="{537B6C3B-6905-4A05-9869-8A5C893B2469}"/>
              </a:ext>
            </a:extLst>
          </p:cNvPr>
          <p:cNvSpPr>
            <a:spLocks xmlns:a="http://schemas.openxmlformats.org/drawingml/2006/main" noGrp="1"/>
          </p:cNvSpPr>
          <p:nvPr/>
        </p:nvSpPr>
        <p:spPr>
          <a:xfrm xmlns:a="http://schemas.openxmlformats.org/drawingml/2006/main">
            <a:off x="723900" y="3200400"/>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02</a:t>
            </a:r>
          </a:p>
        </p:txBody>
      </p:sp>
      <p:sp>
        <p:nvSpPr>
          <p:cNvPr id="12" name="">
            <a:extLst xmlns:a="http://schemas.openxmlformats.org/drawingml/2006/main">
              <a:ext uri="{FF2B5EF4-FFF2-40B4-BE49-F238E27FC236}">
                <a16:creationId xmlns:a16="http://schemas.microsoft.com/office/drawing/2014/main" id="{A7AF7AB3-18AF-40B7-ABF7-892D121C0CB5}"/>
              </a:ext>
            </a:extLst>
          </p:cNvPr>
          <p:cNvSpPr>
            <a:spLocks xmlns:a="http://schemas.openxmlformats.org/drawingml/2006/main" noGrp="1"/>
          </p:cNvSpPr>
          <p:nvPr/>
        </p:nvSpPr>
        <p:spPr>
          <a:xfrm xmlns:a="http://schemas.openxmlformats.org/drawingml/2006/main">
            <a:off x="1466850" y="31432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025" b="1">
                <a:solidFill>
                  <a:srgbClr val="101318"/>
                </a:solidFill>
              </a:defRPr>
            </a:pPr>
            <a:r>
              <a:rPr sz="2025" b="1">
                <a:solidFill>
                  <a:srgbClr val="101318"/>
                </a:solidFill>
              </a:rPr>
              <a:t>Beide Arme gleichzeitig ausführen</a:t>
            </a:r>
          </a:p>
        </p:txBody>
      </p:sp>
      <p:sp>
        <p:nvSpPr>
          <p:cNvPr id="13" name="">
            <a:extLst xmlns:a="http://schemas.openxmlformats.org/drawingml/2006/main">
              <a:ext uri="{FF2B5EF4-FFF2-40B4-BE49-F238E27FC236}">
                <a16:creationId xmlns:a16="http://schemas.microsoft.com/office/drawing/2014/main" id="{69F0F12D-1AB1-484E-A246-08B054389764}"/>
              </a:ext>
            </a:extLst>
          </p:cNvPr>
          <p:cNvSpPr>
            <a:spLocks xmlns:a="http://schemas.openxmlformats.org/drawingml/2006/main" noGrp="1"/>
          </p:cNvSpPr>
          <p:nvPr/>
        </p:nvSpPr>
        <p:spPr>
          <a:xfrm xmlns:a="http://schemas.openxmlformats.org/drawingml/2006/main">
            <a:off x="6496050" y="3143250"/>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59616D"/>
                </a:solidFill>
              </a:defRPr>
            </a:pPr>
            <a:r>
              <a:rPr sz="1500" b="0">
                <a:solidFill>
                  <a:srgbClr val="59616D"/>
                </a:solidFill>
              </a:rPr>
              <a:t>Dieselben Rohdaten einmal laden und durch Arm A sowie Arm B führen.</a:t>
            </a:r>
          </a:p>
        </p:txBody>
      </p:sp>
      <p:sp>
        <p:nvSpPr>
          <p:cNvPr id="14" name="">
            <a:extLst xmlns:a="http://schemas.openxmlformats.org/drawingml/2006/main">
              <a:ext uri="{FF2B5EF4-FFF2-40B4-BE49-F238E27FC236}">
                <a16:creationId xmlns:a16="http://schemas.microsoft.com/office/drawing/2014/main" id="{DE1B0DC0-4E1A-415C-90D3-19E3D8A05F54}"/>
              </a:ext>
            </a:extLst>
          </p:cNvPr>
          <p:cNvSpPr>
            <a:spLocks xmlns:a="http://schemas.openxmlformats.org/drawingml/2006/main" noGrp="1"/>
          </p:cNvSpPr>
          <p:nvPr/>
        </p:nvSpPr>
        <p:spPr>
          <a:xfrm xmlns:a="http://schemas.openxmlformats.org/drawingml/2006/main">
            <a:off x="1466850" y="3962400"/>
            <a:ext cx="9696450" cy="9525"/>
          </a:xfrm>
          <a:prstGeom xmlns:a="http://schemas.openxmlformats.org/drawingml/2006/main" prst="rect">
            <a:avLst/>
          </a:prstGeom>
          <a:solidFill xmlns:a="http://schemas.openxmlformats.org/drawingml/2006/main">
            <a:srgbClr val="D9DEE5"/>
          </a:solidFill>
          <a:ln xmlns:a="http://schemas.openxmlformats.org/drawingml/2006/main" w="0">
            <a:solidFill>
              <a:srgbClr val="D9DEE5"/>
            </a:solidFill>
            <a:prstDash val="solid"/>
          </a:ln>
        </p:spPr>
      </p:sp>
      <p:sp>
        <p:nvSpPr>
          <p:cNvPr id="15" name="">
            <a:extLst xmlns:a="http://schemas.openxmlformats.org/drawingml/2006/main">
              <a:ext uri="{FF2B5EF4-FFF2-40B4-BE49-F238E27FC236}">
                <a16:creationId xmlns:a16="http://schemas.microsoft.com/office/drawing/2014/main" id="{7C5A86E9-4EC5-42E7-B89C-3C94E70EFAA0}"/>
              </a:ext>
            </a:extLst>
          </p:cNvPr>
          <p:cNvSpPr>
            <a:spLocks xmlns:a="http://schemas.openxmlformats.org/drawingml/2006/main" noGrp="1"/>
          </p:cNvSpPr>
          <p:nvPr/>
        </p:nvSpPr>
        <p:spPr>
          <a:xfrm xmlns:a="http://schemas.openxmlformats.org/drawingml/2006/main">
            <a:off x="609600" y="4457700"/>
            <a:ext cx="609600" cy="342900"/>
          </a:xfrm>
          <a:prstGeom xmlns:a="http://schemas.openxmlformats.org/drawingml/2006/main" prst="roundRect">
            <a:avLst>
              <a:gd name="adj" fmla="val 50000"/>
            </a:avLst>
          </a:prstGeom>
          <a:solidFill xmlns:a="http://schemas.openxmlformats.org/drawingml/2006/main">
            <a:srgbClr val="39A96B"/>
          </a:solidFill>
          <a:ln xmlns:a="http://schemas.openxmlformats.org/drawingml/2006/main" w="9525">
            <a:solidFill>
              <a:srgbClr val="39A96B"/>
            </a:solidFill>
            <a:prstDash val="solid"/>
          </a:ln>
        </p:spPr>
      </p:sp>
      <p:sp>
        <p:nvSpPr>
          <p:cNvPr id="16" name="">
            <a:extLst xmlns:a="http://schemas.openxmlformats.org/drawingml/2006/main">
              <a:ext uri="{FF2B5EF4-FFF2-40B4-BE49-F238E27FC236}">
                <a16:creationId xmlns:a16="http://schemas.microsoft.com/office/drawing/2014/main" id="{9D1F5F2D-E372-4031-8062-222FD0ECFCA2}"/>
              </a:ext>
            </a:extLst>
          </p:cNvPr>
          <p:cNvSpPr>
            <a:spLocks xmlns:a="http://schemas.openxmlformats.org/drawingml/2006/main" noGrp="1"/>
          </p:cNvSpPr>
          <p:nvPr/>
        </p:nvSpPr>
        <p:spPr>
          <a:xfrm xmlns:a="http://schemas.openxmlformats.org/drawingml/2006/main">
            <a:off x="723900" y="4457700"/>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FFFFF"/>
                </a:solidFill>
              </a:defRPr>
            </a:pPr>
            <a:r>
              <a:rPr sz="1125" b="1">
                <a:solidFill>
                  <a:srgbClr val="FFFFFF"/>
                </a:solidFill>
              </a:rPr>
              <a:t>03</a:t>
            </a:r>
          </a:p>
        </p:txBody>
      </p:sp>
      <p:sp>
        <p:nvSpPr>
          <p:cNvPr id="17" name="">
            <a:extLst xmlns:a="http://schemas.openxmlformats.org/drawingml/2006/main">
              <a:ext uri="{FF2B5EF4-FFF2-40B4-BE49-F238E27FC236}">
                <a16:creationId xmlns:a16="http://schemas.microsoft.com/office/drawing/2014/main" id="{B33E520D-85FD-4066-B6F3-CEDC36BE9E75}"/>
              </a:ext>
            </a:extLst>
          </p:cNvPr>
          <p:cNvSpPr>
            <a:spLocks xmlns:a="http://schemas.openxmlformats.org/drawingml/2006/main" noGrp="1"/>
          </p:cNvSpPr>
          <p:nvPr/>
        </p:nvSpPr>
        <p:spPr>
          <a:xfrm xmlns:a="http://schemas.openxmlformats.org/drawingml/2006/main">
            <a:off x="1466850" y="44005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025" b="1">
                <a:solidFill>
                  <a:srgbClr val="101318"/>
                </a:solidFill>
              </a:defRPr>
            </a:pPr>
            <a:r>
              <a:rPr sz="2025" b="1">
                <a:solidFill>
                  <a:srgbClr val="101318"/>
                </a:solidFill>
              </a:rPr>
              <a:t>Ergebnis ohne Nachjustierung berichten</a:t>
            </a:r>
          </a:p>
        </p:txBody>
      </p:sp>
      <p:sp>
        <p:nvSpPr>
          <p:cNvPr id="18" name="">
            <a:extLst xmlns:a="http://schemas.openxmlformats.org/drawingml/2006/main">
              <a:ext uri="{FF2B5EF4-FFF2-40B4-BE49-F238E27FC236}">
                <a16:creationId xmlns:a16="http://schemas.microsoft.com/office/drawing/2014/main" id="{4EE2FA0F-7689-437E-8BB5-5FC53B2EADEB}"/>
              </a:ext>
            </a:extLst>
          </p:cNvPr>
          <p:cNvSpPr>
            <a:spLocks xmlns:a="http://schemas.openxmlformats.org/drawingml/2006/main" noGrp="1"/>
          </p:cNvSpPr>
          <p:nvPr/>
        </p:nvSpPr>
        <p:spPr>
          <a:xfrm xmlns:a="http://schemas.openxmlformats.org/drawingml/2006/main">
            <a:off x="6496050" y="4400550"/>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a:solidFill>
                  <a:srgbClr val="59616D"/>
                </a:solidFill>
              </a:defRPr>
            </a:pPr>
            <a:r>
              <a:rPr sz="1500" b="0">
                <a:solidFill>
                  <a:srgbClr val="59616D"/>
                </a:solidFill>
              </a:rPr>
              <a:t>ρ_A, ρ_B und Δρ ausgeben; Bearing2_5 danach nicht zum Tuning verwenden.</a:t>
            </a:r>
          </a:p>
        </p:txBody>
      </p:sp>
      <p:sp>
        <p:nvSpPr>
          <p:cNvPr id="19" name="">
            <a:extLst xmlns:a="http://schemas.openxmlformats.org/drawingml/2006/main">
              <a:ext uri="{FF2B5EF4-FFF2-40B4-BE49-F238E27FC236}">
                <a16:creationId xmlns:a16="http://schemas.microsoft.com/office/drawing/2014/main" id="{7E3B33D2-41B2-4E97-A098-74D4D5BCE9CF}"/>
              </a:ext>
            </a:extLst>
          </p:cNvPr>
          <p:cNvSpPr>
            <a:spLocks xmlns:a="http://schemas.openxmlformats.org/drawingml/2006/main" noGrp="1"/>
          </p:cNvSpPr>
          <p:nvPr/>
        </p:nvSpPr>
        <p:spPr>
          <a:xfrm xmlns:a="http://schemas.openxmlformats.org/drawingml/2006/main">
            <a:off x="609600" y="5657850"/>
            <a:ext cx="10668000" cy="514350"/>
          </a:xfrm>
          <a:prstGeom xmlns:a="http://schemas.openxmlformats.org/drawingml/2006/main" prst="roundRect">
            <a:avLst>
              <a:gd name="adj" fmla="val 22222"/>
            </a:avLst>
          </a:prstGeom>
          <a:solidFill xmlns:a="http://schemas.openxmlformats.org/drawingml/2006/main">
            <a:srgbClr val="222831"/>
          </a:solidFill>
          <a:ln xmlns:a="http://schemas.openxmlformats.org/drawingml/2006/main" w="9525">
            <a:solidFill>
              <a:srgbClr val="222831"/>
            </a:solidFill>
            <a:prstDash val="solid"/>
          </a:ln>
        </p:spPr>
      </p:sp>
      <p:sp>
        <p:nvSpPr>
          <p:cNvPr id="20" name="">
            <a:extLst xmlns:a="http://schemas.openxmlformats.org/drawingml/2006/main">
              <a:ext uri="{FF2B5EF4-FFF2-40B4-BE49-F238E27FC236}">
                <a16:creationId xmlns:a16="http://schemas.microsoft.com/office/drawing/2014/main" id="{8B686016-EE42-4305-B6F5-76A7E8ADA5B4}"/>
              </a:ext>
            </a:extLst>
          </p:cNvPr>
          <p:cNvSpPr>
            <a:spLocks xmlns:a="http://schemas.openxmlformats.org/drawingml/2006/main" noGrp="1"/>
          </p:cNvSpPr>
          <p:nvPr/>
        </p:nvSpPr>
        <p:spPr>
          <a:xfrm xmlns:a="http://schemas.openxmlformats.org/drawingml/2006/main">
            <a:off x="819150" y="5724525"/>
            <a:ext cx="10248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FFFFFF"/>
                </a:solidFill>
              </a:defRPr>
            </a:pPr>
            <a:r>
              <a:rPr sz="1500" b="1">
                <a:solidFill>
                  <a:srgbClr val="FFFFFF"/>
                </a:solidFill>
              </a:rPr>
              <a:t>Diskussion: Reicht diese Blind-Evaluation als nächster Meilenstein aus?</a:t>
            </a:r>
          </a:p>
        </p:txBody>
      </p:sp>
    </p:spTree>
    <p:extLst>
      <p:ext uri="{BB962C8B-B14F-4D97-AF65-F5344CB8AC3E}">
        <p14:creationId xmlns:p14="http://schemas.microsoft.com/office/powerpoint/2010/main" val="5486841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2026-08-30T20:37:01.2190000Z</dcterms:created>
  <dcterms:modified xsi:type="dcterms:W3CDTF">2026-08-30T20:37:01.2190000Z</dcterms:modified>
</coreProperties>
</file>