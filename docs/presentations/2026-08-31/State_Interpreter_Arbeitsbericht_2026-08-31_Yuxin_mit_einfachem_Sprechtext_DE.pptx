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0a2d5cd45843d7" /><Relationship Type="http://schemas.openxmlformats.org/officeDocument/2006/relationships/extended-properties" Target="/docProps/app.xml" Id="R280eb54f1925483b" /><Relationship Type="http://schemas.openxmlformats.org/officeDocument/2006/relationships/officeDocument" Target="/ppt/presentation.xml" Id="Rb3bff4fa7d664a15" /></Relationships>
</file>

<file path=ppt/presentation.xml><?xml version="1.0" encoding="utf-8"?>
<p:presentation xmlns:p="http://schemas.openxmlformats.org/presentationml/2006/main">
  <p:sldMasterIdLst>
    <p:sldMasterId xmlns:r="http://schemas.openxmlformats.org/officeDocument/2006/relationships" id="2147483648" r:id="R83ae607b912546c7"/>
  </p:sldMasterIdLst>
  <p:notesMasterIdLst>
    <p:notesMasterId xmlns:r="http://schemas.openxmlformats.org/officeDocument/2006/relationships" r:id="Rdebd13f238fa4d90"/>
  </p:notesMasterIdLst>
  <p:sldIdLst>
    <p:sldId xmlns:r="http://schemas.openxmlformats.org/officeDocument/2006/relationships" id="256" r:id="Re4f416e4446743ce"/>
    <p:sldId xmlns:r="http://schemas.openxmlformats.org/officeDocument/2006/relationships" id="257" r:id="R08eaf91231924e56"/>
    <p:sldId xmlns:r="http://schemas.openxmlformats.org/officeDocument/2006/relationships" id="258" r:id="R0d3a85617cb24701"/>
    <p:sldId xmlns:r="http://schemas.openxmlformats.org/officeDocument/2006/relationships" id="259" r:id="R15426c7dc802407e"/>
    <p:sldId xmlns:r="http://schemas.openxmlformats.org/officeDocument/2006/relationships" id="260" r:id="R2c097606fe934ce3"/>
    <p:sldId xmlns:r="http://schemas.openxmlformats.org/officeDocument/2006/relationships" id="261" r:id="R2e76c0faca404399"/>
    <p:sldId xmlns:r="http://schemas.openxmlformats.org/officeDocument/2006/relationships" id="262" r:id="Rce4108f76cbc4df4"/>
    <p:sldId xmlns:r="http://schemas.openxmlformats.org/officeDocument/2006/relationships" id="263" r:id="R936d17e37d7240f8"/>
    <p:sldId xmlns:r="http://schemas.openxmlformats.org/officeDocument/2006/relationships" id="264" r:id="R57dc7283bccb4f2e"/>
    <p:sldId xmlns:r="http://schemas.openxmlformats.org/officeDocument/2006/relationships" id="265" r:id="Rcb6867d336074c82"/>
    <p:sldId xmlns:r="http://schemas.openxmlformats.org/officeDocument/2006/relationships" id="266" r:id="R8df67e7db94742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bed5a3556b4896" /><Relationship Type="http://schemas.openxmlformats.org/officeDocument/2006/relationships/slideMaster" Target="/ppt/slideMasters/slideMaster1.xml" Id="R83ae607b912546c7" /><Relationship Type="http://schemas.openxmlformats.org/officeDocument/2006/relationships/notesMaster" Target="/ppt/notesMasters/notesMaster1.xml" Id="Rdebd13f238fa4d90" /><Relationship Type="http://schemas.openxmlformats.org/officeDocument/2006/relationships/presProps" Target="/ppt/presProps.xml" Id="Ra739de3283234e45" /><Relationship Type="http://schemas.openxmlformats.org/officeDocument/2006/relationships/tableStyles" Target="/ppt/tableStyles.xml" Id="Re4ae9324f131496d" /><Relationship Type="http://schemas.openxmlformats.org/officeDocument/2006/relationships/slide" Target="/ppt/slides/slide1.xml" Id="Re4f416e4446743ce" /><Relationship Type="http://schemas.openxmlformats.org/officeDocument/2006/relationships/slide" Target="/ppt/slides/slide2.xml" Id="R08eaf91231924e56" /><Relationship Type="http://schemas.openxmlformats.org/officeDocument/2006/relationships/slide" Target="/ppt/slides/slide3.xml" Id="R0d3a85617cb24701" /><Relationship Type="http://schemas.openxmlformats.org/officeDocument/2006/relationships/slide" Target="/ppt/slides/slide4.xml" Id="R15426c7dc802407e" /><Relationship Type="http://schemas.openxmlformats.org/officeDocument/2006/relationships/slide" Target="/ppt/slides/slide5.xml" Id="R2c097606fe934ce3" /><Relationship Type="http://schemas.openxmlformats.org/officeDocument/2006/relationships/slide" Target="/ppt/slides/slide6.xml" Id="R2e76c0faca404399" /><Relationship Type="http://schemas.openxmlformats.org/officeDocument/2006/relationships/slide" Target="/ppt/slides/slide7.xml" Id="Rce4108f76cbc4df4" /><Relationship Type="http://schemas.openxmlformats.org/officeDocument/2006/relationships/slide" Target="/ppt/slides/slide8.xml" Id="R936d17e37d7240f8" /><Relationship Type="http://schemas.openxmlformats.org/officeDocument/2006/relationships/slide" Target="/ppt/slides/slide9.xml" Id="R57dc7283bccb4f2e" /><Relationship Type="http://schemas.openxmlformats.org/officeDocument/2006/relationships/slide" Target="/ppt/slides/slide10.xml" Id="Rcb6867d336074c82" /><Relationship Type="http://schemas.openxmlformats.org/officeDocument/2006/relationships/slide" Target="/ppt/slides/slide11.xml" Id="R8df67e7db94742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506a3be5a44d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3bdc0b39bb49d1" /><Relationship Type="http://schemas.openxmlformats.org/officeDocument/2006/relationships/notesMaster" Target="/ppt/notesMasters/notesMaster1.xml" Id="R7769959692d845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e99afb24634079" /><Relationship Type="http://schemas.openxmlformats.org/officeDocument/2006/relationships/notesMaster" Target="/ppt/notesMasters/notesMaster1.xml" Id="Ra68fe511cd4f46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5a554a39dd4626" /><Relationship Type="http://schemas.openxmlformats.org/officeDocument/2006/relationships/notesMaster" Target="/ppt/notesMasters/notesMaster1.xml" Id="Rbd1c675aabd04b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84da4e84794dc7" /><Relationship Type="http://schemas.openxmlformats.org/officeDocument/2006/relationships/notesMaster" Target="/ppt/notesMasters/notesMaster1.xml" Id="R6ae9959736a248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9980a9a5df47a2" /><Relationship Type="http://schemas.openxmlformats.org/officeDocument/2006/relationships/notesMaster" Target="/ppt/notesMasters/notesMaster1.xml" Id="R2cbd70ee47f541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d811a5bcc1429d" /><Relationship Type="http://schemas.openxmlformats.org/officeDocument/2006/relationships/notesMaster" Target="/ppt/notesMasters/notesMaster1.xml" Id="R8d8132a0016840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93d4dec1cc4201" /><Relationship Type="http://schemas.openxmlformats.org/officeDocument/2006/relationships/notesMaster" Target="/ppt/notesMasters/notesMaster1.xml" Id="Ra6e1eba585e848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7df049ae6b4e72" /><Relationship Type="http://schemas.openxmlformats.org/officeDocument/2006/relationships/notesMaster" Target="/ppt/notesMasters/notesMaster1.xml" Id="R20d42f7c946b42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e23e5c5ce44ec1" /><Relationship Type="http://schemas.openxmlformats.org/officeDocument/2006/relationships/notesMaster" Target="/ppt/notesMasters/notesMaster1.xml" Id="Rb1fc4293221f46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3aa89492a740d6" /><Relationship Type="http://schemas.openxmlformats.org/officeDocument/2006/relationships/notesMaster" Target="/ppt/notesMasters/notesMaster1.xml" Id="Rfd7eeff3213346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c2afa999a2494c" /><Relationship Type="http://schemas.openxmlformats.org/officeDocument/2006/relationships/notesMaster" Target="/ppt/notesMasters/notesMaster1.xml" Id="R0268dc93ee4540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Hallo zusammen. Heute zeige ich meinen aktuellen Stand zum State Interpreter. Meine Hauptfrage ist: Wie kann ich aus einem Embedding einen verständlichen Maschinenzustand machen? Dafür benutze ich zuerst einen kleinen AutoEncoder und den XJTU-SY-Datensatz. So kann ich die Idee einfacher testen. Danach kann der AutoEncoder später durch VibFM ersetzt werden. Ich zeige zuerst den Aufbau, dann den State Interpreter, danach die zwei Experimente und am Ende den nächsten Schritt.</a:t>
            </a:r>
          </a:p>
          <a:p xmlns:a="http://schemas.openxmlformats.org/drawingml/2006/main">
            <a:r>
              <a:t/>
            </a:r>
          </a:p>
          <a:p xmlns:a="http://schemas.openxmlformats.org/drawingml/2006/main">
            <a:r>
              <a:t>[Sources]</a:t>
            </a:r>
          </a:p>
          <a:p xmlns:a="http://schemas.openxmlformats.org/drawingml/2006/main">
            <a:r>
              <a:t>- Interne Projektdokumentation: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sieht man das Grundproblem. Der Encoder gibt nur einen Vektor aus, zum Beispiel diese Zahlen links. Der Vektor ist kompakt, aber man kann ihn nicht direkt verstehen. Er sagt nicht: Die Maschine ist noch gesund oder sie verändert sich gerade schnell. Deshalb brauche ich den State Interpreter. Er kommt nach dem Encoder. Er macht aus dem Embedding drei einfache Informationen: Abstand, Trend und Bewegung. Der Encoder und der Interpreter haben also zwei verschiedene Aufgaben.</a:t>
            </a:r>
          </a:p>
          <a:p xmlns:a="http://schemas.openxmlformats.org/drawingml/2006/main">
            <a:r>
              <a:t/>
            </a:r>
          </a:p>
          <a:p xmlns:a="http://schemas.openxmlformats.org/drawingml/2006/main">
            <a:r>
              <a:t>[Sources]</a:t>
            </a:r>
          </a:p>
          <a:p xmlns:a="http://schemas.openxmlformats.org/drawingml/2006/main">
            <a:r>
              <a:t>- Interne Systemdefinition: docs/state_interpreter/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ist der ganze Ablauf. Zuerst kommt das Schwingungssignal. Mit der STFT mache ich daraus ein Zeit-Frequenz-Bild. Der AutoEncoder komprimiert dieses Bild auf acht Zahlen. Diese acht Zahlen sind z. Danach benutzt der State Interpreter die z-Vektoren in ihrer Zeitreihenfolge. Am Ende bekomme ich Level, Trend und Movement. Wichtig ist die Trennung: Der AutoEncoder lernt das Embedding. Der Interpreter erklärt das Embedding. Später kann ich den AutoEncoder durch VibFM ersetzen. Der Interpreter kann dabei gleich bleiben.</a:t>
            </a:r>
          </a:p>
          <a:p xmlns:a="http://schemas.openxmlformats.org/drawingml/2006/main">
            <a:r>
              <a:t/>
            </a:r>
          </a:p>
          <a:p xmlns:a="http://schemas.openxmlformats.org/drawingml/2006/main">
            <a:r>
              <a:t>[Sources]</a:t>
            </a:r>
          </a:p>
          <a:p xmlns:a="http://schemas.openxmlformats.org/drawingml/2006/main">
            <a:r>
              <a:t>- Interne Architekturübersicht: README_DE.md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den ersten Test benutze ich XJTU-SY. Der Datensatz hat 15 Bearings in drei Betriebsbedingungen. Bei jedem Bearing gibt es viele Messungen vom Anfang bis zum Ausfall. Deshalb kann ich sehen, wie sich das Embedding mit der Zeit verändert. Jede Messung hat zwei Schwingungskanäle. Mit der STFT mache ich daraus zwei Bilder mit 32 mal 32 Punkten. Die Parameter stehen unten rechts. Der AutoEncoder soll diese Bilder rekonstruieren und dabei einen kleinen Raum mit acht Dimensionen lernen.</a:t>
            </a:r>
          </a:p>
          <a:p xmlns:a="http://schemas.openxmlformats.org/drawingml/2006/main">
            <a:r>
              <a:t/>
            </a:r>
          </a:p>
          <a:p xmlns:a="http://schemas.openxmlformats.org/drawingml/2006/main">
            <a:r>
              <a:t>[Sources]</a:t>
            </a:r>
          </a:p>
          <a:p xmlns:a="http://schemas.openxmlformats.org/drawingml/2006/main">
            <a:r>
              <a:t>- XJTU-SY Bearing Dataset</a:t>
            </a:r>
          </a:p>
          <a:p xmlns:a="http://schemas.openxmlformats.org/drawingml/2006/main">
            <a:r>
              <a:t>- Interne Preprocessing-Konfiguration: n_fft=1024, hop_length=512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erster State Interpreter ist noch kein neues neuronales Netz. Er berechnet drei Werte. Level ist der Abstand zum frühen Zustand des gleichen Bearings. Ein kleines Level bedeutet: Der aktuelle Punkt ist noch nah am Anfang. Trend zeigt, ob Level in den letzten Messungen steigt oder fällt. Movement zeigt, wie stark sich zwei aufeinanderfolgende z-Punkte bewegen. Die ersten 15 Messungen benutze ich zur Kalibrierung. Danach ist der Interpreter bereit. Für Trend und Movement benutze ich ein Fenster mit zehn Messungen.</a:t>
            </a:r>
          </a:p>
          <a:p xmlns:a="http://schemas.openxmlformats.org/drawingml/2006/main">
            <a:r>
              <a:t/>
            </a:r>
          </a:p>
          <a:p xmlns:a="http://schemas.openxmlformats.org/drawingml/2006/main">
            <a:r>
              <a:t>[Sources]</a:t>
            </a:r>
          </a:p>
          <a:p xmlns:a="http://schemas.openxmlformats.org/drawingml/2006/main">
            <a:r>
              <a:t>- Interne Interpreter-Konfiguration: calibration_steps=15, temporal_window=10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vergleiche ich zwei Varianten. Arm A benutzt alles aus der ersten Betriebsbedingung: die Normalisierung, den AutoEncoder und den gleichen Interpreter. Es gibt kein neues Training. Damit prüfe ich die direkte Übertragung. In Arm B trainiere ich nur den AutoEncoder für die zweite Betriebsbedingung neu. Der State Interpreter bleibt genau gleich. So kann ich sehen, ob ein besser passendes Embedding hilft. Bearing2_5 benutze ich in dieser Phase noch nicht. Es bleibt für den Blind-Test geschlossen.</a:t>
            </a:r>
          </a:p>
          <a:p xmlns:a="http://schemas.openxmlformats.org/drawingml/2006/main">
            <a:r>
              <a:t/>
            </a:r>
          </a:p>
          <a:p xmlns:a="http://schemas.openxmlformats.org/drawingml/2006/main">
            <a:r>
              <a:t>[Sources]</a:t>
            </a:r>
          </a:p>
          <a:p xmlns:a="http://schemas.openxmlformats.org/drawingml/2006/main">
            <a:r>
              <a:t>- Interne Präregistrierung: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sieht man das Training von Arm B. Für Training und Normalisierung benutze ich nur Bearing2_1 bis Bearing2_3. Das sind 1.185 Messungen. Bearing2_4 ist die Validierung. Bearing2_5 wurde nicht gelesen. Nach fünf Epochen ist die Trainings-MSE deutlich kleiner. Das beste Ergebnis auf der Validierung kommt in Epoch vier. In Epoch fünf wird es leicht schlechter. Deshalb speichere ich Epoch vier und ändere nichts mehr. Diese Zahlen zeigen nur, dass der AutoEncoder gut rekonstruiert. Ob der State gut ist, prüfe ich erst danach.</a:t>
            </a:r>
          </a:p>
          <a:p xmlns:a="http://schemas.openxmlformats.org/drawingml/2006/main">
            <a:r>
              <a:t/>
            </a:r>
          </a:p>
          <a:p xmlns:a="http://schemas.openxmlformats.org/drawingml/2006/main">
            <a:r>
              <a:t>[Sources]</a:t>
            </a:r>
          </a:p>
          <a:p xmlns:a="http://schemas.openxmlformats.org/drawingml/2006/main">
            <a:r>
              <a:t>- runs/arm_b_autoencoder_20260802/training_report.json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kommen die Ergebnisse. Ich vergleiche Level mit der normierten Lebensdauer. Dafür benutze ich die Spearman-Korrelation. Bei allen vier Bearings ist die Korrelation positiv. Das bedeutet: Level wird im Allgemeinen mit der Zeit größer. Arm A funktioniert bei den ersten drei Bearings schon gut. Der größte Unterschied ist bei Bearing2_4. Dort steigt der Wert von 0,681 auf 0,993. Im Mittel verbessert Arm B den Wert um 0,087. Wichtig: Das sind noch Entwicklungsdaten und noch kein Blind-Ergebnis.</a:t>
            </a:r>
          </a:p>
          <a:p xmlns:a="http://schemas.openxmlformats.org/drawingml/2006/main">
            <a:r>
              <a:t/>
            </a:r>
          </a:p>
          <a:p xmlns:a="http://schemas.openxmlformats.org/drawingml/2006/main">
            <a:r>
              <a:t>[Sources]</a:t>
            </a:r>
          </a:p>
          <a:p xmlns:a="http://schemas.openxmlformats.org/drawingml/2006/main">
            <a:r>
              <a:t>- runs/arm_a_direct_generalization_dev_20260802/development_report.json</a:t>
            </a:r>
          </a:p>
          <a:p xmlns:a="http://schemas.openxmlformats.org/drawingml/2006/main">
            <a:r>
              <a:t>- runs/arm_b_adapted_encoder_dev_20260802/development_report.json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 dem echten Blind-Test habe ich den ganzen Ablauf mit Bearing2_4 getestet. Die Daten werden nur einmal geladen. Danach bekommen Arm A und Arm B genau die gleichen Messungen. Die Ergebnisse sind genau gleich wie bei den früheren einzelnen Tests. Der Fehler bei der Reproduktion ist null. Außerdem laufen 66 automatische Tests erfolgreich. Bearing2_5 ist weiter geschlossen. Ich habe davon keine Kurven und keine Kennzahlen gesehen. Damit ist der Ablauf bereit, ohne den Blind-Test vorher zu öffnen.</a:t>
            </a:r>
          </a:p>
          <a:p xmlns:a="http://schemas.openxmlformats.org/drawingml/2006/main">
            <a:r>
              <a:t/>
            </a:r>
          </a:p>
          <a:p xmlns:a="http://schemas.openxmlformats.org/drawingml/2006/main">
            <a:r>
              <a:t>[Sources]</a:t>
            </a:r>
          </a:p>
          <a:p xmlns:a="http://schemas.openxmlformats.org/drawingml/2006/main">
            <a:r>
              <a:t>- runs/joint_evaluation_rehearsal_bearing2_4_20260802/joint_report.json</a:t>
            </a:r>
          </a:p>
          <a:p xmlns:a="http://schemas.openxmlformats.org/drawingml/2006/main">
            <a:r>
              <a:t>- Interne Testsuite: 66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 kann ich bisher sagen? Erstens: Der kleine AutoEncoder erzeugt einen Raum, der eine zeitliche Struktur hat. Zweitens: Der gleiche Interpreter funktioniert mit beiden Encodern. Drittens: Ein neu trainierter Encoder kann bei einem schwierigen Bearing helfen. Aber es gibt klare Grenzen. Level ist kein echter physikalischer Schadenswert. Eine gute Korrelation bei bekannten Bearings beweist noch keine gute Übertragung auf neue Bearings. Und ob dieser State später für RL gut ist, muss noch mit einer echten RL-Aufgabe getestet werden.</a:t>
            </a:r>
          </a:p>
          <a:p xmlns:a="http://schemas.openxmlformats.org/drawingml/2006/main">
            <a:r>
              <a:t/>
            </a:r>
          </a:p>
          <a:p xmlns:a="http://schemas.openxmlformats.org/drawingml/2006/main">
            <a:r>
              <a:t>[Sources]</a:t>
            </a:r>
          </a:p>
          <a:p xmlns:a="http://schemas.openxmlformats.org/drawingml/2006/main">
            <a:r>
              <a:t>- Interne Ergebnisinterpretation: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nächste Schritt ist der Blind-Test mit Bearing2_5. Vorher speichere und dokumentiere ich die Konfiguration, die Checkpoints und ihre Hashes. Dann lade ich Bearing2_5 einmal und führe Arm A und Arm B zusammen aus. Danach berichte ich die beiden Korrelationen und den Unterschied. Ich ändere die Parameter nach dem Ergebnis nicht mehr. Meine Frage für die Diskussion ist: Soll dieser Blind-Test jetzt der nächste Meilenstein sein? Danach könnten wir weitere Interpreter testen oder später zu VibFM wechseln.</a:t>
            </a:r>
          </a:p>
          <a:p xmlns:a="http://schemas.openxmlformats.org/drawingml/2006/main">
            <a:r>
              <a:t/>
            </a:r>
          </a:p>
          <a:p xmlns:a="http://schemas.openxmlformats.org/drawingml/2006/main">
            <a:r>
              <a:t>[Sources]</a:t>
            </a:r>
          </a:p>
          <a:p xmlns:a="http://schemas.openxmlformats.org/drawingml/2006/main">
            <a:r>
              <a:t>- Interner Evaluationsplan: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33149092a643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e190ad747748e9" /><Relationship Type="http://schemas.openxmlformats.org/officeDocument/2006/relationships/slideLayout" Target="/ppt/slideLayouts/slideLayout1.xml" Id="R4ccf0e10eb384a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cf0e10eb384a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626fcc73094e36" /><Relationship Type="http://schemas.openxmlformats.org/officeDocument/2006/relationships/notesSlide" Target="/ppt/notesSlides/notesSlide1.xml" Id="R7a170c3010fd43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04bd49c96649d2" /><Relationship Type="http://schemas.openxmlformats.org/officeDocument/2006/relationships/notesSlide" Target="/ppt/notesSlides/notesSlide2.xml" Id="Ra31c46278d2f4f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e23985292845d5" /><Relationship Type="http://schemas.openxmlformats.org/officeDocument/2006/relationships/notesSlide" Target="/ppt/notesSlides/notesSlide3.xml" Id="R71d8563caab043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e0445989024a54" /><Relationship Type="http://schemas.openxmlformats.org/officeDocument/2006/relationships/notesSlide" Target="/ppt/notesSlides/notesSlide4.xml" Id="Rffdb86fcde2740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5a3a39228241ce" /><Relationship Type="http://schemas.openxmlformats.org/officeDocument/2006/relationships/notesSlide" Target="/ppt/notesSlides/notesSlide5.xml" Id="R328bef7b683742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3ca863a2dd488c" /><Relationship Type="http://schemas.openxmlformats.org/officeDocument/2006/relationships/notesSlide" Target="/ppt/notesSlides/notesSlide6.xml" Id="Rdb0053c89f2e40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6839ca23e14c49" /><Relationship Type="http://schemas.openxmlformats.org/officeDocument/2006/relationships/notesSlide" Target="/ppt/notesSlides/notesSlide7.xml" Id="R37415987730940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0658df85564f38" /><Relationship Type="http://schemas.openxmlformats.org/officeDocument/2006/relationships/chart" Target="/ppt/slides/charts/chart1.xml" Id="R3d5321f1c3c84a95" /><Relationship Type="http://schemas.openxmlformats.org/officeDocument/2006/relationships/notesSlide" Target="/ppt/notesSlides/notesSlide8.xml" Id="R4c15fc689c524c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67ebb0124e432a" /><Relationship Type="http://schemas.openxmlformats.org/officeDocument/2006/relationships/notesSlide" Target="/ppt/notesSlides/notesSlide9.xml" Id="R3be2f35d140b4a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3bc921760c4628" /><Relationship Type="http://schemas.openxmlformats.org/officeDocument/2006/relationships/notesSlide" Target="/ppt/notesSlides/notesSlide10.xml" Id="R9df3cef12a6748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007e9660ff44b2" /><Relationship Type="http://schemas.openxmlformats.org/officeDocument/2006/relationships/notesSlide" Target="/ppt/notesSlides/notesSlide11.xml" Id="R1e2fbe9cbb4044b3"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Spearman ρ: Level vs. normierte Lebensdauer</a:t>
            </a:r>
          </a:p>
        </c:rich>
      </c:tx>
      <c:overlay val="0"/>
    </c:title>
    <c:plotArea>
      <c:barChart>
        <c:barDir val="col"/>
        <c:varyColors val="0"/>
        <c:ser>
          <c:idx val="0"/>
          <c:order val="0"/>
          <c:tx>
            <c:v>Arm A</c:v>
          </c:tx>
          <c:spPr>
            <a:solidFill xmlns:a="http://schemas.openxmlformats.org/drawingml/2006/main">
              <a:srgbClr val="3D8DFF"/>
            </a:solidFill>
          </c:spPr>
          <c:cat>
            <c:strLit>
              <c:ptCount val="4"/>
              <c:pt idx="0">
                <c:v>B2_1</c:v>
              </c:pt>
              <c:pt idx="1">
                <c:v>B2_2</c:v>
              </c:pt>
              <c:pt idx="2">
                <c:v>B2_3</c:v>
              </c:pt>
              <c:pt idx="3">
                <c:v>B2_4</c:v>
              </c:pt>
            </c:strLit>
          </c:cat>
          <c:val>
            <c:numLit>
              <c:formatCode>General</c:formatCode>
              <c:ptCount val="4"/>
              <c:pt idx="0">
                <c:v>0.887</c:v>
              </c:pt>
              <c:pt idx="1">
                <c:v>0.991</c:v>
              </c:pt>
              <c:pt idx="2">
                <c:v>0.974</c:v>
              </c:pt>
              <c:pt idx="3">
                <c:v>0.681</c:v>
              </c:pt>
            </c:numLit>
          </c:val>
        </c:ser>
        <c:ser>
          <c:idx val="1"/>
          <c:order val="1"/>
          <c:tx>
            <c:v>Arm B</c:v>
          </c:tx>
          <c:spPr>
            <a:solidFill xmlns:a="http://schemas.openxmlformats.org/drawingml/2006/main">
              <a:srgbClr val="39A96B"/>
            </a:solidFill>
          </c:spPr>
          <c:cat>
            <c:strLit>
              <c:ptCount val="4"/>
              <c:pt idx="0">
                <c:v>B2_1</c:v>
              </c:pt>
              <c:pt idx="1">
                <c:v>B2_2</c:v>
              </c:pt>
              <c:pt idx="2">
                <c:v>B2_3</c:v>
              </c:pt>
              <c:pt idx="3">
                <c:v>B2_4</c:v>
              </c:pt>
            </c:strLit>
          </c:cat>
          <c:val>
            <c:numLit>
              <c:formatCode>General</c:formatCode>
              <c:ptCount val="4"/>
              <c:pt idx="0">
                <c:v>0.914</c:v>
              </c:pt>
              <c:pt idx="1">
                <c:v>0.994</c:v>
              </c:pt>
              <c:pt idx="2">
                <c:v>0.979</c:v>
              </c:pt>
              <c:pt idx="3">
                <c:v>0.993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9DE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2"/>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DB4B23-117F-4297-A0DC-782FCD9C794F}"/>
              </a:ext>
            </a:extLst>
          </p:cNvPr>
          <p:cNvSpPr>
            <a:spLocks xmlns:a="http://schemas.openxmlformats.org/drawingml/2006/main" noGrp="1"/>
          </p:cNvSpPr>
          <p:nvPr/>
        </p:nvSpPr>
        <p:spPr>
          <a:xfrm xmlns:a="http://schemas.openxmlformats.org/drawingml/2006/main">
            <a:off x="609600" y="552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3D8DFF"/>
                </a:solidFill>
              </a:defRPr>
            </a:pPr>
            <a:r>
              <a:rPr sz="1050"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3422B748-4F96-4E10-957C-98100A3E1D33}"/>
              </a:ext>
            </a:extLst>
          </p:cNvPr>
          <p:cNvSpPr>
            <a:spLocks xmlns:a="http://schemas.openxmlformats.org/drawingml/2006/main" noGrp="1"/>
          </p:cNvSpPr>
          <p:nvPr/>
        </p:nvSpPr>
        <p:spPr>
          <a:xfrm xmlns:a="http://schemas.openxmlformats.org/drawingml/2006/main">
            <a:off x="609600" y="1524000"/>
            <a:ext cx="7239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900" b="1">
                <a:solidFill>
                  <a:srgbClr val="101318"/>
                </a:solidFill>
              </a:defRPr>
            </a:pPr>
            <a:r>
              <a:rPr sz="3900" b="1">
                <a:solidFill>
                  <a:srgbClr val="101318"/>
                </a:solidFill>
              </a:rPr>
              <a:t>Vom latenten Raum</a:t>
            </a:r>
          </a:p>
          <a:p xmlns:a="http://schemas.openxmlformats.org/drawingml/2006/main">
            <a:pPr algn="l">
              <a:buNone/>
              <a:defRPr sz="3900" b="1">
                <a:solidFill>
                  <a:srgbClr val="101318"/>
                </a:solidFill>
              </a:defRPr>
            </a:pPr>
            <a:r>
              <a:rPr sz="3900" b="1">
                <a:solidFill>
                  <a:srgbClr val="101318"/>
                </a:solidFill>
              </a:rPr>
              <a:t>zum interpretierbaren</a:t>
            </a:r>
          </a:p>
          <a:p xmlns:a="http://schemas.openxmlformats.org/drawingml/2006/main">
            <a:pPr algn="l">
              <a:buNone/>
              <a:defRPr sz="3900" b="1">
                <a:solidFill>
                  <a:srgbClr val="101318"/>
                </a:solidFill>
              </a:defRPr>
            </a:pPr>
            <a:r>
              <a:rPr sz="3900" b="1">
                <a:solidFill>
                  <a:srgbClr val="101318"/>
                </a:solidFill>
              </a:rPr>
              <a:t>Maschinenzustand</a:t>
            </a:r>
          </a:p>
        </p:txBody>
      </p:sp>
      <p:sp>
        <p:nvSpPr>
          <p:cNvPr id="3" name="">
            <a:extLst xmlns:a="http://schemas.openxmlformats.org/drawingml/2006/main">
              <a:ext uri="{FF2B5EF4-FFF2-40B4-BE49-F238E27FC236}">
                <a16:creationId xmlns:a16="http://schemas.microsoft.com/office/drawing/2014/main" id="{86A83DF1-CD9C-4A8F-B65B-6CDBB66AA654}"/>
              </a:ext>
            </a:extLst>
          </p:cNvPr>
          <p:cNvSpPr>
            <a:spLocks xmlns:a="http://schemas.openxmlformats.org/drawingml/2006/main" noGrp="1"/>
          </p:cNvSpPr>
          <p:nvPr/>
        </p:nvSpPr>
        <p:spPr>
          <a:xfrm xmlns:a="http://schemas.openxmlformats.org/drawingml/2006/main">
            <a:off x="647700" y="42862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Arbeitsstand · XJTU-SY · AutoEncoder z = 8</a:t>
            </a:r>
          </a:p>
        </p:txBody>
      </p:sp>
      <p:sp>
        <p:nvSpPr>
          <p:cNvPr id="4" name="">
            <a:extLst xmlns:a="http://schemas.openxmlformats.org/drawingml/2006/main">
              <a:ext uri="{FF2B5EF4-FFF2-40B4-BE49-F238E27FC236}">
                <a16:creationId xmlns:a16="http://schemas.microsoft.com/office/drawing/2014/main" id="{845AF5C4-775C-43AA-92EA-964B4BA60960}"/>
              </a:ext>
            </a:extLst>
          </p:cNvPr>
          <p:cNvSpPr>
            <a:spLocks xmlns:a="http://schemas.openxmlformats.org/drawingml/2006/main" noGrp="1"/>
          </p:cNvSpPr>
          <p:nvPr/>
        </p:nvSpPr>
        <p:spPr>
          <a:xfrm xmlns:a="http://schemas.openxmlformats.org/drawingml/2006/main">
            <a:off x="8743950" y="1047750"/>
            <a:ext cx="2381250" cy="4000500"/>
          </a:xfrm>
          <a:prstGeom xmlns:a="http://schemas.openxmlformats.org/drawingml/2006/main" prst="roundRect">
            <a:avLst>
              <a:gd name="adj" fmla="val 6400"/>
            </a:avLst>
          </a:prstGeom>
          <a:solidFill xmlns:a="http://schemas.openxmlformats.org/drawingml/2006/main">
            <a:srgbClr val="222831"/>
          </a:solidFill>
          <a:ln xmlns:a="http://schemas.openxmlformats.org/drawingml/2006/main" w="9525">
            <a:solidFill>
              <a:srgbClr val="222831"/>
            </a:solidFill>
            <a:prstDash val="solid"/>
          </a:ln>
        </p:spPr>
      </p:sp>
      <p:sp>
        <p:nvSpPr>
          <p:cNvPr id="5" name="">
            <a:extLst xmlns:a="http://schemas.openxmlformats.org/drawingml/2006/main">
              <a:ext uri="{FF2B5EF4-FFF2-40B4-BE49-F238E27FC236}">
                <a16:creationId xmlns:a16="http://schemas.microsoft.com/office/drawing/2014/main" id="{FACDC9EB-7522-4B7C-999D-6AFF7699CFC6}"/>
              </a:ext>
            </a:extLst>
          </p:cNvPr>
          <p:cNvSpPr>
            <a:spLocks xmlns:a="http://schemas.openxmlformats.org/drawingml/2006/main" noGrp="1"/>
          </p:cNvSpPr>
          <p:nvPr/>
        </p:nvSpPr>
        <p:spPr>
          <a:xfrm xmlns:a="http://schemas.openxmlformats.org/drawingml/2006/main">
            <a:off x="9353550" y="1714500"/>
            <a:ext cx="114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5400" b="1">
                <a:solidFill>
                  <a:srgbClr val="FFFFFF"/>
                </a:solidFill>
              </a:defRPr>
            </a:pPr>
            <a:r>
              <a:rPr sz="5400" b="1">
                <a:solidFill>
                  <a:srgbClr val="FFFFFF"/>
                </a:solidFill>
              </a:rPr>
              <a:t>z</a:t>
            </a:r>
          </a:p>
        </p:txBody>
      </p:sp>
      <p:sp>
        <p:nvSpPr>
          <p:cNvPr id="6" name="">
            <a:extLst xmlns:a="http://schemas.openxmlformats.org/drawingml/2006/main">
              <a:ext uri="{FF2B5EF4-FFF2-40B4-BE49-F238E27FC236}">
                <a16:creationId xmlns:a16="http://schemas.microsoft.com/office/drawing/2014/main" id="{CFFAEE3A-ADFB-46D2-99B7-C7E9D12D9EB3}"/>
              </a:ext>
            </a:extLst>
          </p:cNvPr>
          <p:cNvSpPr>
            <a:spLocks xmlns:a="http://schemas.openxmlformats.org/drawingml/2006/main" noGrp="1"/>
          </p:cNvSpPr>
          <p:nvPr/>
        </p:nvSpPr>
        <p:spPr>
          <a:xfrm xmlns:a="http://schemas.openxmlformats.org/drawingml/2006/main">
            <a:off x="9448800" y="2619375"/>
            <a:ext cx="95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850" b="1">
                <a:solidFill>
                  <a:srgbClr val="6DCBF4"/>
                </a:solidFill>
              </a:defRPr>
            </a:pPr>
            <a:r>
              <a:rPr sz="2850" b="1">
                <a:solidFill>
                  <a:srgbClr val="6DCBF4"/>
                </a:solidFill>
              </a:rPr>
              <a:t>→</a:t>
            </a:r>
          </a:p>
        </p:txBody>
      </p:sp>
      <p:sp>
        <p:nvSpPr>
          <p:cNvPr id="7" name="">
            <a:extLst xmlns:a="http://schemas.openxmlformats.org/drawingml/2006/main">
              <a:ext uri="{FF2B5EF4-FFF2-40B4-BE49-F238E27FC236}">
                <a16:creationId xmlns:a16="http://schemas.microsoft.com/office/drawing/2014/main" id="{D49EE8B9-65ED-4C6B-8BDF-560987FDF5F9}"/>
              </a:ext>
            </a:extLst>
          </p:cNvPr>
          <p:cNvSpPr>
            <a:spLocks xmlns:a="http://schemas.openxmlformats.org/drawingml/2006/main" noGrp="1"/>
          </p:cNvSpPr>
          <p:nvPr/>
        </p:nvSpPr>
        <p:spPr>
          <a:xfrm xmlns:a="http://schemas.openxmlformats.org/drawingml/2006/main">
            <a:off x="9048750" y="3238500"/>
            <a:ext cx="1771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Level</a:t>
            </a:r>
          </a:p>
          <a:p xmlns:a="http://schemas.openxmlformats.org/drawingml/2006/main">
            <a:pPr algn="ctr">
              <a:buNone/>
              <a:defRPr sz="2100" b="1">
                <a:solidFill>
                  <a:srgbClr val="FFFFFF"/>
                </a:solidFill>
              </a:defRPr>
            </a:pPr>
            <a:r>
              <a:rPr sz="2100" b="1">
                <a:solidFill>
                  <a:srgbClr val="FFFFFF"/>
                </a:solidFill>
              </a:rPr>
              <a:t>Trend</a:t>
            </a:r>
          </a:p>
          <a:p xmlns:a="http://schemas.openxmlformats.org/drawingml/2006/main">
            <a:pPr algn="ctr">
              <a:buNone/>
              <a:defRPr sz="2100" b="1">
                <a:solidFill>
                  <a:srgbClr val="FFFFFF"/>
                </a:solidFill>
              </a:defRPr>
            </a:pPr>
            <a:r>
              <a:rPr sz="2100" b="1">
                <a:solidFill>
                  <a:srgbClr val="FFFFFF"/>
                </a:solidFill>
              </a:rPr>
              <a:t>Movement</a:t>
            </a:r>
          </a:p>
        </p:txBody>
      </p:sp>
      <p:sp>
        <p:nvSpPr>
          <p:cNvPr id="8" name="">
            <a:extLst xmlns:a="http://schemas.openxmlformats.org/drawingml/2006/main">
              <a:ext uri="{FF2B5EF4-FFF2-40B4-BE49-F238E27FC236}">
                <a16:creationId xmlns:a16="http://schemas.microsoft.com/office/drawing/2014/main" id="{BF194A6E-CC7D-4EC4-8BB1-448675446EFC}"/>
              </a:ext>
            </a:extLst>
          </p:cNvPr>
          <p:cNvSpPr>
            <a:spLocks xmlns:a="http://schemas.openxmlformats.org/drawingml/2006/main" noGrp="1"/>
          </p:cNvSpPr>
          <p:nvPr/>
        </p:nvSpPr>
        <p:spPr>
          <a:xfrm xmlns:a="http://schemas.openxmlformats.org/drawingml/2006/main">
            <a:off x="647700" y="6076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59616D"/>
                </a:solidFill>
              </a:defRPr>
            </a:pPr>
            <a:r>
              <a:rPr sz="1125" b="0">
                <a:solidFill>
                  <a:srgbClr val="59616D"/>
                </a:solidFill>
              </a:rPr>
              <a:t>Yuxin</a:t>
            </a:r>
            <a:r>
              <a:rPr sz="1125" b="0">
                <a:solidFill>
                  <a:srgbClr val="59616D"/>
                </a:solidFill>
              </a:rPr>
              <a:t> · 31.08.2026</a:t>
            </a:r>
          </a:p>
        </p:txBody>
      </p:sp>
    </p:spTree>
    <p:extLst>
      <p:ext uri="{BB962C8B-B14F-4D97-AF65-F5344CB8AC3E}">
        <p14:creationId xmlns:p14="http://schemas.microsoft.com/office/powerpoint/2010/main" val="1667615268"/>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C68CE95-6125-491A-9F0F-B87FDD91C0A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FORSCHUNGSFRAGE</a:t>
            </a:r>
          </a:p>
        </p:txBody>
      </p:sp>
      <p:sp>
        <p:nvSpPr>
          <p:cNvPr id="2" name="">
            <a:extLst xmlns:a="http://schemas.openxmlformats.org/drawingml/2006/main">
              <a:ext uri="{FF2B5EF4-FFF2-40B4-BE49-F238E27FC236}">
                <a16:creationId xmlns:a16="http://schemas.microsoft.com/office/drawing/2014/main" id="{C1C0CCC6-261B-4A62-A45A-03F4F0B93A7B}"/>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Ein Embedding ist noch kein interpretierbarer Zustand</a:t>
            </a:r>
          </a:p>
        </p:txBody>
      </p:sp>
      <p:sp>
        <p:nvSpPr>
          <p:cNvPr id="3" name="">
            <a:extLst xmlns:a="http://schemas.openxmlformats.org/drawingml/2006/main">
              <a:ext uri="{FF2B5EF4-FFF2-40B4-BE49-F238E27FC236}">
                <a16:creationId xmlns:a16="http://schemas.microsoft.com/office/drawing/2014/main" id="{A4964624-3EF8-41EC-A3EA-209E03D2D517}"/>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AC8B5FB7-A47F-46D8-8C07-7E6822FB7FB7}"/>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02</a:t>
            </a:r>
          </a:p>
        </p:txBody>
      </p:sp>
      <p:sp>
        <p:nvSpPr>
          <p:cNvPr id="5" name="">
            <a:extLst xmlns:a="http://schemas.openxmlformats.org/drawingml/2006/main">
              <a:ext uri="{FF2B5EF4-FFF2-40B4-BE49-F238E27FC236}">
                <a16:creationId xmlns:a16="http://schemas.microsoft.com/office/drawing/2014/main" id="{A7DB8C52-B36D-4B4D-9839-D1C63B07436A}"/>
              </a:ext>
            </a:extLst>
          </p:cNvPr>
          <p:cNvSpPr>
            <a:spLocks xmlns:a="http://schemas.openxmlformats.org/drawingml/2006/main" noGrp="1"/>
          </p:cNvSpPr>
          <p:nvPr/>
        </p:nvSpPr>
        <p:spPr>
          <a:xfrm xmlns:a="http://schemas.openxmlformats.org/drawingml/2006/main">
            <a:off x="609600" y="1695450"/>
            <a:ext cx="47625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C56CB4DB-2D37-4002-BBC9-B1D5419EBA1C}"/>
              </a:ext>
            </a:extLst>
          </p:cNvPr>
          <p:cNvSpPr>
            <a:spLocks xmlns:a="http://schemas.openxmlformats.org/drawingml/2006/main" noGrp="1"/>
          </p:cNvSpPr>
          <p:nvPr/>
        </p:nvSpPr>
        <p:spPr>
          <a:xfrm xmlns:a="http://schemas.openxmlformats.org/drawingml/2006/main">
            <a:off x="876300" y="1962150"/>
            <a:ext cx="20955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7" name="">
            <a:extLst xmlns:a="http://schemas.openxmlformats.org/drawingml/2006/main">
              <a:ext uri="{FF2B5EF4-FFF2-40B4-BE49-F238E27FC236}">
                <a16:creationId xmlns:a16="http://schemas.microsoft.com/office/drawing/2014/main" id="{A3406D92-E649-4929-8568-F9940B4841DE}"/>
              </a:ext>
            </a:extLst>
          </p:cNvPr>
          <p:cNvSpPr>
            <a:spLocks xmlns:a="http://schemas.openxmlformats.org/drawingml/2006/main" noGrp="1"/>
          </p:cNvSpPr>
          <p:nvPr/>
        </p:nvSpPr>
        <p:spPr>
          <a:xfrm xmlns:a="http://schemas.openxmlformats.org/drawingml/2006/main">
            <a:off x="990600" y="196215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3D8DFF"/>
                </a:solidFill>
              </a:defRPr>
            </a:pPr>
            <a:r>
              <a:rPr sz="1125" b="1">
                <a:solidFill>
                  <a:srgbClr val="3D8DFF"/>
                </a:solidFill>
              </a:rPr>
              <a:t>LATENTE REPRÄSENTATION</a:t>
            </a:r>
          </a:p>
        </p:txBody>
      </p:sp>
      <p:sp>
        <p:nvSpPr>
          <p:cNvPr id="8" name="">
            <a:extLst xmlns:a="http://schemas.openxmlformats.org/drawingml/2006/main">
              <a:ext uri="{FF2B5EF4-FFF2-40B4-BE49-F238E27FC236}">
                <a16:creationId xmlns:a16="http://schemas.microsoft.com/office/drawing/2014/main" id="{DC9F1DD7-14A4-4B71-8F81-037A9C0F84A7}"/>
              </a:ext>
            </a:extLst>
          </p:cNvPr>
          <p:cNvSpPr>
            <a:spLocks xmlns:a="http://schemas.openxmlformats.org/drawingml/2006/main" noGrp="1"/>
          </p:cNvSpPr>
          <p:nvPr/>
        </p:nvSpPr>
        <p:spPr>
          <a:xfrm xmlns:a="http://schemas.openxmlformats.org/drawingml/2006/main">
            <a:off x="895350" y="2628900"/>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101318"/>
                </a:solidFill>
              </a:defRPr>
            </a:pPr>
            <a:r>
              <a:rPr sz="1950" b="1">
                <a:solidFill>
                  <a:srgbClr val="101318"/>
                </a:solidFill>
              </a:rPr>
              <a:t>z = [0.21, −0.74, 1.03, …]</a:t>
            </a:r>
          </a:p>
        </p:txBody>
      </p:sp>
      <p:sp>
        <p:nvSpPr>
          <p:cNvPr id="9" name="">
            <a:extLst xmlns:a="http://schemas.openxmlformats.org/drawingml/2006/main">
              <a:ext uri="{FF2B5EF4-FFF2-40B4-BE49-F238E27FC236}">
                <a16:creationId xmlns:a16="http://schemas.microsoft.com/office/drawing/2014/main" id="{25AE9C2B-8CF6-4319-92E5-544710201993}"/>
              </a:ext>
            </a:extLst>
          </p:cNvPr>
          <p:cNvSpPr>
            <a:spLocks xmlns:a="http://schemas.openxmlformats.org/drawingml/2006/main" noGrp="1"/>
          </p:cNvSpPr>
          <p:nvPr/>
        </p:nvSpPr>
        <p:spPr>
          <a:xfrm xmlns:a="http://schemas.openxmlformats.org/drawingml/2006/main">
            <a:off x="895350" y="33528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kompakt und lernbar — aber ohne direkte Bedeutung für Wartung oder Regelung</a:t>
            </a:r>
          </a:p>
        </p:txBody>
      </p:sp>
      <p:sp>
        <p:nvSpPr>
          <p:cNvPr id="10" name="">
            <a:extLst xmlns:a="http://schemas.openxmlformats.org/drawingml/2006/main">
              <a:ext uri="{FF2B5EF4-FFF2-40B4-BE49-F238E27FC236}">
                <a16:creationId xmlns:a16="http://schemas.microsoft.com/office/drawing/2014/main" id="{DB05631C-51FC-4094-B003-C05BE6875FD7}"/>
              </a:ext>
            </a:extLst>
          </p:cNvPr>
          <p:cNvSpPr>
            <a:spLocks xmlns:a="http://schemas.openxmlformats.org/drawingml/2006/main" noGrp="1"/>
          </p:cNvSpPr>
          <p:nvPr/>
        </p:nvSpPr>
        <p:spPr>
          <a:xfrm xmlns:a="http://schemas.openxmlformats.org/drawingml/2006/main">
            <a:off x="4248150" y="449580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E35D6A"/>
                </a:solidFill>
              </a:defRPr>
            </a:pPr>
            <a:r>
              <a:rPr sz="3450" b="1">
                <a:solidFill>
                  <a:srgbClr val="E35D6A"/>
                </a:solidFill>
              </a:rPr>
              <a:t>?</a:t>
            </a:r>
          </a:p>
        </p:txBody>
      </p:sp>
      <p:sp>
        <p:nvSpPr>
          <p:cNvPr id="11" name="">
            <a:extLst xmlns:a="http://schemas.openxmlformats.org/drawingml/2006/main">
              <a:ext uri="{FF2B5EF4-FFF2-40B4-BE49-F238E27FC236}">
                <a16:creationId xmlns:a16="http://schemas.microsoft.com/office/drawing/2014/main" id="{268AEB42-FB57-4BD6-8EBD-35F6FC3A7B32}"/>
              </a:ext>
            </a:extLst>
          </p:cNvPr>
          <p:cNvSpPr>
            <a:spLocks xmlns:a="http://schemas.openxmlformats.org/drawingml/2006/main" noGrp="1"/>
          </p:cNvSpPr>
          <p:nvPr/>
        </p:nvSpPr>
        <p:spPr>
          <a:xfrm xmlns:a="http://schemas.openxmlformats.org/drawingml/2006/main">
            <a:off x="5524500" y="31432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3D8DFF"/>
                </a:solidFill>
              </a:defRPr>
            </a:pPr>
            <a:r>
              <a:rPr sz="3450" b="1">
                <a:solidFill>
                  <a:srgbClr val="3D8DFF"/>
                </a:solidFill>
              </a:rPr>
              <a:t>→</a:t>
            </a:r>
          </a:p>
        </p:txBody>
      </p:sp>
      <p:sp>
        <p:nvSpPr>
          <p:cNvPr id="12" name="">
            <a:extLst xmlns:a="http://schemas.openxmlformats.org/drawingml/2006/main">
              <a:ext uri="{FF2B5EF4-FFF2-40B4-BE49-F238E27FC236}">
                <a16:creationId xmlns:a16="http://schemas.microsoft.com/office/drawing/2014/main" id="{8AA6940D-60DB-40F0-A3C4-509B0E632AC3}"/>
              </a:ext>
            </a:extLst>
          </p:cNvPr>
          <p:cNvSpPr>
            <a:spLocks xmlns:a="http://schemas.openxmlformats.org/drawingml/2006/main" noGrp="1"/>
          </p:cNvSpPr>
          <p:nvPr/>
        </p:nvSpPr>
        <p:spPr>
          <a:xfrm xmlns:a="http://schemas.openxmlformats.org/drawingml/2006/main">
            <a:off x="6496050" y="1695450"/>
            <a:ext cx="5086350" cy="3810000"/>
          </a:xfrm>
          <a:prstGeom xmlns:a="http://schemas.openxmlformats.org/drawingml/2006/main" prst="roundRect">
            <a:avLst>
              <a:gd name="adj" fmla="val 300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188E71C0-8982-404D-8AC5-159D9256BC9D}"/>
              </a:ext>
            </a:extLst>
          </p:cNvPr>
          <p:cNvSpPr>
            <a:spLocks xmlns:a="http://schemas.openxmlformats.org/drawingml/2006/main" noGrp="1"/>
          </p:cNvSpPr>
          <p:nvPr/>
        </p:nvSpPr>
        <p:spPr>
          <a:xfrm xmlns:a="http://schemas.openxmlformats.org/drawingml/2006/main">
            <a:off x="6762750" y="1962150"/>
            <a:ext cx="1714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91D0917B-0E2B-4EB4-B938-06E345480AEA}"/>
              </a:ext>
            </a:extLst>
          </p:cNvPr>
          <p:cNvSpPr>
            <a:spLocks xmlns:a="http://schemas.openxmlformats.org/drawingml/2006/main" noGrp="1"/>
          </p:cNvSpPr>
          <p:nvPr/>
        </p:nvSpPr>
        <p:spPr>
          <a:xfrm xmlns:a="http://schemas.openxmlformats.org/drawingml/2006/main">
            <a:off x="6877050" y="19621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NUTZBARER STATE</a:t>
            </a:r>
          </a:p>
        </p:txBody>
      </p:sp>
      <p:sp>
        <p:nvSpPr>
          <p:cNvPr id="15" name="">
            <a:extLst xmlns:a="http://schemas.openxmlformats.org/drawingml/2006/main">
              <a:ext uri="{FF2B5EF4-FFF2-40B4-BE49-F238E27FC236}">
                <a16:creationId xmlns:a16="http://schemas.microsoft.com/office/drawing/2014/main" id="{59BE57B9-9B5D-47DA-8BE0-0B5A0947D466}"/>
              </a:ext>
            </a:extLst>
          </p:cNvPr>
          <p:cNvSpPr>
            <a:spLocks xmlns:a="http://schemas.openxmlformats.org/drawingml/2006/main" noGrp="1"/>
          </p:cNvSpPr>
          <p:nvPr/>
        </p:nvSpPr>
        <p:spPr>
          <a:xfrm xmlns:a="http://schemas.openxmlformats.org/drawingml/2006/main">
            <a:off x="6800850" y="2667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weit vom gesunden Zustand?</a:t>
            </a:r>
          </a:p>
        </p:txBody>
      </p:sp>
      <p:sp>
        <p:nvSpPr>
          <p:cNvPr id="16" name="">
            <a:extLst xmlns:a="http://schemas.openxmlformats.org/drawingml/2006/main">
              <a:ext uri="{FF2B5EF4-FFF2-40B4-BE49-F238E27FC236}">
                <a16:creationId xmlns:a16="http://schemas.microsoft.com/office/drawing/2014/main" id="{573B2D7D-B460-41B8-B3AA-4879547D013C}"/>
              </a:ext>
            </a:extLst>
          </p:cNvPr>
          <p:cNvSpPr>
            <a:spLocks xmlns:a="http://schemas.openxmlformats.org/drawingml/2006/main" noGrp="1"/>
          </p:cNvSpPr>
          <p:nvPr/>
        </p:nvSpPr>
        <p:spPr>
          <a:xfrm xmlns:a="http://schemas.openxmlformats.org/drawingml/2006/main">
            <a:off x="6800850" y="33909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entwickelt sich der Zustand?</a:t>
            </a:r>
          </a:p>
        </p:txBody>
      </p:sp>
      <p:sp>
        <p:nvSpPr>
          <p:cNvPr id="17" name="">
            <a:extLst xmlns:a="http://schemas.openxmlformats.org/drawingml/2006/main">
              <a:ext uri="{FF2B5EF4-FFF2-40B4-BE49-F238E27FC236}">
                <a16:creationId xmlns:a16="http://schemas.microsoft.com/office/drawing/2014/main" id="{9BB4DDC4-197D-49C3-B293-E8FF2666E8CF}"/>
              </a:ext>
            </a:extLst>
          </p:cNvPr>
          <p:cNvSpPr>
            <a:spLocks xmlns:a="http://schemas.openxmlformats.org/drawingml/2006/main" noGrp="1"/>
          </p:cNvSpPr>
          <p:nvPr/>
        </p:nvSpPr>
        <p:spPr>
          <a:xfrm xmlns:a="http://schemas.openxmlformats.org/drawingml/2006/main">
            <a:off x="6800850" y="41148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stark bewegt sich z aktuell?</a:t>
            </a:r>
          </a:p>
        </p:txBody>
      </p:sp>
      <p:sp>
        <p:nvSpPr>
          <p:cNvPr id="18" name="">
            <a:extLst xmlns:a="http://schemas.openxmlformats.org/drawingml/2006/main">
              <a:ext uri="{FF2B5EF4-FFF2-40B4-BE49-F238E27FC236}">
                <a16:creationId xmlns:a16="http://schemas.microsoft.com/office/drawing/2014/main" id="{85F4442F-D612-4611-89DC-0378F5D0D764}"/>
              </a:ext>
            </a:extLst>
          </p:cNvPr>
          <p:cNvSpPr>
            <a:spLocks xmlns:a="http://schemas.openxmlformats.org/drawingml/2006/main" noGrp="1"/>
          </p:cNvSpPr>
          <p:nvPr/>
        </p:nvSpPr>
        <p:spPr>
          <a:xfrm xmlns:a="http://schemas.openxmlformats.org/drawingml/2006/main">
            <a:off x="609600" y="5753100"/>
            <a:ext cx="106680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D9DEE5"/>
            </a:solidFill>
            <a:prstDash val="solid"/>
          </a:ln>
        </p:spPr>
      </p:sp>
      <p:sp>
        <p:nvSpPr>
          <p:cNvPr id="19" name="">
            <a:extLst xmlns:a="http://schemas.openxmlformats.org/drawingml/2006/main">
              <a:ext uri="{FF2B5EF4-FFF2-40B4-BE49-F238E27FC236}">
                <a16:creationId xmlns:a16="http://schemas.microsoft.com/office/drawing/2014/main" id="{D4282B26-4A7A-4C3F-B37D-BDB436C2987A}"/>
              </a:ext>
            </a:extLst>
          </p:cNvPr>
          <p:cNvSpPr>
            <a:spLocks xmlns:a="http://schemas.openxmlformats.org/drawingml/2006/main" noGrp="1"/>
          </p:cNvSpPr>
          <p:nvPr/>
        </p:nvSpPr>
        <p:spPr>
          <a:xfrm xmlns:a="http://schemas.openxmlformats.org/drawingml/2006/main">
            <a:off x="838200" y="5791200"/>
            <a:ext cx="1021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59616D"/>
                </a:solidFill>
              </a:defRPr>
            </a:pPr>
            <a:r>
              <a:rPr sz="1275" b="1">
                <a:solidFill>
                  <a:srgbClr val="59616D"/>
                </a:solidFill>
              </a:rPr>
              <a:t>Zielanforderungen: kompakt · kontinuierlich · zeitlich konsistent · online berechenbar · später für RL nutzbar</a:t>
            </a:r>
          </a:p>
        </p:txBody>
      </p:sp>
    </p:spTree>
    <p:extLst>
      <p:ext uri="{BB962C8B-B14F-4D97-AF65-F5344CB8AC3E}">
        <p14:creationId xmlns:p14="http://schemas.microsoft.com/office/powerpoint/2010/main" val="259624919"/>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CEB62F7-7945-470D-9E3A-2A0A25E462D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SYSTEMIDEE</a:t>
            </a:r>
          </a:p>
        </p:txBody>
      </p:sp>
      <p:sp>
        <p:nvSpPr>
          <p:cNvPr id="2" name="">
            <a:extLst xmlns:a="http://schemas.openxmlformats.org/drawingml/2006/main">
              <a:ext uri="{FF2B5EF4-FFF2-40B4-BE49-F238E27FC236}">
                <a16:creationId xmlns:a16="http://schemas.microsoft.com/office/drawing/2014/main" id="{521D475F-3707-4E11-9269-C98FA2353E50}"/>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Die erste Version trennt Repräsentation und Interpretation</a:t>
            </a:r>
          </a:p>
        </p:txBody>
      </p:sp>
      <p:sp>
        <p:nvSpPr>
          <p:cNvPr id="3" name="">
            <a:extLst xmlns:a="http://schemas.openxmlformats.org/drawingml/2006/main">
              <a:ext uri="{FF2B5EF4-FFF2-40B4-BE49-F238E27FC236}">
                <a16:creationId xmlns:a16="http://schemas.microsoft.com/office/drawing/2014/main" id="{57AEB1EC-7379-4B29-A3EA-BF05E1298F28}"/>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2C0E59E2-CD86-49FC-A869-95374ADF7B95}"/>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03</a:t>
            </a:r>
          </a:p>
        </p:txBody>
      </p:sp>
      <p:sp>
        <p:nvSpPr>
          <p:cNvPr id="5" name="">
            <a:extLst xmlns:a="http://schemas.openxmlformats.org/drawingml/2006/main">
              <a:ext uri="{FF2B5EF4-FFF2-40B4-BE49-F238E27FC236}">
                <a16:creationId xmlns:a16="http://schemas.microsoft.com/office/drawing/2014/main" id="{840977EF-110C-49D2-9B0A-27E179B2CF51}"/>
              </a:ext>
            </a:extLst>
          </p:cNvPr>
          <p:cNvSpPr>
            <a:spLocks xmlns:a="http://schemas.openxmlformats.org/drawingml/2006/main" noGrp="1"/>
          </p:cNvSpPr>
          <p:nvPr/>
        </p:nvSpPr>
        <p:spPr>
          <a:xfrm xmlns:a="http://schemas.openxmlformats.org/drawingml/2006/main">
            <a:off x="60960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774AB1CF-D508-48F5-B549-28B74285C8E4}"/>
              </a:ext>
            </a:extLst>
          </p:cNvPr>
          <p:cNvSpPr>
            <a:spLocks xmlns:a="http://schemas.openxmlformats.org/drawingml/2006/main" noGrp="1"/>
          </p:cNvSpPr>
          <p:nvPr/>
        </p:nvSpPr>
        <p:spPr>
          <a:xfrm xmlns:a="http://schemas.openxmlformats.org/drawingml/2006/main">
            <a:off x="7239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Schwingungs-</a:t>
            </a:r>
          </a:p>
          <a:p xmlns:a="http://schemas.openxmlformats.org/drawingml/2006/main">
            <a:pPr algn="ctr">
              <a:buNone/>
              <a:defRPr sz="1650" b="1">
                <a:solidFill>
                  <a:srgbClr val="101318"/>
                </a:solidFill>
              </a:defRPr>
            </a:pPr>
            <a:r>
              <a:rPr sz="1650" b="1">
                <a:solidFill>
                  <a:srgbClr val="101318"/>
                </a:solidFill>
              </a:rPr>
              <a:t>signal</a:t>
            </a:r>
          </a:p>
        </p:txBody>
      </p:sp>
      <p:sp>
        <p:nvSpPr>
          <p:cNvPr id="7" name="">
            <a:extLst xmlns:a="http://schemas.openxmlformats.org/drawingml/2006/main">
              <a:ext uri="{FF2B5EF4-FFF2-40B4-BE49-F238E27FC236}">
                <a16:creationId xmlns:a16="http://schemas.microsoft.com/office/drawing/2014/main" id="{5B3DDA2C-EEB5-4548-8B99-6FF82E148D34}"/>
              </a:ext>
            </a:extLst>
          </p:cNvPr>
          <p:cNvSpPr>
            <a:spLocks xmlns:a="http://schemas.openxmlformats.org/drawingml/2006/main" noGrp="1"/>
          </p:cNvSpPr>
          <p:nvPr/>
        </p:nvSpPr>
        <p:spPr>
          <a:xfrm xmlns:a="http://schemas.openxmlformats.org/drawingml/2006/main">
            <a:off x="20764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8" name="">
            <a:extLst xmlns:a="http://schemas.openxmlformats.org/drawingml/2006/main">
              <a:ext uri="{FF2B5EF4-FFF2-40B4-BE49-F238E27FC236}">
                <a16:creationId xmlns:a16="http://schemas.microsoft.com/office/drawing/2014/main" id="{6DA295E1-5E25-470A-B171-0623D029EBA3}"/>
              </a:ext>
            </a:extLst>
          </p:cNvPr>
          <p:cNvSpPr>
            <a:spLocks xmlns:a="http://schemas.openxmlformats.org/drawingml/2006/main" noGrp="1"/>
          </p:cNvSpPr>
          <p:nvPr/>
        </p:nvSpPr>
        <p:spPr>
          <a:xfrm xmlns:a="http://schemas.openxmlformats.org/drawingml/2006/main">
            <a:off x="24574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192D8260-8016-4270-8E40-B0F0FB7862C4}"/>
              </a:ext>
            </a:extLst>
          </p:cNvPr>
          <p:cNvSpPr>
            <a:spLocks xmlns:a="http://schemas.openxmlformats.org/drawingml/2006/main" noGrp="1"/>
          </p:cNvSpPr>
          <p:nvPr/>
        </p:nvSpPr>
        <p:spPr>
          <a:xfrm xmlns:a="http://schemas.openxmlformats.org/drawingml/2006/main">
            <a:off x="25717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STFT</a:t>
            </a:r>
          </a:p>
        </p:txBody>
      </p:sp>
      <p:sp>
        <p:nvSpPr>
          <p:cNvPr id="10" name="">
            <a:extLst xmlns:a="http://schemas.openxmlformats.org/drawingml/2006/main">
              <a:ext uri="{FF2B5EF4-FFF2-40B4-BE49-F238E27FC236}">
                <a16:creationId xmlns:a16="http://schemas.microsoft.com/office/drawing/2014/main" id="{94B5EE82-AD86-4249-83F4-897ED68F8926}"/>
              </a:ext>
            </a:extLst>
          </p:cNvPr>
          <p:cNvSpPr>
            <a:spLocks xmlns:a="http://schemas.openxmlformats.org/drawingml/2006/main" noGrp="1"/>
          </p:cNvSpPr>
          <p:nvPr/>
        </p:nvSpPr>
        <p:spPr>
          <a:xfrm xmlns:a="http://schemas.openxmlformats.org/drawingml/2006/main">
            <a:off x="39243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1" name="">
            <a:extLst xmlns:a="http://schemas.openxmlformats.org/drawingml/2006/main">
              <a:ext uri="{FF2B5EF4-FFF2-40B4-BE49-F238E27FC236}">
                <a16:creationId xmlns:a16="http://schemas.microsoft.com/office/drawing/2014/main" id="{3DC953A7-9843-4DE1-80C9-AE083A196184}"/>
              </a:ext>
            </a:extLst>
          </p:cNvPr>
          <p:cNvSpPr>
            <a:spLocks xmlns:a="http://schemas.openxmlformats.org/drawingml/2006/main" noGrp="1"/>
          </p:cNvSpPr>
          <p:nvPr/>
        </p:nvSpPr>
        <p:spPr>
          <a:xfrm xmlns:a="http://schemas.openxmlformats.org/drawingml/2006/main">
            <a:off x="43053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2" name="">
            <a:extLst xmlns:a="http://schemas.openxmlformats.org/drawingml/2006/main">
              <a:ext uri="{FF2B5EF4-FFF2-40B4-BE49-F238E27FC236}">
                <a16:creationId xmlns:a16="http://schemas.microsoft.com/office/drawing/2014/main" id="{124793D9-EDE1-428B-A51E-6A3D13C76872}"/>
              </a:ext>
            </a:extLst>
          </p:cNvPr>
          <p:cNvSpPr>
            <a:spLocks xmlns:a="http://schemas.openxmlformats.org/drawingml/2006/main" noGrp="1"/>
          </p:cNvSpPr>
          <p:nvPr/>
        </p:nvSpPr>
        <p:spPr>
          <a:xfrm xmlns:a="http://schemas.openxmlformats.org/drawingml/2006/main">
            <a:off x="44196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Auto-</a:t>
            </a:r>
          </a:p>
          <a:p xmlns:a="http://schemas.openxmlformats.org/drawingml/2006/main">
            <a:pPr algn="ctr">
              <a:buNone/>
              <a:defRPr sz="1650" b="1">
                <a:solidFill>
                  <a:srgbClr val="101318"/>
                </a:solidFill>
              </a:defRPr>
            </a:pPr>
            <a:r>
              <a:rPr sz="1650" b="1">
                <a:solidFill>
                  <a:srgbClr val="101318"/>
                </a:solidFill>
              </a:rPr>
              <a:t>Encoder</a:t>
            </a:r>
          </a:p>
        </p:txBody>
      </p:sp>
      <p:sp>
        <p:nvSpPr>
          <p:cNvPr id="13" name="">
            <a:extLst xmlns:a="http://schemas.openxmlformats.org/drawingml/2006/main">
              <a:ext uri="{FF2B5EF4-FFF2-40B4-BE49-F238E27FC236}">
                <a16:creationId xmlns:a16="http://schemas.microsoft.com/office/drawing/2014/main" id="{DB54D2C6-AF28-4487-8835-DD42E8AAF00B}"/>
              </a:ext>
            </a:extLst>
          </p:cNvPr>
          <p:cNvSpPr>
            <a:spLocks xmlns:a="http://schemas.openxmlformats.org/drawingml/2006/main" noGrp="1"/>
          </p:cNvSpPr>
          <p:nvPr/>
        </p:nvSpPr>
        <p:spPr>
          <a:xfrm xmlns:a="http://schemas.openxmlformats.org/drawingml/2006/main">
            <a:off x="57721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4" name="">
            <a:extLst xmlns:a="http://schemas.openxmlformats.org/drawingml/2006/main">
              <a:ext uri="{FF2B5EF4-FFF2-40B4-BE49-F238E27FC236}">
                <a16:creationId xmlns:a16="http://schemas.microsoft.com/office/drawing/2014/main" id="{00A2BBE2-066D-4070-959B-2CAD653202FF}"/>
              </a:ext>
            </a:extLst>
          </p:cNvPr>
          <p:cNvSpPr>
            <a:spLocks xmlns:a="http://schemas.openxmlformats.org/drawingml/2006/main" noGrp="1"/>
          </p:cNvSpPr>
          <p:nvPr/>
        </p:nvSpPr>
        <p:spPr>
          <a:xfrm xmlns:a="http://schemas.openxmlformats.org/drawingml/2006/main">
            <a:off x="6153150" y="2305050"/>
            <a:ext cx="1428750" cy="1352550"/>
          </a:xfrm>
          <a:prstGeom xmlns:a="http://schemas.openxmlformats.org/drawingml/2006/main" prst="roundRect">
            <a:avLst>
              <a:gd name="adj" fmla="val 8451"/>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2532069A-B088-4BE9-BD00-A8B6DE999B8F}"/>
              </a:ext>
            </a:extLst>
          </p:cNvPr>
          <p:cNvSpPr>
            <a:spLocks xmlns:a="http://schemas.openxmlformats.org/drawingml/2006/main" noGrp="1"/>
          </p:cNvSpPr>
          <p:nvPr/>
        </p:nvSpPr>
        <p:spPr>
          <a:xfrm xmlns:a="http://schemas.openxmlformats.org/drawingml/2006/main">
            <a:off x="62674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z ∈ ℝ⁸</a:t>
            </a:r>
          </a:p>
        </p:txBody>
      </p:sp>
      <p:sp>
        <p:nvSpPr>
          <p:cNvPr id="16" name="">
            <a:extLst xmlns:a="http://schemas.openxmlformats.org/drawingml/2006/main">
              <a:ext uri="{FF2B5EF4-FFF2-40B4-BE49-F238E27FC236}">
                <a16:creationId xmlns:a16="http://schemas.microsoft.com/office/drawing/2014/main" id="{533E30BD-9DF0-456B-85CA-BF3392663C36}"/>
              </a:ext>
            </a:extLst>
          </p:cNvPr>
          <p:cNvSpPr>
            <a:spLocks xmlns:a="http://schemas.openxmlformats.org/drawingml/2006/main" noGrp="1"/>
          </p:cNvSpPr>
          <p:nvPr/>
        </p:nvSpPr>
        <p:spPr>
          <a:xfrm xmlns:a="http://schemas.openxmlformats.org/drawingml/2006/main">
            <a:off x="76200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7" name="">
            <a:extLst xmlns:a="http://schemas.openxmlformats.org/drawingml/2006/main">
              <a:ext uri="{FF2B5EF4-FFF2-40B4-BE49-F238E27FC236}">
                <a16:creationId xmlns:a16="http://schemas.microsoft.com/office/drawing/2014/main" id="{5BA464E6-74C0-4403-96EC-63F18C5C57CD}"/>
              </a:ext>
            </a:extLst>
          </p:cNvPr>
          <p:cNvSpPr>
            <a:spLocks xmlns:a="http://schemas.openxmlformats.org/drawingml/2006/main" noGrp="1"/>
          </p:cNvSpPr>
          <p:nvPr/>
        </p:nvSpPr>
        <p:spPr>
          <a:xfrm xmlns:a="http://schemas.openxmlformats.org/drawingml/2006/main">
            <a:off x="80010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8" name="">
            <a:extLst xmlns:a="http://schemas.openxmlformats.org/drawingml/2006/main">
              <a:ext uri="{FF2B5EF4-FFF2-40B4-BE49-F238E27FC236}">
                <a16:creationId xmlns:a16="http://schemas.microsoft.com/office/drawing/2014/main" id="{94F87060-6784-4B45-84C6-7401449F4053}"/>
              </a:ext>
            </a:extLst>
          </p:cNvPr>
          <p:cNvSpPr>
            <a:spLocks xmlns:a="http://schemas.openxmlformats.org/drawingml/2006/main" noGrp="1"/>
          </p:cNvSpPr>
          <p:nvPr/>
        </p:nvSpPr>
        <p:spPr>
          <a:xfrm xmlns:a="http://schemas.openxmlformats.org/drawingml/2006/main">
            <a:off x="81153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State</a:t>
            </a:r>
          </a:p>
          <a:p xmlns:a="http://schemas.openxmlformats.org/drawingml/2006/main">
            <a:pPr algn="ctr">
              <a:buNone/>
              <a:defRPr sz="1650" b="1">
                <a:solidFill>
                  <a:srgbClr val="101318"/>
                </a:solidFill>
              </a:defRPr>
            </a:pPr>
            <a:r>
              <a:rPr sz="1650" b="1">
                <a:solidFill>
                  <a:srgbClr val="101318"/>
                </a:solidFill>
              </a:rPr>
              <a:t>Interpreter</a:t>
            </a:r>
          </a:p>
        </p:txBody>
      </p:sp>
      <p:sp>
        <p:nvSpPr>
          <p:cNvPr id="19" name="">
            <a:extLst xmlns:a="http://schemas.openxmlformats.org/drawingml/2006/main">
              <a:ext uri="{FF2B5EF4-FFF2-40B4-BE49-F238E27FC236}">
                <a16:creationId xmlns:a16="http://schemas.microsoft.com/office/drawing/2014/main" id="{CD4B75A7-4E31-4B88-BF8F-EC309C9BA5F5}"/>
              </a:ext>
            </a:extLst>
          </p:cNvPr>
          <p:cNvSpPr>
            <a:spLocks xmlns:a="http://schemas.openxmlformats.org/drawingml/2006/main" noGrp="1"/>
          </p:cNvSpPr>
          <p:nvPr/>
        </p:nvSpPr>
        <p:spPr>
          <a:xfrm xmlns:a="http://schemas.openxmlformats.org/drawingml/2006/main">
            <a:off x="94678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20" name="">
            <a:extLst xmlns:a="http://schemas.openxmlformats.org/drawingml/2006/main">
              <a:ext uri="{FF2B5EF4-FFF2-40B4-BE49-F238E27FC236}">
                <a16:creationId xmlns:a16="http://schemas.microsoft.com/office/drawing/2014/main" id="{C447F30E-E985-4333-8EB9-0F4C223B3233}"/>
              </a:ext>
            </a:extLst>
          </p:cNvPr>
          <p:cNvSpPr>
            <a:spLocks xmlns:a="http://schemas.openxmlformats.org/drawingml/2006/main" noGrp="1"/>
          </p:cNvSpPr>
          <p:nvPr/>
        </p:nvSpPr>
        <p:spPr>
          <a:xfrm xmlns:a="http://schemas.openxmlformats.org/drawingml/2006/main">
            <a:off x="98488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21" name="">
            <a:extLst xmlns:a="http://schemas.openxmlformats.org/drawingml/2006/main">
              <a:ext uri="{FF2B5EF4-FFF2-40B4-BE49-F238E27FC236}">
                <a16:creationId xmlns:a16="http://schemas.microsoft.com/office/drawing/2014/main" id="{41E1D4E5-0DE1-44F1-AE51-BB2386B7297B}"/>
              </a:ext>
            </a:extLst>
          </p:cNvPr>
          <p:cNvSpPr>
            <a:spLocks xmlns:a="http://schemas.openxmlformats.org/drawingml/2006/main" noGrp="1"/>
          </p:cNvSpPr>
          <p:nvPr/>
        </p:nvSpPr>
        <p:spPr>
          <a:xfrm xmlns:a="http://schemas.openxmlformats.org/drawingml/2006/main">
            <a:off x="99631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Level · Trend</a:t>
            </a:r>
          </a:p>
          <a:p xmlns:a="http://schemas.openxmlformats.org/drawingml/2006/main">
            <a:pPr algn="ctr">
              <a:buNone/>
              <a:defRPr sz="1650" b="1">
                <a:solidFill>
                  <a:srgbClr val="101318"/>
                </a:solidFill>
              </a:defRPr>
            </a:pPr>
            <a:r>
              <a:rPr sz="1650" b="1">
                <a:solidFill>
                  <a:srgbClr val="101318"/>
                </a:solidFill>
              </a:rPr>
              <a:t>Movement</a:t>
            </a:r>
          </a:p>
        </p:txBody>
      </p:sp>
      <p:sp>
        <p:nvSpPr>
          <p:cNvPr id="22" name="">
            <a:extLst xmlns:a="http://schemas.openxmlformats.org/drawingml/2006/main">
              <a:ext uri="{FF2B5EF4-FFF2-40B4-BE49-F238E27FC236}">
                <a16:creationId xmlns:a16="http://schemas.microsoft.com/office/drawing/2014/main" id="{7237789C-731C-44D1-93B5-460F7E18C96F}"/>
              </a:ext>
            </a:extLst>
          </p:cNvPr>
          <p:cNvSpPr>
            <a:spLocks xmlns:a="http://schemas.openxmlformats.org/drawingml/2006/main" noGrp="1"/>
          </p:cNvSpPr>
          <p:nvPr/>
        </p:nvSpPr>
        <p:spPr>
          <a:xfrm xmlns:a="http://schemas.openxmlformats.org/drawingml/2006/main">
            <a:off x="2457450" y="4267200"/>
            <a:ext cx="725805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5"/>
            </a:solidFill>
            <a:prstDash val="solid"/>
          </a:ln>
        </p:spPr>
      </p:sp>
      <p:sp>
        <p:nvSpPr>
          <p:cNvPr id="23" name="">
            <a:extLst xmlns:a="http://schemas.openxmlformats.org/drawingml/2006/main">
              <a:ext uri="{FF2B5EF4-FFF2-40B4-BE49-F238E27FC236}">
                <a16:creationId xmlns:a16="http://schemas.microsoft.com/office/drawing/2014/main" id="{72CAF840-A018-4AF2-8646-EEADF845DA22}"/>
              </a:ext>
            </a:extLst>
          </p:cNvPr>
          <p:cNvSpPr>
            <a:spLocks xmlns:a="http://schemas.openxmlformats.org/drawingml/2006/main" noGrp="1"/>
          </p:cNvSpPr>
          <p:nvPr/>
        </p:nvSpPr>
        <p:spPr>
          <a:xfrm xmlns:a="http://schemas.openxmlformats.org/drawingml/2006/main">
            <a:off x="2724150" y="4438650"/>
            <a:ext cx="672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59616D"/>
                </a:solidFill>
              </a:defRPr>
            </a:pPr>
            <a:r>
              <a:rPr sz="1575" b="1">
                <a:solidFill>
                  <a:srgbClr val="59616D"/>
                </a:solidFill>
              </a:rPr>
              <a:t>Später: AutoEncoder durch VibFM ersetzen — der Interpreter bleibt als austauschbare Schicht erhalten.</a:t>
            </a:r>
          </a:p>
        </p:txBody>
      </p:sp>
      <p:sp>
        <p:nvSpPr>
          <p:cNvPr id="24" name="">
            <a:extLst xmlns:a="http://schemas.openxmlformats.org/drawingml/2006/main">
              <a:ext uri="{FF2B5EF4-FFF2-40B4-BE49-F238E27FC236}">
                <a16:creationId xmlns:a16="http://schemas.microsoft.com/office/drawing/2014/main" id="{5AF65FBC-AF54-41A2-BA9C-5796E1D42BFE}"/>
              </a:ext>
            </a:extLst>
          </p:cNvPr>
          <p:cNvSpPr>
            <a:spLocks xmlns:a="http://schemas.openxmlformats.org/drawingml/2006/main" noGrp="1"/>
          </p:cNvSpPr>
          <p:nvPr/>
        </p:nvSpPr>
        <p:spPr>
          <a:xfrm xmlns:a="http://schemas.openxmlformats.org/drawingml/2006/main">
            <a:off x="2438400" y="3857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3D8DFF"/>
                </a:solidFill>
              </a:defRPr>
            </a:pPr>
            <a:r>
              <a:rPr sz="1050" b="1">
                <a:solidFill>
                  <a:srgbClr val="3D8DFF"/>
                </a:solidFill>
              </a:rPr>
              <a:t>REPRÄSENTATION</a:t>
            </a:r>
          </a:p>
        </p:txBody>
      </p:sp>
      <p:sp>
        <p:nvSpPr>
          <p:cNvPr id="25" name="">
            <a:extLst xmlns:a="http://schemas.openxmlformats.org/drawingml/2006/main">
              <a:ext uri="{FF2B5EF4-FFF2-40B4-BE49-F238E27FC236}">
                <a16:creationId xmlns:a16="http://schemas.microsoft.com/office/drawing/2014/main" id="{20C98475-6619-4BEB-9DAE-0CD65C852839}"/>
              </a:ext>
            </a:extLst>
          </p:cNvPr>
          <p:cNvSpPr>
            <a:spLocks xmlns:a="http://schemas.openxmlformats.org/drawingml/2006/main" noGrp="1"/>
          </p:cNvSpPr>
          <p:nvPr/>
        </p:nvSpPr>
        <p:spPr>
          <a:xfrm xmlns:a="http://schemas.openxmlformats.org/drawingml/2006/main">
            <a:off x="7219950" y="3857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39A96B"/>
                </a:solidFill>
              </a:defRPr>
            </a:pPr>
            <a:r>
              <a:rPr sz="1050" b="1">
                <a:solidFill>
                  <a:srgbClr val="39A96B"/>
                </a:solidFill>
              </a:rPr>
              <a:t>INTERPRETATION</a:t>
            </a:r>
          </a:p>
        </p:txBody>
      </p:sp>
    </p:spTree>
    <p:extLst>
      <p:ext uri="{BB962C8B-B14F-4D97-AF65-F5344CB8AC3E}">
        <p14:creationId xmlns:p14="http://schemas.microsoft.com/office/powerpoint/2010/main" val="2846997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F0E8ED8-B384-44FD-AD35-B65820CECB3F}"/>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DATEN &amp; REPRÄSENTATION</a:t>
            </a:r>
          </a:p>
        </p:txBody>
      </p:sp>
      <p:sp>
        <p:nvSpPr>
          <p:cNvPr id="2" name="">
            <a:extLst xmlns:a="http://schemas.openxmlformats.org/drawingml/2006/main">
              <a:ext uri="{FF2B5EF4-FFF2-40B4-BE49-F238E27FC236}">
                <a16:creationId xmlns:a16="http://schemas.microsoft.com/office/drawing/2014/main" id="{5FDFA106-BAFD-465A-A0AC-FAB5716684D7}"/>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XJTU-SY liefert zeitlich geordnete Run-to-Failure-Sequenzen</a:t>
            </a:r>
          </a:p>
        </p:txBody>
      </p:sp>
      <p:sp>
        <p:nvSpPr>
          <p:cNvPr id="3" name="">
            <a:extLst xmlns:a="http://schemas.openxmlformats.org/drawingml/2006/main">
              <a:ext uri="{FF2B5EF4-FFF2-40B4-BE49-F238E27FC236}">
                <a16:creationId xmlns:a16="http://schemas.microsoft.com/office/drawing/2014/main" id="{90B315CA-5191-483B-9A17-DAE1C54D854B}"/>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DBB617F2-4B1F-45E5-A985-0E1BDA8E7EBD}"/>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04</a:t>
            </a:r>
          </a:p>
        </p:txBody>
      </p:sp>
      <p:sp>
        <p:nvSpPr>
          <p:cNvPr id="5" name="">
            <a:extLst xmlns:a="http://schemas.openxmlformats.org/drawingml/2006/main">
              <a:ext uri="{FF2B5EF4-FFF2-40B4-BE49-F238E27FC236}">
                <a16:creationId xmlns:a16="http://schemas.microsoft.com/office/drawing/2014/main" id="{D6544147-C055-4C26-A3B9-9BB87CD243BC}"/>
              </a:ext>
            </a:extLst>
          </p:cNvPr>
          <p:cNvSpPr>
            <a:spLocks xmlns:a="http://schemas.openxmlformats.org/drawingml/2006/main" noGrp="1"/>
          </p:cNvSpPr>
          <p:nvPr/>
        </p:nvSpPr>
        <p:spPr>
          <a:xfrm xmlns:a="http://schemas.openxmlformats.org/drawingml/2006/main">
            <a:off x="609600" y="1695450"/>
            <a:ext cx="51435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DAD43B7C-6DC9-489F-80CC-DD6E5B4EDFA2}"/>
              </a:ext>
            </a:extLst>
          </p:cNvPr>
          <p:cNvSpPr>
            <a:spLocks xmlns:a="http://schemas.openxmlformats.org/drawingml/2006/main" noGrp="1"/>
          </p:cNvSpPr>
          <p:nvPr/>
        </p:nvSpPr>
        <p:spPr>
          <a:xfrm xmlns:a="http://schemas.openxmlformats.org/drawingml/2006/main">
            <a:off x="895350" y="1943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XJTU-SY</a:t>
            </a:r>
          </a:p>
        </p:txBody>
      </p:sp>
      <p:sp>
        <p:nvSpPr>
          <p:cNvPr id="7" name="">
            <a:extLst xmlns:a="http://schemas.openxmlformats.org/drawingml/2006/main">
              <a:ext uri="{FF2B5EF4-FFF2-40B4-BE49-F238E27FC236}">
                <a16:creationId xmlns:a16="http://schemas.microsoft.com/office/drawing/2014/main" id="{A31FA794-F9D6-4DF6-BCFB-091B82178A62}"/>
              </a:ext>
            </a:extLst>
          </p:cNvPr>
          <p:cNvSpPr>
            <a:spLocks xmlns:a="http://schemas.openxmlformats.org/drawingml/2006/main" noGrp="1"/>
          </p:cNvSpPr>
          <p:nvPr/>
        </p:nvSpPr>
        <p:spPr>
          <a:xfrm xmlns:a="http://schemas.openxmlformats.org/drawingml/2006/main">
            <a:off x="895350" y="2476500"/>
            <a:ext cx="43624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 15 Bearings in drei Betriebsbedingungen</a:t>
            </a:r>
          </a:p>
          <a:p xmlns:a="http://schemas.openxmlformats.org/drawingml/2006/main">
            <a:pPr algn="l">
              <a:buNone/>
              <a:defRPr sz="1500" b="0">
                <a:solidFill>
                  <a:srgbClr val="59616D"/>
                </a:solidFill>
              </a:defRPr>
            </a:pPr>
            <a:r>
              <a:rPr sz="1500" b="0">
                <a:solidFill>
                  <a:srgbClr val="59616D"/>
                </a:solidFill>
              </a:rPr>
              <a:t>• zwei Schwingungskanäle je Messung</a:t>
            </a:r>
          </a:p>
          <a:p xmlns:a="http://schemas.openxmlformats.org/drawingml/2006/main">
            <a:pPr algn="l">
              <a:buNone/>
              <a:defRPr sz="1500" b="0">
                <a:solidFill>
                  <a:srgbClr val="59616D"/>
                </a:solidFill>
              </a:defRPr>
            </a:pPr>
            <a:r>
              <a:rPr sz="1500" b="0">
                <a:solidFill>
                  <a:srgbClr val="59616D"/>
                </a:solidFill>
              </a:rPr>
              <a:t>• 1,28 s pro Messung bei 25,6 kHz</a:t>
            </a:r>
          </a:p>
          <a:p xmlns:a="http://schemas.openxmlformats.org/drawingml/2006/main">
            <a:pPr algn="l">
              <a:buNone/>
              <a:defRPr sz="1500" b="0">
                <a:solidFill>
                  <a:srgbClr val="59616D"/>
                </a:solidFill>
              </a:defRPr>
            </a:pPr>
            <a:r>
              <a:rPr sz="1500" b="0">
                <a:solidFill>
                  <a:srgbClr val="59616D"/>
                </a:solidFill>
              </a:rPr>
              <a:t>• Run-to-Failure: früher Betrieb bis Ausfall</a:t>
            </a:r>
          </a:p>
          <a:p xmlns:a="http://schemas.openxmlformats.org/drawingml/2006/main">
            <a:pPr algn="l">
              <a:buNone/>
              <a:defRPr sz="1500" b="0">
                <a:solidFill>
                  <a:srgbClr val="59616D"/>
                </a:solidFill>
              </a:defRPr>
            </a:pPr>
            <a:r>
              <a:rPr sz="1500" b="0">
                <a:solidFill>
                  <a:srgbClr val="59616D"/>
                </a:solidFill>
              </a:rPr>
              <a:t>• numerische CSV-Reihenfolge bildet die Zeitachse</a:t>
            </a:r>
          </a:p>
        </p:txBody>
      </p:sp>
      <p:sp>
        <p:nvSpPr>
          <p:cNvPr id="8" name="">
            <a:extLst xmlns:a="http://schemas.openxmlformats.org/drawingml/2006/main">
              <a:ext uri="{FF2B5EF4-FFF2-40B4-BE49-F238E27FC236}">
                <a16:creationId xmlns:a16="http://schemas.microsoft.com/office/drawing/2014/main" id="{F5640CBF-3473-4E4B-A298-011ED0266E75}"/>
              </a:ext>
            </a:extLst>
          </p:cNvPr>
          <p:cNvSpPr>
            <a:spLocks xmlns:a="http://schemas.openxmlformats.org/drawingml/2006/main" noGrp="1"/>
          </p:cNvSpPr>
          <p:nvPr/>
        </p:nvSpPr>
        <p:spPr>
          <a:xfrm xmlns:a="http://schemas.openxmlformats.org/drawingml/2006/main">
            <a:off x="895350" y="4857750"/>
            <a:ext cx="142875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9" name="">
            <a:extLst xmlns:a="http://schemas.openxmlformats.org/drawingml/2006/main">
              <a:ext uri="{FF2B5EF4-FFF2-40B4-BE49-F238E27FC236}">
                <a16:creationId xmlns:a16="http://schemas.microsoft.com/office/drawing/2014/main" id="{B93E4515-84EA-4A2E-AF18-822E8E81BC67}"/>
              </a:ext>
            </a:extLst>
          </p:cNvPr>
          <p:cNvSpPr>
            <a:spLocks xmlns:a="http://schemas.openxmlformats.org/drawingml/2006/main" noGrp="1"/>
          </p:cNvSpPr>
          <p:nvPr/>
        </p:nvSpPr>
        <p:spPr>
          <a:xfrm xmlns:a="http://schemas.openxmlformats.org/drawingml/2006/main">
            <a:off x="1009650" y="485775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1318"/>
                </a:solidFill>
              </a:defRPr>
            </a:pPr>
            <a:r>
              <a:rPr sz="1125" b="1">
                <a:solidFill>
                  <a:srgbClr val="101318"/>
                </a:solidFill>
              </a:rPr>
              <a:t>35 Hz / 12 kN</a:t>
            </a:r>
          </a:p>
        </p:txBody>
      </p:sp>
      <p:sp>
        <p:nvSpPr>
          <p:cNvPr id="10" name="">
            <a:extLst xmlns:a="http://schemas.openxmlformats.org/drawingml/2006/main">
              <a:ext uri="{FF2B5EF4-FFF2-40B4-BE49-F238E27FC236}">
                <a16:creationId xmlns:a16="http://schemas.microsoft.com/office/drawing/2014/main" id="{9F08BE56-238F-42FA-82FD-95727AFD4A0B}"/>
              </a:ext>
            </a:extLst>
          </p:cNvPr>
          <p:cNvSpPr>
            <a:spLocks xmlns:a="http://schemas.openxmlformats.org/drawingml/2006/main" noGrp="1"/>
          </p:cNvSpPr>
          <p:nvPr/>
        </p:nvSpPr>
        <p:spPr>
          <a:xfrm xmlns:a="http://schemas.openxmlformats.org/drawingml/2006/main">
            <a:off x="2457450" y="4857750"/>
            <a:ext cx="16764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1" name="">
            <a:extLst xmlns:a="http://schemas.openxmlformats.org/drawingml/2006/main">
              <a:ext uri="{FF2B5EF4-FFF2-40B4-BE49-F238E27FC236}">
                <a16:creationId xmlns:a16="http://schemas.microsoft.com/office/drawing/2014/main" id="{E54AEFCE-87D4-46DD-A29A-429EA4BB792B}"/>
              </a:ext>
            </a:extLst>
          </p:cNvPr>
          <p:cNvSpPr>
            <a:spLocks xmlns:a="http://schemas.openxmlformats.org/drawingml/2006/main" noGrp="1"/>
          </p:cNvSpPr>
          <p:nvPr/>
        </p:nvSpPr>
        <p:spPr>
          <a:xfrm xmlns:a="http://schemas.openxmlformats.org/drawingml/2006/main">
            <a:off x="2571750" y="4857750"/>
            <a:ext cx="144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1318"/>
                </a:solidFill>
              </a:defRPr>
            </a:pPr>
            <a:r>
              <a:rPr sz="1125" b="1">
                <a:solidFill>
                  <a:srgbClr val="101318"/>
                </a:solidFill>
              </a:rPr>
              <a:t>37,5 Hz / 11 kN</a:t>
            </a:r>
          </a:p>
        </p:txBody>
      </p:sp>
      <p:sp>
        <p:nvSpPr>
          <p:cNvPr id="12" name="">
            <a:extLst xmlns:a="http://schemas.openxmlformats.org/drawingml/2006/main">
              <a:ext uri="{FF2B5EF4-FFF2-40B4-BE49-F238E27FC236}">
                <a16:creationId xmlns:a16="http://schemas.microsoft.com/office/drawing/2014/main" id="{3D6694B0-081C-4152-92D7-69E08BA474D6}"/>
              </a:ext>
            </a:extLst>
          </p:cNvPr>
          <p:cNvSpPr>
            <a:spLocks xmlns:a="http://schemas.openxmlformats.org/drawingml/2006/main" noGrp="1"/>
          </p:cNvSpPr>
          <p:nvPr/>
        </p:nvSpPr>
        <p:spPr>
          <a:xfrm xmlns:a="http://schemas.openxmlformats.org/drawingml/2006/main">
            <a:off x="6038850" y="1695450"/>
            <a:ext cx="5543550" cy="4038600"/>
          </a:xfrm>
          <a:prstGeom xmlns:a="http://schemas.openxmlformats.org/drawingml/2006/main" prst="roundRect">
            <a:avLst>
              <a:gd name="adj" fmla="val 283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83205C85-BAD5-41F0-8E83-81B881CB96DD}"/>
              </a:ext>
            </a:extLst>
          </p:cNvPr>
          <p:cNvSpPr>
            <a:spLocks xmlns:a="http://schemas.openxmlformats.org/drawingml/2006/main" noGrp="1"/>
          </p:cNvSpPr>
          <p:nvPr/>
        </p:nvSpPr>
        <p:spPr>
          <a:xfrm xmlns:a="http://schemas.openxmlformats.org/drawingml/2006/main">
            <a:off x="6381750" y="20002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6DCBF4"/>
                </a:solidFill>
              </a:defRPr>
            </a:pPr>
            <a:r>
              <a:rPr sz="1875" b="1">
                <a:solidFill>
                  <a:srgbClr val="6DCBF4"/>
                </a:solidFill>
              </a:rPr>
              <a:t>STFT</a:t>
            </a:r>
          </a:p>
        </p:txBody>
      </p:sp>
      <p:sp>
        <p:nvSpPr>
          <p:cNvPr id="14" name="">
            <a:extLst xmlns:a="http://schemas.openxmlformats.org/drawingml/2006/main">
              <a:ext uri="{FF2B5EF4-FFF2-40B4-BE49-F238E27FC236}">
                <a16:creationId xmlns:a16="http://schemas.microsoft.com/office/drawing/2014/main" id="{1574DB60-981C-46AC-86B9-B20DC9ADAD07}"/>
              </a:ext>
            </a:extLst>
          </p:cNvPr>
          <p:cNvSpPr>
            <a:spLocks xmlns:a="http://schemas.openxmlformats.org/drawingml/2006/main" noGrp="1"/>
          </p:cNvSpPr>
          <p:nvPr/>
        </p:nvSpPr>
        <p:spPr>
          <a:xfrm xmlns:a="http://schemas.openxmlformats.org/drawingml/2006/main">
            <a:off x="7848600" y="20002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[2 × 32 × 32]</a:t>
            </a:r>
          </a:p>
        </p:txBody>
      </p:sp>
      <p:sp>
        <p:nvSpPr>
          <p:cNvPr id="15" name="">
            <a:extLst xmlns:a="http://schemas.openxmlformats.org/drawingml/2006/main">
              <a:ext uri="{FF2B5EF4-FFF2-40B4-BE49-F238E27FC236}">
                <a16:creationId xmlns:a16="http://schemas.microsoft.com/office/drawing/2014/main" id="{EDEFE6BA-6823-4E86-A386-8603876B1DDA}"/>
              </a:ext>
            </a:extLst>
          </p:cNvPr>
          <p:cNvSpPr>
            <a:spLocks xmlns:a="http://schemas.openxmlformats.org/drawingml/2006/main" noGrp="1"/>
          </p:cNvSpPr>
          <p:nvPr/>
        </p:nvSpPr>
        <p:spPr>
          <a:xfrm xmlns:a="http://schemas.openxmlformats.org/drawingml/2006/main">
            <a:off x="8486775" y="2476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6DCBF4"/>
                </a:solidFill>
              </a:defRPr>
            </a:pPr>
            <a:r>
              <a:rPr sz="2250" b="1">
                <a:solidFill>
                  <a:srgbClr val="6DCBF4"/>
                </a:solidFill>
              </a:rPr>
              <a:t>↓</a:t>
            </a:r>
          </a:p>
        </p:txBody>
      </p:sp>
      <p:sp>
        <p:nvSpPr>
          <p:cNvPr id="16" name="">
            <a:extLst xmlns:a="http://schemas.openxmlformats.org/drawingml/2006/main">
              <a:ext uri="{FF2B5EF4-FFF2-40B4-BE49-F238E27FC236}">
                <a16:creationId xmlns:a16="http://schemas.microsoft.com/office/drawing/2014/main" id="{4ECE6EB7-DB39-4602-B2EE-2249E1535B9B}"/>
              </a:ext>
            </a:extLst>
          </p:cNvPr>
          <p:cNvSpPr>
            <a:spLocks xmlns:a="http://schemas.openxmlformats.org/drawingml/2006/main" noGrp="1"/>
          </p:cNvSpPr>
          <p:nvPr/>
        </p:nvSpPr>
        <p:spPr>
          <a:xfrm xmlns:a="http://schemas.openxmlformats.org/drawingml/2006/main">
            <a:off x="63817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Encoder</a:t>
            </a:r>
          </a:p>
        </p:txBody>
      </p:sp>
      <p:sp>
        <p:nvSpPr>
          <p:cNvPr id="17" name="">
            <a:extLst xmlns:a="http://schemas.openxmlformats.org/drawingml/2006/main">
              <a:ext uri="{FF2B5EF4-FFF2-40B4-BE49-F238E27FC236}">
                <a16:creationId xmlns:a16="http://schemas.microsoft.com/office/drawing/2014/main" id="{71115D29-A1E2-43D4-BA95-6C6FCA7CBF1C}"/>
              </a:ext>
            </a:extLst>
          </p:cNvPr>
          <p:cNvSpPr>
            <a:spLocks xmlns:a="http://schemas.openxmlformats.org/drawingml/2006/main" noGrp="1"/>
          </p:cNvSpPr>
          <p:nvPr/>
        </p:nvSpPr>
        <p:spPr>
          <a:xfrm xmlns:a="http://schemas.openxmlformats.org/drawingml/2006/main">
            <a:off x="85915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z ∈ ℝ⁸</a:t>
            </a:r>
          </a:p>
        </p:txBody>
      </p:sp>
      <p:sp>
        <p:nvSpPr>
          <p:cNvPr id="18" name="">
            <a:extLst xmlns:a="http://schemas.openxmlformats.org/drawingml/2006/main">
              <a:ext uri="{FF2B5EF4-FFF2-40B4-BE49-F238E27FC236}">
                <a16:creationId xmlns:a16="http://schemas.microsoft.com/office/drawing/2014/main" id="{BDD2C6A6-3F8E-466C-ADFD-135050F91D02}"/>
              </a:ext>
            </a:extLst>
          </p:cNvPr>
          <p:cNvSpPr>
            <a:spLocks xmlns:a="http://schemas.openxmlformats.org/drawingml/2006/main" noGrp="1"/>
          </p:cNvSpPr>
          <p:nvPr/>
        </p:nvSpPr>
        <p:spPr>
          <a:xfrm xmlns:a="http://schemas.openxmlformats.org/drawingml/2006/main">
            <a:off x="8486775" y="34671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6DCBF4"/>
                </a:solidFill>
              </a:defRPr>
            </a:pPr>
            <a:r>
              <a:rPr sz="2250" b="1">
                <a:solidFill>
                  <a:srgbClr val="6DCBF4"/>
                </a:solidFill>
              </a:rPr>
              <a:t>↓</a:t>
            </a:r>
          </a:p>
        </p:txBody>
      </p:sp>
      <p:sp>
        <p:nvSpPr>
          <p:cNvPr id="19" name="">
            <a:extLst xmlns:a="http://schemas.openxmlformats.org/drawingml/2006/main">
              <a:ext uri="{FF2B5EF4-FFF2-40B4-BE49-F238E27FC236}">
                <a16:creationId xmlns:a16="http://schemas.microsoft.com/office/drawing/2014/main" id="{5906C8D1-D4E9-428F-8598-0DC00EA20C92}"/>
              </a:ext>
            </a:extLst>
          </p:cNvPr>
          <p:cNvSpPr>
            <a:spLocks xmlns:a="http://schemas.openxmlformats.org/drawingml/2006/main" noGrp="1"/>
          </p:cNvSpPr>
          <p:nvPr/>
        </p:nvSpPr>
        <p:spPr>
          <a:xfrm xmlns:a="http://schemas.openxmlformats.org/drawingml/2006/main">
            <a:off x="6381750" y="4038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FFFFFF"/>
                </a:solidFill>
              </a:defRPr>
            </a:pPr>
            <a:r>
              <a:rPr sz="1725" b="1">
                <a:solidFill>
                  <a:srgbClr val="FFFFFF"/>
                </a:solidFill>
              </a:rPr>
              <a:t>Decoder rekonstruiert STFT</a:t>
            </a:r>
          </a:p>
        </p:txBody>
      </p:sp>
      <p:sp>
        <p:nvSpPr>
          <p:cNvPr id="20" name="">
            <a:extLst xmlns:a="http://schemas.openxmlformats.org/drawingml/2006/main">
              <a:ext uri="{FF2B5EF4-FFF2-40B4-BE49-F238E27FC236}">
                <a16:creationId xmlns:a16="http://schemas.microsoft.com/office/drawing/2014/main" id="{EF7959EA-65C9-4D5E-838E-BED44DF11D10}"/>
              </a:ext>
            </a:extLst>
          </p:cNvPr>
          <p:cNvSpPr>
            <a:spLocks xmlns:a="http://schemas.openxmlformats.org/drawingml/2006/main" noGrp="1"/>
          </p:cNvSpPr>
          <p:nvPr/>
        </p:nvSpPr>
        <p:spPr>
          <a:xfrm xmlns:a="http://schemas.openxmlformats.org/drawingml/2006/main">
            <a:off x="63817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6DCBF4"/>
                </a:solidFill>
              </a:defRPr>
            </a:pPr>
            <a:r>
              <a:rPr sz="1350" b="0">
                <a:solidFill>
                  <a:srgbClr val="6DCBF4"/>
                </a:solidFill>
              </a:rPr>
              <a:t>Trainingsziel: Rekonstruktions-MSE</a:t>
            </a:r>
          </a:p>
        </p:txBody>
      </p:sp>
      <p:sp>
        <p:nvSpPr>
          <p:cNvPr id="21" name="">
            <a:extLst xmlns:a="http://schemas.openxmlformats.org/drawingml/2006/main">
              <a:ext uri="{FF2B5EF4-FFF2-40B4-BE49-F238E27FC236}">
                <a16:creationId xmlns:a16="http://schemas.microsoft.com/office/drawing/2014/main" id="{DEB0DCAB-9D80-4F63-B8FF-BBCE0E255B65}"/>
              </a:ext>
            </a:extLst>
          </p:cNvPr>
          <p:cNvSpPr>
            <a:spLocks xmlns:a="http://schemas.openxmlformats.org/drawingml/2006/main" noGrp="1"/>
          </p:cNvSpPr>
          <p:nvPr/>
        </p:nvSpPr>
        <p:spPr>
          <a:xfrm xmlns:a="http://schemas.openxmlformats.org/drawingml/2006/main">
            <a:off x="6381750" y="4972050"/>
            <a:ext cx="432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FFFFFF"/>
                </a:solidFill>
              </a:defRPr>
            </a:pPr>
            <a:r>
              <a:rPr sz="1275" b="0">
                <a:solidFill>
                  <a:srgbClr val="FFFFFF"/>
                </a:solidFill>
              </a:rPr>
              <a:t>Hann · n_fft=1024 · win=1024 · hop=512</a:t>
            </a:r>
          </a:p>
          <a:p xmlns:a="http://schemas.openxmlformats.org/drawingml/2006/main">
            <a:pPr algn="l">
              <a:buNone/>
              <a:defRPr sz="1275" b="0">
                <a:solidFill>
                  <a:srgbClr val="FFFFFF"/>
                </a:solidFill>
              </a:defRPr>
            </a:pPr>
            <a:r>
              <a:rPr sz="1275" b="0">
                <a:solidFill>
                  <a:srgbClr val="FFFFFF"/>
                </a:solidFill>
              </a:rPr>
              <a:t>log1p-Magnitude · Adaptive Pooling</a:t>
            </a:r>
          </a:p>
        </p:txBody>
      </p:sp>
    </p:spTree>
    <p:extLst>
      <p:ext uri="{BB962C8B-B14F-4D97-AF65-F5344CB8AC3E}">
        <p14:creationId xmlns:p14="http://schemas.microsoft.com/office/powerpoint/2010/main" val="1752776908"/>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46E9D8C-FF78-4FF1-A645-0543C0BE3F3D}"/>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651A5B32-AE6E-4ED8-A5B2-EDB21554BCEB}"/>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Drei Größen übersetzen die Bewegung im latenten Raum</a:t>
            </a:r>
          </a:p>
        </p:txBody>
      </p:sp>
      <p:sp>
        <p:nvSpPr>
          <p:cNvPr id="3" name="">
            <a:extLst xmlns:a="http://schemas.openxmlformats.org/drawingml/2006/main">
              <a:ext uri="{FF2B5EF4-FFF2-40B4-BE49-F238E27FC236}">
                <a16:creationId xmlns:a16="http://schemas.microsoft.com/office/drawing/2014/main" id="{FA3517E2-3C15-4D27-96EC-87343602D720}"/>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3A603F21-8961-4430-A7B7-CFF656539B8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05</a:t>
            </a:r>
          </a:p>
        </p:txBody>
      </p:sp>
      <p:sp>
        <p:nvSpPr>
          <p:cNvPr id="5" name="">
            <a:extLst xmlns:a="http://schemas.openxmlformats.org/drawingml/2006/main">
              <a:ext uri="{FF2B5EF4-FFF2-40B4-BE49-F238E27FC236}">
                <a16:creationId xmlns:a16="http://schemas.microsoft.com/office/drawing/2014/main" id="{C63F918A-1F28-4364-9E15-9DA4BC033F8E}"/>
              </a:ext>
            </a:extLst>
          </p:cNvPr>
          <p:cNvSpPr>
            <a:spLocks xmlns:a="http://schemas.openxmlformats.org/drawingml/2006/main" noGrp="1"/>
          </p:cNvSpPr>
          <p:nvPr/>
        </p:nvSpPr>
        <p:spPr>
          <a:xfrm xmlns:a="http://schemas.openxmlformats.org/drawingml/2006/main">
            <a:off x="6096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34837488-3EB3-41D8-821D-47C9E1ECDF17}"/>
              </a:ext>
            </a:extLst>
          </p:cNvPr>
          <p:cNvSpPr>
            <a:spLocks xmlns:a="http://schemas.openxmlformats.org/drawingml/2006/main" noGrp="1"/>
          </p:cNvSpPr>
          <p:nvPr/>
        </p:nvSpPr>
        <p:spPr>
          <a:xfrm xmlns:a="http://schemas.openxmlformats.org/drawingml/2006/main">
            <a:off x="857250" y="2038350"/>
            <a:ext cx="12192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BA8CCA2F-D1EF-45DD-A349-805487DF55E9}"/>
              </a:ext>
            </a:extLst>
          </p:cNvPr>
          <p:cNvSpPr>
            <a:spLocks xmlns:a="http://schemas.openxmlformats.org/drawingml/2006/main" noGrp="1"/>
          </p:cNvSpPr>
          <p:nvPr/>
        </p:nvSpPr>
        <p:spPr>
          <a:xfrm xmlns:a="http://schemas.openxmlformats.org/drawingml/2006/main">
            <a:off x="9715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LEVEL</a:t>
            </a:r>
          </a:p>
        </p:txBody>
      </p:sp>
      <p:sp>
        <p:nvSpPr>
          <p:cNvPr id="8" name="">
            <a:extLst xmlns:a="http://schemas.openxmlformats.org/drawingml/2006/main">
              <a:ext uri="{FF2B5EF4-FFF2-40B4-BE49-F238E27FC236}">
                <a16:creationId xmlns:a16="http://schemas.microsoft.com/office/drawing/2014/main" id="{A470F8A8-F579-4CB4-984E-46A1078A17FF}"/>
              </a:ext>
            </a:extLst>
          </p:cNvPr>
          <p:cNvSpPr>
            <a:spLocks xmlns:a="http://schemas.openxmlformats.org/drawingml/2006/main" noGrp="1"/>
          </p:cNvSpPr>
          <p:nvPr/>
        </p:nvSpPr>
        <p:spPr>
          <a:xfrm xmlns:a="http://schemas.openxmlformats.org/drawingml/2006/main">
            <a:off x="8572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Abstand</a:t>
            </a:r>
          </a:p>
        </p:txBody>
      </p:sp>
      <p:sp>
        <p:nvSpPr>
          <p:cNvPr id="9" name="">
            <a:extLst xmlns:a="http://schemas.openxmlformats.org/drawingml/2006/main">
              <a:ext uri="{FF2B5EF4-FFF2-40B4-BE49-F238E27FC236}">
                <a16:creationId xmlns:a16="http://schemas.microsoft.com/office/drawing/2014/main" id="{F87CF780-5483-4315-B612-BC60E7E0205A}"/>
              </a:ext>
            </a:extLst>
          </p:cNvPr>
          <p:cNvSpPr>
            <a:spLocks xmlns:a="http://schemas.openxmlformats.org/drawingml/2006/main" noGrp="1"/>
          </p:cNvSpPr>
          <p:nvPr/>
        </p:nvSpPr>
        <p:spPr>
          <a:xfrm xmlns:a="http://schemas.openxmlformats.org/drawingml/2006/main">
            <a:off x="8572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Distanz zum frühen, bearing-spezifischen Referenzzustand.</a:t>
            </a:r>
          </a:p>
        </p:txBody>
      </p:sp>
      <p:sp>
        <p:nvSpPr>
          <p:cNvPr id="10" name="">
            <a:extLst xmlns:a="http://schemas.openxmlformats.org/drawingml/2006/main">
              <a:ext uri="{FF2B5EF4-FFF2-40B4-BE49-F238E27FC236}">
                <a16:creationId xmlns:a16="http://schemas.microsoft.com/office/drawing/2014/main" id="{3260D320-88EF-48D0-AB8C-C8C1D139C24E}"/>
              </a:ext>
            </a:extLst>
          </p:cNvPr>
          <p:cNvSpPr>
            <a:spLocks xmlns:a="http://schemas.openxmlformats.org/drawingml/2006/main" noGrp="1"/>
          </p:cNvSpPr>
          <p:nvPr/>
        </p:nvSpPr>
        <p:spPr>
          <a:xfrm xmlns:a="http://schemas.openxmlformats.org/drawingml/2006/main">
            <a:off x="43053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FC262155-902D-459B-809E-1CD95137EE17}"/>
              </a:ext>
            </a:extLst>
          </p:cNvPr>
          <p:cNvSpPr>
            <a:spLocks xmlns:a="http://schemas.openxmlformats.org/drawingml/2006/main" noGrp="1"/>
          </p:cNvSpPr>
          <p:nvPr/>
        </p:nvSpPr>
        <p:spPr>
          <a:xfrm xmlns:a="http://schemas.openxmlformats.org/drawingml/2006/main">
            <a:off x="4552950" y="2038350"/>
            <a:ext cx="12192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45005C4D-8657-4AA0-B276-CC9B0FF26722}"/>
              </a:ext>
            </a:extLst>
          </p:cNvPr>
          <p:cNvSpPr>
            <a:spLocks xmlns:a="http://schemas.openxmlformats.org/drawingml/2006/main" noGrp="1"/>
          </p:cNvSpPr>
          <p:nvPr/>
        </p:nvSpPr>
        <p:spPr>
          <a:xfrm xmlns:a="http://schemas.openxmlformats.org/drawingml/2006/main">
            <a:off x="46672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TREND</a:t>
            </a:r>
          </a:p>
        </p:txBody>
      </p:sp>
      <p:sp>
        <p:nvSpPr>
          <p:cNvPr id="13" name="">
            <a:extLst xmlns:a="http://schemas.openxmlformats.org/drawingml/2006/main">
              <a:ext uri="{FF2B5EF4-FFF2-40B4-BE49-F238E27FC236}">
                <a16:creationId xmlns:a16="http://schemas.microsoft.com/office/drawing/2014/main" id="{6FF14CEE-F0F6-4EE8-9175-0B37A28C47ED}"/>
              </a:ext>
            </a:extLst>
          </p:cNvPr>
          <p:cNvSpPr>
            <a:spLocks xmlns:a="http://schemas.openxmlformats.org/drawingml/2006/main" noGrp="1"/>
          </p:cNvSpPr>
          <p:nvPr/>
        </p:nvSpPr>
        <p:spPr>
          <a:xfrm xmlns:a="http://schemas.openxmlformats.org/drawingml/2006/main">
            <a:off x="45529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Richtung</a:t>
            </a:r>
          </a:p>
        </p:txBody>
      </p:sp>
      <p:sp>
        <p:nvSpPr>
          <p:cNvPr id="14" name="">
            <a:extLst xmlns:a="http://schemas.openxmlformats.org/drawingml/2006/main">
              <a:ext uri="{FF2B5EF4-FFF2-40B4-BE49-F238E27FC236}">
                <a16:creationId xmlns:a16="http://schemas.microsoft.com/office/drawing/2014/main" id="{6ED297B5-DCAB-454F-8390-069514D561A7}"/>
              </a:ext>
            </a:extLst>
          </p:cNvPr>
          <p:cNvSpPr>
            <a:spLocks xmlns:a="http://schemas.openxmlformats.org/drawingml/2006/main" noGrp="1"/>
          </p:cNvSpPr>
          <p:nvPr/>
        </p:nvSpPr>
        <p:spPr>
          <a:xfrm xmlns:a="http://schemas.openxmlformats.org/drawingml/2006/main">
            <a:off x="45529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Steigung des Level innerhalb des aktuellen Zeitfensters.</a:t>
            </a:r>
          </a:p>
        </p:txBody>
      </p:sp>
      <p:sp>
        <p:nvSpPr>
          <p:cNvPr id="15" name="">
            <a:extLst xmlns:a="http://schemas.openxmlformats.org/drawingml/2006/main">
              <a:ext uri="{FF2B5EF4-FFF2-40B4-BE49-F238E27FC236}">
                <a16:creationId xmlns:a16="http://schemas.microsoft.com/office/drawing/2014/main" id="{805B0F79-16E3-4CD8-AA72-98E8FED5C5F6}"/>
              </a:ext>
            </a:extLst>
          </p:cNvPr>
          <p:cNvSpPr>
            <a:spLocks xmlns:a="http://schemas.openxmlformats.org/drawingml/2006/main" noGrp="1"/>
          </p:cNvSpPr>
          <p:nvPr/>
        </p:nvSpPr>
        <p:spPr>
          <a:xfrm xmlns:a="http://schemas.openxmlformats.org/drawingml/2006/main">
            <a:off x="80010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6" name="">
            <a:extLst xmlns:a="http://schemas.openxmlformats.org/drawingml/2006/main">
              <a:ext uri="{FF2B5EF4-FFF2-40B4-BE49-F238E27FC236}">
                <a16:creationId xmlns:a16="http://schemas.microsoft.com/office/drawing/2014/main" id="{9CE81ACA-FBF8-47FC-AF42-2533F05347FF}"/>
              </a:ext>
            </a:extLst>
          </p:cNvPr>
          <p:cNvSpPr>
            <a:spLocks xmlns:a="http://schemas.openxmlformats.org/drawingml/2006/main" noGrp="1"/>
          </p:cNvSpPr>
          <p:nvPr/>
        </p:nvSpPr>
        <p:spPr>
          <a:xfrm xmlns:a="http://schemas.openxmlformats.org/drawingml/2006/main">
            <a:off x="8248650" y="2038350"/>
            <a:ext cx="1219200" cy="342900"/>
          </a:xfrm>
          <a:prstGeom xmlns:a="http://schemas.openxmlformats.org/drawingml/2006/main" prst="roundRect">
            <a:avLst>
              <a:gd name="adj" fmla="val 50000"/>
            </a:avLst>
          </a:prstGeom>
          <a:solidFill xmlns:a="http://schemas.openxmlformats.org/drawingml/2006/main">
            <a:srgbClr val="F2A24A"/>
          </a:solidFill>
          <a:ln xmlns:a="http://schemas.openxmlformats.org/drawingml/2006/main" w="9525">
            <a:solidFill>
              <a:srgbClr val="F2A24A"/>
            </a:solidFill>
            <a:prstDash val="solid"/>
          </a:ln>
        </p:spPr>
      </p:sp>
      <p:sp>
        <p:nvSpPr>
          <p:cNvPr id="17" name="">
            <a:extLst xmlns:a="http://schemas.openxmlformats.org/drawingml/2006/main">
              <a:ext uri="{FF2B5EF4-FFF2-40B4-BE49-F238E27FC236}">
                <a16:creationId xmlns:a16="http://schemas.microsoft.com/office/drawing/2014/main" id="{585EC556-304A-45A4-84D9-030033A3A557}"/>
              </a:ext>
            </a:extLst>
          </p:cNvPr>
          <p:cNvSpPr>
            <a:spLocks xmlns:a="http://schemas.openxmlformats.org/drawingml/2006/main" noGrp="1"/>
          </p:cNvSpPr>
          <p:nvPr/>
        </p:nvSpPr>
        <p:spPr>
          <a:xfrm xmlns:a="http://schemas.openxmlformats.org/drawingml/2006/main">
            <a:off x="83629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MOVEMENT</a:t>
            </a:r>
          </a:p>
        </p:txBody>
      </p:sp>
      <p:sp>
        <p:nvSpPr>
          <p:cNvPr id="18" name="">
            <a:extLst xmlns:a="http://schemas.openxmlformats.org/drawingml/2006/main">
              <a:ext uri="{FF2B5EF4-FFF2-40B4-BE49-F238E27FC236}">
                <a16:creationId xmlns:a16="http://schemas.microsoft.com/office/drawing/2014/main" id="{22324F8C-DF23-4692-AE81-10BE374B7698}"/>
              </a:ext>
            </a:extLst>
          </p:cNvPr>
          <p:cNvSpPr>
            <a:spLocks xmlns:a="http://schemas.openxmlformats.org/drawingml/2006/main" noGrp="1"/>
          </p:cNvSpPr>
          <p:nvPr/>
        </p:nvSpPr>
        <p:spPr>
          <a:xfrm xmlns:a="http://schemas.openxmlformats.org/drawingml/2006/main">
            <a:off x="82486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Dynamik</a:t>
            </a:r>
          </a:p>
        </p:txBody>
      </p:sp>
      <p:sp>
        <p:nvSpPr>
          <p:cNvPr id="19" name="">
            <a:extLst xmlns:a="http://schemas.openxmlformats.org/drawingml/2006/main">
              <a:ext uri="{FF2B5EF4-FFF2-40B4-BE49-F238E27FC236}">
                <a16:creationId xmlns:a16="http://schemas.microsoft.com/office/drawing/2014/main" id="{5E7B8BDD-F54A-4DAD-9699-1FD201669A58}"/>
              </a:ext>
            </a:extLst>
          </p:cNvPr>
          <p:cNvSpPr>
            <a:spLocks xmlns:a="http://schemas.openxmlformats.org/drawingml/2006/main" noGrp="1"/>
          </p:cNvSpPr>
          <p:nvPr/>
        </p:nvSpPr>
        <p:spPr>
          <a:xfrm xmlns:a="http://schemas.openxmlformats.org/drawingml/2006/main">
            <a:off x="82486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Mittlere kurzfristige Bewegung zwischen aufeinanderfolgenden z-Punkten.</a:t>
            </a:r>
          </a:p>
        </p:txBody>
      </p:sp>
      <p:sp>
        <p:nvSpPr>
          <p:cNvPr id="20" name="">
            <a:extLst xmlns:a="http://schemas.openxmlformats.org/drawingml/2006/main">
              <a:ext uri="{FF2B5EF4-FFF2-40B4-BE49-F238E27FC236}">
                <a16:creationId xmlns:a16="http://schemas.microsoft.com/office/drawing/2014/main" id="{AAB109FD-A0CC-4B9F-95D1-F3AB39F233A3}"/>
              </a:ext>
            </a:extLst>
          </p:cNvPr>
          <p:cNvSpPr>
            <a:spLocks xmlns:a="http://schemas.openxmlformats.org/drawingml/2006/main" noGrp="1"/>
          </p:cNvSpPr>
          <p:nvPr/>
        </p:nvSpPr>
        <p:spPr>
          <a:xfrm xmlns:a="http://schemas.openxmlformats.org/drawingml/2006/main">
            <a:off x="8572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3D8DFF"/>
                </a:solidFill>
              </a:defRPr>
            </a:pPr>
            <a:r>
              <a:rPr sz="1500" b="1">
                <a:solidFill>
                  <a:srgbClr val="3D8DFF"/>
                </a:solidFill>
              </a:rPr>
              <a:t>d(zₜ, μ₀) / σ₀</a:t>
            </a:r>
          </a:p>
        </p:txBody>
      </p:sp>
      <p:sp>
        <p:nvSpPr>
          <p:cNvPr id="21" name="">
            <a:extLst xmlns:a="http://schemas.openxmlformats.org/drawingml/2006/main">
              <a:ext uri="{FF2B5EF4-FFF2-40B4-BE49-F238E27FC236}">
                <a16:creationId xmlns:a16="http://schemas.microsoft.com/office/drawing/2014/main" id="{F5CEB4DE-F6DD-4F62-AEAD-A6BFEA29561A}"/>
              </a:ext>
            </a:extLst>
          </p:cNvPr>
          <p:cNvSpPr>
            <a:spLocks xmlns:a="http://schemas.openxmlformats.org/drawingml/2006/main" noGrp="1"/>
          </p:cNvSpPr>
          <p:nvPr/>
        </p:nvSpPr>
        <p:spPr>
          <a:xfrm xmlns:a="http://schemas.openxmlformats.org/drawingml/2006/main">
            <a:off x="45529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39A96B"/>
                </a:solidFill>
              </a:defRPr>
            </a:pPr>
            <a:r>
              <a:rPr sz="1425" b="1">
                <a:solidFill>
                  <a:srgbClr val="39A96B"/>
                </a:solidFill>
              </a:rPr>
              <a:t>slope(Levelₜ₋₉…Levelₜ)</a:t>
            </a:r>
          </a:p>
        </p:txBody>
      </p:sp>
      <p:sp>
        <p:nvSpPr>
          <p:cNvPr id="22" name="">
            <a:extLst xmlns:a="http://schemas.openxmlformats.org/drawingml/2006/main">
              <a:ext uri="{FF2B5EF4-FFF2-40B4-BE49-F238E27FC236}">
                <a16:creationId xmlns:a16="http://schemas.microsoft.com/office/drawing/2014/main" id="{7EFD6A73-7180-42AF-86BC-2A1AE76A5BC8}"/>
              </a:ext>
            </a:extLst>
          </p:cNvPr>
          <p:cNvSpPr>
            <a:spLocks xmlns:a="http://schemas.openxmlformats.org/drawingml/2006/main" noGrp="1"/>
          </p:cNvSpPr>
          <p:nvPr/>
        </p:nvSpPr>
        <p:spPr>
          <a:xfrm xmlns:a="http://schemas.openxmlformats.org/drawingml/2006/main">
            <a:off x="82486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F2A24A"/>
                </a:solidFill>
              </a:defRPr>
            </a:pPr>
            <a:r>
              <a:rPr sz="1425" b="1">
                <a:solidFill>
                  <a:srgbClr val="F2A24A"/>
                </a:solidFill>
              </a:rPr>
              <a:t>mean ‖zₜ−zₜ₋₁‖₂</a:t>
            </a:r>
          </a:p>
        </p:txBody>
      </p:sp>
      <p:sp>
        <p:nvSpPr>
          <p:cNvPr id="23" name="">
            <a:extLst xmlns:a="http://schemas.openxmlformats.org/drawingml/2006/main">
              <a:ext uri="{FF2B5EF4-FFF2-40B4-BE49-F238E27FC236}">
                <a16:creationId xmlns:a16="http://schemas.microsoft.com/office/drawing/2014/main" id="{70351724-E9DA-42D0-99A8-158D3A41CCDF}"/>
              </a:ext>
            </a:extLst>
          </p:cNvPr>
          <p:cNvSpPr>
            <a:spLocks xmlns:a="http://schemas.openxmlformats.org/drawingml/2006/main" noGrp="1"/>
          </p:cNvSpPr>
          <p:nvPr/>
        </p:nvSpPr>
        <p:spPr>
          <a:xfrm xmlns:a="http://schemas.openxmlformats.org/drawingml/2006/main">
            <a:off x="8572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9616D"/>
                </a:solidFill>
              </a:defRPr>
            </a:pPr>
            <a:r>
              <a:rPr sz="1200" b="0">
                <a:solidFill>
                  <a:srgbClr val="59616D"/>
                </a:solidFill>
              </a:rPr>
              <a:t>klein = nahe Referenz</a:t>
            </a:r>
          </a:p>
        </p:txBody>
      </p:sp>
      <p:sp>
        <p:nvSpPr>
          <p:cNvPr id="24" name="">
            <a:extLst xmlns:a="http://schemas.openxmlformats.org/drawingml/2006/main">
              <a:ext uri="{FF2B5EF4-FFF2-40B4-BE49-F238E27FC236}">
                <a16:creationId xmlns:a16="http://schemas.microsoft.com/office/drawing/2014/main" id="{877003CD-516C-4B81-85D5-EB8D17F9E187}"/>
              </a:ext>
            </a:extLst>
          </p:cNvPr>
          <p:cNvSpPr>
            <a:spLocks xmlns:a="http://schemas.openxmlformats.org/drawingml/2006/main" noGrp="1"/>
          </p:cNvSpPr>
          <p:nvPr/>
        </p:nvSpPr>
        <p:spPr>
          <a:xfrm xmlns:a="http://schemas.openxmlformats.org/drawingml/2006/main">
            <a:off x="45529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9616D"/>
                </a:solidFill>
              </a:defRPr>
            </a:pPr>
            <a:r>
              <a:rPr sz="1200" b="0">
                <a:solidFill>
                  <a:srgbClr val="59616D"/>
                </a:solidFill>
              </a:rPr>
              <a:t>&gt; 0 = Entfernung nimmt zu</a:t>
            </a:r>
          </a:p>
        </p:txBody>
      </p:sp>
      <p:sp>
        <p:nvSpPr>
          <p:cNvPr id="25" name="">
            <a:extLst xmlns:a="http://schemas.openxmlformats.org/drawingml/2006/main">
              <a:ext uri="{FF2B5EF4-FFF2-40B4-BE49-F238E27FC236}">
                <a16:creationId xmlns:a16="http://schemas.microsoft.com/office/drawing/2014/main" id="{2352CC90-3624-4CBA-8B57-AB3530EA9850}"/>
              </a:ext>
            </a:extLst>
          </p:cNvPr>
          <p:cNvSpPr>
            <a:spLocks xmlns:a="http://schemas.openxmlformats.org/drawingml/2006/main" noGrp="1"/>
          </p:cNvSpPr>
          <p:nvPr/>
        </p:nvSpPr>
        <p:spPr>
          <a:xfrm xmlns:a="http://schemas.openxmlformats.org/drawingml/2006/main">
            <a:off x="82486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9616D"/>
                </a:solidFill>
              </a:defRPr>
            </a:pPr>
            <a:r>
              <a:rPr sz="1200" b="0">
                <a:solidFill>
                  <a:srgbClr val="59616D"/>
                </a:solidFill>
              </a:rPr>
              <a:t>groß = schnelle Änderung</a:t>
            </a:r>
          </a:p>
        </p:txBody>
      </p:sp>
      <p:sp>
        <p:nvSpPr>
          <p:cNvPr id="26" name="">
            <a:extLst xmlns:a="http://schemas.openxmlformats.org/drawingml/2006/main">
              <a:ext uri="{FF2B5EF4-FFF2-40B4-BE49-F238E27FC236}">
                <a16:creationId xmlns:a16="http://schemas.microsoft.com/office/drawing/2014/main" id="{1427D3B0-96ED-45E4-8F25-00EA988B7D20}"/>
              </a:ext>
            </a:extLst>
          </p:cNvPr>
          <p:cNvSpPr>
            <a:spLocks xmlns:a="http://schemas.openxmlformats.org/drawingml/2006/main" noGrp="1"/>
          </p:cNvSpPr>
          <p:nvPr/>
        </p:nvSpPr>
        <p:spPr>
          <a:xfrm xmlns:a="http://schemas.openxmlformats.org/drawingml/2006/main">
            <a:off x="609600" y="5010150"/>
            <a:ext cx="10668000" cy="723900"/>
          </a:xfrm>
          <a:prstGeom xmlns:a="http://schemas.openxmlformats.org/drawingml/2006/main" prst="roundRect">
            <a:avLst>
              <a:gd name="adj" fmla="val 15789"/>
            </a:avLst>
          </a:prstGeom>
          <a:solidFill xmlns:a="http://schemas.openxmlformats.org/drawingml/2006/main">
            <a:srgbClr val="222831"/>
          </a:solidFill>
          <a:ln xmlns:a="http://schemas.openxmlformats.org/drawingml/2006/main" w="9525">
            <a:solidFill>
              <a:srgbClr val="222831"/>
            </a:solidFill>
            <a:prstDash val="solid"/>
          </a:ln>
        </p:spPr>
      </p:sp>
      <p:sp>
        <p:nvSpPr>
          <p:cNvPr id="27" name="">
            <a:extLst xmlns:a="http://schemas.openxmlformats.org/drawingml/2006/main">
              <a:ext uri="{FF2B5EF4-FFF2-40B4-BE49-F238E27FC236}">
                <a16:creationId xmlns:a16="http://schemas.microsoft.com/office/drawing/2014/main" id="{95C80FA0-103E-4D86-9576-E2EBB99111D9}"/>
              </a:ext>
            </a:extLst>
          </p:cNvPr>
          <p:cNvSpPr>
            <a:spLocks xmlns:a="http://schemas.openxmlformats.org/drawingml/2006/main" noGrp="1"/>
          </p:cNvSpPr>
          <p:nvPr/>
        </p:nvSpPr>
        <p:spPr>
          <a:xfrm xmlns:a="http://schemas.openxmlformats.org/drawingml/2006/main">
            <a:off x="876300" y="51720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6DCBF4"/>
                </a:solidFill>
              </a:defRPr>
            </a:pPr>
            <a:r>
              <a:rPr sz="1350" b="1">
                <a:solidFill>
                  <a:srgbClr val="6DCBF4"/>
                </a:solidFill>
              </a:rPr>
              <a:t>CALIBRATING</a:t>
            </a:r>
          </a:p>
        </p:txBody>
      </p:sp>
      <p:sp>
        <p:nvSpPr>
          <p:cNvPr id="28" name="">
            <a:extLst xmlns:a="http://schemas.openxmlformats.org/drawingml/2006/main">
              <a:ext uri="{FF2B5EF4-FFF2-40B4-BE49-F238E27FC236}">
                <a16:creationId xmlns:a16="http://schemas.microsoft.com/office/drawing/2014/main" id="{786C036A-5158-4F8B-9C0F-F11B9C549974}"/>
              </a:ext>
            </a:extLst>
          </p:cNvPr>
          <p:cNvSpPr>
            <a:spLocks xmlns:a="http://schemas.openxmlformats.org/drawingml/2006/main" noGrp="1"/>
          </p:cNvSpPr>
          <p:nvPr/>
        </p:nvSpPr>
        <p:spPr>
          <a:xfrm xmlns:a="http://schemas.openxmlformats.org/drawingml/2006/main">
            <a:off x="2514600" y="517207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FFFF"/>
                </a:solidFill>
              </a:defRPr>
            </a:pPr>
            <a:r>
              <a:rPr sz="1425" b="1">
                <a:solidFill>
                  <a:srgbClr val="FFFFFF"/>
                </a:solidFill>
              </a:rPr>
              <a:t>15 frühe Messungen</a:t>
            </a:r>
          </a:p>
        </p:txBody>
      </p:sp>
      <p:sp>
        <p:nvSpPr>
          <p:cNvPr id="29" name="">
            <a:extLst xmlns:a="http://schemas.openxmlformats.org/drawingml/2006/main">
              <a:ext uri="{FF2B5EF4-FFF2-40B4-BE49-F238E27FC236}">
                <a16:creationId xmlns:a16="http://schemas.microsoft.com/office/drawing/2014/main" id="{98943302-C195-4215-BD8D-9828A4300183}"/>
              </a:ext>
            </a:extLst>
          </p:cNvPr>
          <p:cNvSpPr>
            <a:spLocks xmlns:a="http://schemas.openxmlformats.org/drawingml/2006/main" noGrp="1"/>
          </p:cNvSpPr>
          <p:nvPr/>
        </p:nvSpPr>
        <p:spPr>
          <a:xfrm xmlns:a="http://schemas.openxmlformats.org/drawingml/2006/main">
            <a:off x="4610100" y="517207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6DCBF4"/>
                </a:solidFill>
              </a:defRPr>
            </a:pPr>
            <a:r>
              <a:rPr sz="1950" b="1">
                <a:solidFill>
                  <a:srgbClr val="6DCBF4"/>
                </a:solidFill>
              </a:rPr>
              <a:t>→</a:t>
            </a:r>
          </a:p>
        </p:txBody>
      </p:sp>
      <p:sp>
        <p:nvSpPr>
          <p:cNvPr id="30" name="">
            <a:extLst xmlns:a="http://schemas.openxmlformats.org/drawingml/2006/main">
              <a:ext uri="{FF2B5EF4-FFF2-40B4-BE49-F238E27FC236}">
                <a16:creationId xmlns:a16="http://schemas.microsoft.com/office/drawing/2014/main" id="{4C78B05F-56D2-49B7-910A-301560512130}"/>
              </a:ext>
            </a:extLst>
          </p:cNvPr>
          <p:cNvSpPr>
            <a:spLocks xmlns:a="http://schemas.openxmlformats.org/drawingml/2006/main" noGrp="1"/>
          </p:cNvSpPr>
          <p:nvPr/>
        </p:nvSpPr>
        <p:spPr>
          <a:xfrm xmlns:a="http://schemas.openxmlformats.org/drawingml/2006/main">
            <a:off x="5219700" y="51720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39A96B"/>
                </a:solidFill>
              </a:defRPr>
            </a:pPr>
            <a:r>
              <a:rPr sz="1350" b="1">
                <a:solidFill>
                  <a:srgbClr val="39A96B"/>
                </a:solidFill>
              </a:rPr>
              <a:t>READY</a:t>
            </a:r>
          </a:p>
        </p:txBody>
      </p:sp>
      <p:sp>
        <p:nvSpPr>
          <p:cNvPr id="31" name="">
            <a:extLst xmlns:a="http://schemas.openxmlformats.org/drawingml/2006/main">
              <a:ext uri="{FF2B5EF4-FFF2-40B4-BE49-F238E27FC236}">
                <a16:creationId xmlns:a16="http://schemas.microsoft.com/office/drawing/2014/main" id="{998F6767-775C-458B-8EDB-30C640686156}"/>
              </a:ext>
            </a:extLst>
          </p:cNvPr>
          <p:cNvSpPr>
            <a:spLocks xmlns:a="http://schemas.openxmlformats.org/drawingml/2006/main" noGrp="1"/>
          </p:cNvSpPr>
          <p:nvPr/>
        </p:nvSpPr>
        <p:spPr>
          <a:xfrm xmlns:a="http://schemas.openxmlformats.org/drawingml/2006/main">
            <a:off x="6591300" y="517207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FFFF"/>
                </a:solidFill>
              </a:defRPr>
            </a:pPr>
            <a:r>
              <a:rPr sz="1425" b="1">
                <a:solidFill>
                  <a:srgbClr val="FFFFFF"/>
                </a:solidFill>
              </a:rPr>
              <a:t>Zeitfenster = 10 Messungen</a:t>
            </a:r>
          </a:p>
        </p:txBody>
      </p:sp>
    </p:spTree>
    <p:extLst>
      <p:ext uri="{BB962C8B-B14F-4D97-AF65-F5344CB8AC3E}">
        <p14:creationId xmlns:p14="http://schemas.microsoft.com/office/powerpoint/2010/main" val="168049641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2EC5FC4-92DD-4D2D-BBA4-4CE960E81E91}"/>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VERSUCHSDESIGN</a:t>
            </a:r>
          </a:p>
        </p:txBody>
      </p:sp>
      <p:sp>
        <p:nvSpPr>
          <p:cNvPr id="2" name="">
            <a:extLst xmlns:a="http://schemas.openxmlformats.org/drawingml/2006/main">
              <a:ext uri="{FF2B5EF4-FFF2-40B4-BE49-F238E27FC236}">
                <a16:creationId xmlns:a16="http://schemas.microsoft.com/office/drawing/2014/main" id="{ADFCAF1A-6BD1-41D8-A10E-A5894FEF664D}"/>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Zwei Arme trennen direkte Generalisierung und Encoder-Anpassung</a:t>
            </a:r>
          </a:p>
        </p:txBody>
      </p:sp>
      <p:sp>
        <p:nvSpPr>
          <p:cNvPr id="3" name="">
            <a:extLst xmlns:a="http://schemas.openxmlformats.org/drawingml/2006/main">
              <a:ext uri="{FF2B5EF4-FFF2-40B4-BE49-F238E27FC236}">
                <a16:creationId xmlns:a16="http://schemas.microsoft.com/office/drawing/2014/main" id="{7670BF5B-CAF9-4543-AE1F-EDD2CCEAA617}"/>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1DF1E1BF-DA13-493D-8626-6E679EF4ADDF}"/>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06</a:t>
            </a:r>
          </a:p>
        </p:txBody>
      </p:sp>
      <p:sp>
        <p:nvSpPr>
          <p:cNvPr id="5" name="">
            <a:extLst xmlns:a="http://schemas.openxmlformats.org/drawingml/2006/main">
              <a:ext uri="{FF2B5EF4-FFF2-40B4-BE49-F238E27FC236}">
                <a16:creationId xmlns:a16="http://schemas.microsoft.com/office/drawing/2014/main" id="{21098004-1778-4468-B8F1-08F51FE26597}"/>
              </a:ext>
            </a:extLst>
          </p:cNvPr>
          <p:cNvSpPr>
            <a:spLocks xmlns:a="http://schemas.openxmlformats.org/drawingml/2006/main" noGrp="1"/>
          </p:cNvSpPr>
          <p:nvPr/>
        </p:nvSpPr>
        <p:spPr>
          <a:xfrm xmlns:a="http://schemas.openxmlformats.org/drawingml/2006/main">
            <a:off x="609600" y="1714500"/>
            <a:ext cx="51435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804D2A36-EC5D-4CDF-A6C6-072AA08A5AFA}"/>
              </a:ext>
            </a:extLst>
          </p:cNvPr>
          <p:cNvSpPr>
            <a:spLocks xmlns:a="http://schemas.openxmlformats.org/drawingml/2006/main" noGrp="1"/>
          </p:cNvSpPr>
          <p:nvPr/>
        </p:nvSpPr>
        <p:spPr>
          <a:xfrm xmlns:a="http://schemas.openxmlformats.org/drawingml/2006/main">
            <a:off x="876300" y="1981200"/>
            <a:ext cx="952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23696872-E3E6-4ABE-B723-A89B5361782C}"/>
              </a:ext>
            </a:extLst>
          </p:cNvPr>
          <p:cNvSpPr>
            <a:spLocks xmlns:a="http://schemas.openxmlformats.org/drawingml/2006/main" noGrp="1"/>
          </p:cNvSpPr>
          <p:nvPr/>
        </p:nvSpPr>
        <p:spPr>
          <a:xfrm xmlns:a="http://schemas.openxmlformats.org/drawingml/2006/main">
            <a:off x="9906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ARM A</a:t>
            </a:r>
          </a:p>
        </p:txBody>
      </p:sp>
      <p:sp>
        <p:nvSpPr>
          <p:cNvPr id="8" name="">
            <a:extLst xmlns:a="http://schemas.openxmlformats.org/drawingml/2006/main">
              <a:ext uri="{FF2B5EF4-FFF2-40B4-BE49-F238E27FC236}">
                <a16:creationId xmlns:a16="http://schemas.microsoft.com/office/drawing/2014/main" id="{F1FDAFB4-AF92-46FC-A773-822880722145}"/>
              </a:ext>
            </a:extLst>
          </p:cNvPr>
          <p:cNvSpPr>
            <a:spLocks xmlns:a="http://schemas.openxmlformats.org/drawingml/2006/main" noGrp="1"/>
          </p:cNvSpPr>
          <p:nvPr/>
        </p:nvSpPr>
        <p:spPr>
          <a:xfrm xmlns:a="http://schemas.openxmlformats.org/drawingml/2006/main">
            <a:off x="876300" y="2533650"/>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01318"/>
                </a:solidFill>
              </a:defRPr>
            </a:pPr>
            <a:r>
              <a:rPr sz="2175" b="1">
                <a:solidFill>
                  <a:srgbClr val="101318"/>
                </a:solidFill>
              </a:rPr>
              <a:t>Direkte Generalisierung</a:t>
            </a:r>
          </a:p>
        </p:txBody>
      </p:sp>
      <p:sp>
        <p:nvSpPr>
          <p:cNvPr id="9" name="">
            <a:extLst xmlns:a="http://schemas.openxmlformats.org/drawingml/2006/main">
              <a:ext uri="{FF2B5EF4-FFF2-40B4-BE49-F238E27FC236}">
                <a16:creationId xmlns:a16="http://schemas.microsoft.com/office/drawing/2014/main" id="{AEF60120-8DD4-4419-A65B-A7BD5BADCAED}"/>
              </a:ext>
            </a:extLst>
          </p:cNvPr>
          <p:cNvSpPr>
            <a:spLocks xmlns:a="http://schemas.openxmlformats.org/drawingml/2006/main" noGrp="1"/>
          </p:cNvSpPr>
          <p:nvPr/>
        </p:nvSpPr>
        <p:spPr>
          <a:xfrm xmlns:a="http://schemas.openxmlformats.org/drawingml/2006/main">
            <a:off x="876300" y="3086100"/>
            <a:ext cx="42481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Normalisierung: Quelle 35 Hz / 12 kN</a:t>
            </a:r>
          </a:p>
          <a:p xmlns:a="http://schemas.openxmlformats.org/drawingml/2006/main">
            <a:pPr algn="l">
              <a:buNone/>
              <a:defRPr sz="1425" b="0">
                <a:solidFill>
                  <a:srgbClr val="59616D"/>
                </a:solidFill>
              </a:defRPr>
            </a:pPr>
            <a:r>
              <a:rPr sz="1425" b="0">
                <a:solidFill>
                  <a:srgbClr val="59616D"/>
                </a:solidFill>
              </a:rPr>
              <a:t>Encoder: Quell-Checkpoint eingefroren</a:t>
            </a:r>
          </a:p>
          <a:p xmlns:a="http://schemas.openxmlformats.org/drawingml/2006/main">
            <a:pPr algn="l">
              <a:buNone/>
              <a:defRPr sz="1425" b="0">
                <a:solidFill>
                  <a:srgbClr val="59616D"/>
                </a:solidFill>
              </a:defRPr>
            </a:pPr>
            <a:r>
              <a:rPr sz="1425" b="0">
                <a:solidFill>
                  <a:srgbClr val="59616D"/>
                </a:solidFill>
              </a:rPr>
              <a:t>Interpreter: Kalibrierung 15 / Fenster 10</a:t>
            </a:r>
          </a:p>
          <a:p xmlns:a="http://schemas.openxmlformats.org/drawingml/2006/main">
            <a:pPr algn="l">
              <a:buNone/>
              <a:defRPr sz="1425" b="0">
                <a:solidFill>
                  <a:srgbClr val="59616D"/>
                </a:solidFill>
              </a:defRPr>
            </a:pPr>
            <a:r>
              <a:rPr sz="1425" b="0">
                <a:solidFill>
                  <a:srgbClr val="59616D"/>
                </a:solidFill>
              </a:rPr>
              <a:t>Neues Training: keines</a:t>
            </a:r>
          </a:p>
        </p:txBody>
      </p:sp>
      <p:sp>
        <p:nvSpPr>
          <p:cNvPr id="10" name="">
            <a:extLst xmlns:a="http://schemas.openxmlformats.org/drawingml/2006/main">
              <a:ext uri="{FF2B5EF4-FFF2-40B4-BE49-F238E27FC236}">
                <a16:creationId xmlns:a16="http://schemas.microsoft.com/office/drawing/2014/main" id="{55B9DEC5-1C98-4BE2-983C-1D9C251759D7}"/>
              </a:ext>
            </a:extLst>
          </p:cNvPr>
          <p:cNvSpPr>
            <a:spLocks xmlns:a="http://schemas.openxmlformats.org/drawingml/2006/main" noGrp="1"/>
          </p:cNvSpPr>
          <p:nvPr/>
        </p:nvSpPr>
        <p:spPr>
          <a:xfrm xmlns:a="http://schemas.openxmlformats.org/drawingml/2006/main">
            <a:off x="6057900" y="1714500"/>
            <a:ext cx="52197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8B220A5F-2279-4D49-B4EA-20B47748E304}"/>
              </a:ext>
            </a:extLst>
          </p:cNvPr>
          <p:cNvSpPr>
            <a:spLocks xmlns:a="http://schemas.openxmlformats.org/drawingml/2006/main" noGrp="1"/>
          </p:cNvSpPr>
          <p:nvPr/>
        </p:nvSpPr>
        <p:spPr>
          <a:xfrm xmlns:a="http://schemas.openxmlformats.org/drawingml/2006/main">
            <a:off x="6324600" y="1981200"/>
            <a:ext cx="9525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0796E9D3-CE3C-4FFB-BFDF-CCB5E08838A1}"/>
              </a:ext>
            </a:extLst>
          </p:cNvPr>
          <p:cNvSpPr>
            <a:spLocks xmlns:a="http://schemas.openxmlformats.org/drawingml/2006/main" noGrp="1"/>
          </p:cNvSpPr>
          <p:nvPr/>
        </p:nvSpPr>
        <p:spPr>
          <a:xfrm xmlns:a="http://schemas.openxmlformats.org/drawingml/2006/main">
            <a:off x="64389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ARM B</a:t>
            </a:r>
          </a:p>
        </p:txBody>
      </p:sp>
      <p:sp>
        <p:nvSpPr>
          <p:cNvPr id="13" name="">
            <a:extLst xmlns:a="http://schemas.openxmlformats.org/drawingml/2006/main">
              <a:ext uri="{FF2B5EF4-FFF2-40B4-BE49-F238E27FC236}">
                <a16:creationId xmlns:a16="http://schemas.microsoft.com/office/drawing/2014/main" id="{AD3F5ECB-0385-403E-93D2-37F64C037648}"/>
              </a:ext>
            </a:extLst>
          </p:cNvPr>
          <p:cNvSpPr>
            <a:spLocks xmlns:a="http://schemas.openxmlformats.org/drawingml/2006/main" noGrp="1"/>
          </p:cNvSpPr>
          <p:nvPr/>
        </p:nvSpPr>
        <p:spPr>
          <a:xfrm xmlns:a="http://schemas.openxmlformats.org/drawingml/2006/main">
            <a:off x="6324600" y="253365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01318"/>
                </a:solidFill>
              </a:defRPr>
            </a:pPr>
            <a:r>
              <a:rPr sz="2175" b="1">
                <a:solidFill>
                  <a:srgbClr val="101318"/>
                </a:solidFill>
              </a:rPr>
              <a:t>Encoder-Anpassung</a:t>
            </a:r>
          </a:p>
        </p:txBody>
      </p:sp>
      <p:sp>
        <p:nvSpPr>
          <p:cNvPr id="14" name="">
            <a:extLst xmlns:a="http://schemas.openxmlformats.org/drawingml/2006/main">
              <a:ext uri="{FF2B5EF4-FFF2-40B4-BE49-F238E27FC236}">
                <a16:creationId xmlns:a16="http://schemas.microsoft.com/office/drawing/2014/main" id="{49E1CBC2-EEA8-494C-9B13-D940F07B42AF}"/>
              </a:ext>
            </a:extLst>
          </p:cNvPr>
          <p:cNvSpPr>
            <a:spLocks xmlns:a="http://schemas.openxmlformats.org/drawingml/2006/main" noGrp="1"/>
          </p:cNvSpPr>
          <p:nvPr/>
        </p:nvSpPr>
        <p:spPr>
          <a:xfrm xmlns:a="http://schemas.openxmlformats.org/drawingml/2006/main">
            <a:off x="6324600" y="3086100"/>
            <a:ext cx="43053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Normalisierung: Ziel 37,5 Hz / 11 kN</a:t>
            </a:r>
          </a:p>
          <a:p xmlns:a="http://schemas.openxmlformats.org/drawingml/2006/main">
            <a:pPr algn="l">
              <a:buNone/>
              <a:defRPr sz="1425" b="0">
                <a:solidFill>
                  <a:srgbClr val="59616D"/>
                </a:solidFill>
              </a:defRPr>
            </a:pPr>
            <a:r>
              <a:rPr sz="1425" b="0">
                <a:solidFill>
                  <a:srgbClr val="59616D"/>
                </a:solidFill>
              </a:rPr>
              <a:t>Encoder: gleiche Architektur, neu trainiert</a:t>
            </a:r>
          </a:p>
          <a:p xmlns:a="http://schemas.openxmlformats.org/drawingml/2006/main">
            <a:pPr algn="l">
              <a:buNone/>
              <a:defRPr sz="1425" b="0">
                <a:solidFill>
                  <a:srgbClr val="59616D"/>
                </a:solidFill>
              </a:defRPr>
            </a:pPr>
            <a:r>
              <a:rPr sz="1425" b="0">
                <a:solidFill>
                  <a:srgbClr val="59616D"/>
                </a:solidFill>
              </a:rPr>
              <a:t>Interpreter: Kalibrierung 15 / Fenster 10</a:t>
            </a:r>
          </a:p>
          <a:p xmlns:a="http://schemas.openxmlformats.org/drawingml/2006/main">
            <a:pPr algn="l">
              <a:buNone/>
              <a:defRPr sz="1425" b="0">
                <a:solidFill>
                  <a:srgbClr val="59616D"/>
                </a:solidFill>
              </a:defRPr>
            </a:pPr>
            <a:r>
              <a:rPr sz="1425" b="0">
                <a:solidFill>
                  <a:srgbClr val="59616D"/>
                </a:solidFill>
              </a:rPr>
              <a:t>Neues Training: nur AutoEncoder</a:t>
            </a:r>
          </a:p>
        </p:txBody>
      </p:sp>
      <p:sp>
        <p:nvSpPr>
          <p:cNvPr id="15" name="">
            <a:extLst xmlns:a="http://schemas.openxmlformats.org/drawingml/2006/main">
              <a:ext uri="{FF2B5EF4-FFF2-40B4-BE49-F238E27FC236}">
                <a16:creationId xmlns:a16="http://schemas.microsoft.com/office/drawing/2014/main" id="{15C27815-9933-4C82-8AF6-86B6D2267689}"/>
              </a:ext>
            </a:extLst>
          </p:cNvPr>
          <p:cNvSpPr>
            <a:spLocks xmlns:a="http://schemas.openxmlformats.org/drawingml/2006/main" noGrp="1"/>
          </p:cNvSpPr>
          <p:nvPr/>
        </p:nvSpPr>
        <p:spPr>
          <a:xfrm xmlns:a="http://schemas.openxmlformats.org/drawingml/2006/main">
            <a:off x="609600" y="5219700"/>
            <a:ext cx="10668000" cy="571500"/>
          </a:xfrm>
          <a:prstGeom xmlns:a="http://schemas.openxmlformats.org/drawingml/2006/main" prst="roundRect">
            <a:avLst>
              <a:gd name="adj" fmla="val 20000"/>
            </a:avLst>
          </a:prstGeom>
          <a:solidFill xmlns:a="http://schemas.openxmlformats.org/drawingml/2006/main">
            <a:srgbClr val="222831"/>
          </a:solidFill>
          <a:ln xmlns:a="http://schemas.openxmlformats.org/drawingml/2006/main" w="9525">
            <a:solidFill>
              <a:srgbClr val="222831"/>
            </a:solidFill>
            <a:prstDash val="solid"/>
          </a:ln>
        </p:spPr>
      </p:sp>
      <p:sp>
        <p:nvSpPr>
          <p:cNvPr id="16" name="">
            <a:extLst xmlns:a="http://schemas.openxmlformats.org/drawingml/2006/main">
              <a:ext uri="{FF2B5EF4-FFF2-40B4-BE49-F238E27FC236}">
                <a16:creationId xmlns:a16="http://schemas.microsoft.com/office/drawing/2014/main" id="{B8A9529B-762F-4412-8EC5-E2E41F2C52FC}"/>
              </a:ext>
            </a:extLst>
          </p:cNvPr>
          <p:cNvSpPr>
            <a:spLocks xmlns:a="http://schemas.openxmlformats.org/drawingml/2006/main" noGrp="1"/>
          </p:cNvSpPr>
          <p:nvPr/>
        </p:nvSpPr>
        <p:spPr>
          <a:xfrm xmlns:a="http://schemas.openxmlformats.org/drawingml/2006/main">
            <a:off x="838200" y="530542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FFFFF"/>
                </a:solidFill>
              </a:defRPr>
            </a:pPr>
            <a:r>
              <a:rPr sz="1350" b="1">
                <a:solidFill>
                  <a:srgbClr val="FFFFFF"/>
                </a:solidFill>
              </a:rPr>
              <a:t>37,5 Hz / 11 kN  ·  Entwicklung: Bearing2_1–2_3  ·  Validierung: Bearing2_4  ·  Blind: Bearing2_5</a:t>
            </a:r>
          </a:p>
        </p:txBody>
      </p:sp>
    </p:spTree>
    <p:extLst>
      <p:ext uri="{BB962C8B-B14F-4D97-AF65-F5344CB8AC3E}">
        <p14:creationId xmlns:p14="http://schemas.microsoft.com/office/powerpoint/2010/main" val="1627646425"/>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3CEAA53-8E20-416B-8E1D-7CA4B6BDCAFB}"/>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ENCODER-ANPASSUNG</a:t>
            </a:r>
          </a:p>
        </p:txBody>
      </p:sp>
      <p:sp>
        <p:nvSpPr>
          <p:cNvPr id="2" name="">
            <a:extLst xmlns:a="http://schemas.openxmlformats.org/drawingml/2006/main">
              <a:ext uri="{FF2B5EF4-FFF2-40B4-BE49-F238E27FC236}">
                <a16:creationId xmlns:a16="http://schemas.microsoft.com/office/drawing/2014/main" id="{C700EF31-B62A-42EE-A58B-CFB3DD359CFF}"/>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Arm B lernt den Ziel-Latentraum ohne Zugriff auf Bearing2_5</a:t>
            </a:r>
          </a:p>
        </p:txBody>
      </p:sp>
      <p:sp>
        <p:nvSpPr>
          <p:cNvPr id="3" name="">
            <a:extLst xmlns:a="http://schemas.openxmlformats.org/drawingml/2006/main">
              <a:ext uri="{FF2B5EF4-FFF2-40B4-BE49-F238E27FC236}">
                <a16:creationId xmlns:a16="http://schemas.microsoft.com/office/drawing/2014/main" id="{1F369D3B-C7D8-432C-B8AA-2117F9553B83}"/>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3764C1A-4230-4A55-933E-0C7C63A7E2D8}"/>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07</a:t>
            </a:r>
          </a:p>
        </p:txBody>
      </p:sp>
      <p:sp>
        <p:nvSpPr>
          <p:cNvPr id="5" name="">
            <a:extLst xmlns:a="http://schemas.openxmlformats.org/drawingml/2006/main">
              <a:ext uri="{FF2B5EF4-FFF2-40B4-BE49-F238E27FC236}">
                <a16:creationId xmlns:a16="http://schemas.microsoft.com/office/drawing/2014/main" id="{8CF76B1A-7C39-440B-929D-557F919E51B3}"/>
              </a:ext>
            </a:extLst>
          </p:cNvPr>
          <p:cNvSpPr>
            <a:spLocks xmlns:a="http://schemas.openxmlformats.org/drawingml/2006/main" noGrp="1"/>
          </p:cNvSpPr>
          <p:nvPr/>
        </p:nvSpPr>
        <p:spPr>
          <a:xfrm xmlns:a="http://schemas.openxmlformats.org/drawingml/2006/main">
            <a:off x="609600" y="1714500"/>
            <a:ext cx="3371850" cy="379095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028DC75F-6632-43E9-963C-3E45616106C7}"/>
              </a:ext>
            </a:extLst>
          </p:cNvPr>
          <p:cNvSpPr>
            <a:spLocks xmlns:a="http://schemas.openxmlformats.org/drawingml/2006/main" noGrp="1"/>
          </p:cNvSpPr>
          <p:nvPr/>
        </p:nvSpPr>
        <p:spPr>
          <a:xfrm xmlns:a="http://schemas.openxmlformats.org/drawingml/2006/main">
            <a:off x="876300" y="1981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D8DFF"/>
                </a:solidFill>
              </a:defRPr>
            </a:pPr>
            <a:r>
              <a:rPr sz="1125" b="1">
                <a:solidFill>
                  <a:srgbClr val="3D8DFF"/>
                </a:solidFill>
              </a:rPr>
              <a:t>DATENAUFTEILUNG</a:t>
            </a:r>
          </a:p>
        </p:txBody>
      </p:sp>
      <p:sp>
        <p:nvSpPr>
          <p:cNvPr id="7" name="">
            <a:extLst xmlns:a="http://schemas.openxmlformats.org/drawingml/2006/main">
              <a:ext uri="{FF2B5EF4-FFF2-40B4-BE49-F238E27FC236}">
                <a16:creationId xmlns:a16="http://schemas.microsoft.com/office/drawing/2014/main" id="{A63EF238-1D19-4FBC-9AC0-F5A238A4502F}"/>
              </a:ext>
            </a:extLst>
          </p:cNvPr>
          <p:cNvSpPr>
            <a:spLocks xmlns:a="http://schemas.openxmlformats.org/drawingml/2006/main" noGrp="1"/>
          </p:cNvSpPr>
          <p:nvPr/>
        </p:nvSpPr>
        <p:spPr>
          <a:xfrm xmlns:a="http://schemas.openxmlformats.org/drawingml/2006/main">
            <a:off x="876300" y="24574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101318"/>
                </a:solidFill>
              </a:defRPr>
            </a:pPr>
            <a:r>
              <a:rPr sz="1575" b="1">
                <a:solidFill>
                  <a:srgbClr val="101318"/>
                </a:solidFill>
              </a:rPr>
              <a:t>Training</a:t>
            </a:r>
          </a:p>
        </p:txBody>
      </p:sp>
      <p:sp>
        <p:nvSpPr>
          <p:cNvPr id="8" name="">
            <a:extLst xmlns:a="http://schemas.openxmlformats.org/drawingml/2006/main">
              <a:ext uri="{FF2B5EF4-FFF2-40B4-BE49-F238E27FC236}">
                <a16:creationId xmlns:a16="http://schemas.microsoft.com/office/drawing/2014/main" id="{8744E477-F70F-41C2-91F6-4C43639DDA9A}"/>
              </a:ext>
            </a:extLst>
          </p:cNvPr>
          <p:cNvSpPr>
            <a:spLocks xmlns:a="http://schemas.openxmlformats.org/drawingml/2006/main" noGrp="1"/>
          </p:cNvSpPr>
          <p:nvPr/>
        </p:nvSpPr>
        <p:spPr>
          <a:xfrm xmlns:a="http://schemas.openxmlformats.org/drawingml/2006/main">
            <a:off x="2228850" y="2457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575" b="1">
                <a:solidFill>
                  <a:srgbClr val="59616D"/>
                </a:solidFill>
              </a:defRPr>
            </a:pPr>
            <a:r>
              <a:rPr sz="1575" b="1">
                <a:solidFill>
                  <a:srgbClr val="59616D"/>
                </a:solidFill>
              </a:rPr>
              <a:t>B2_1–B2_3</a:t>
            </a:r>
          </a:p>
        </p:txBody>
      </p:sp>
      <p:sp>
        <p:nvSpPr>
          <p:cNvPr id="9" name="">
            <a:extLst xmlns:a="http://schemas.openxmlformats.org/drawingml/2006/main">
              <a:ext uri="{FF2B5EF4-FFF2-40B4-BE49-F238E27FC236}">
                <a16:creationId xmlns:a16="http://schemas.microsoft.com/office/drawing/2014/main" id="{D11A3584-2881-4BD5-8A34-91622CE32D39}"/>
              </a:ext>
            </a:extLst>
          </p:cNvPr>
          <p:cNvSpPr>
            <a:spLocks xmlns:a="http://schemas.openxmlformats.org/drawingml/2006/main" noGrp="1"/>
          </p:cNvSpPr>
          <p:nvPr/>
        </p:nvSpPr>
        <p:spPr>
          <a:xfrm xmlns:a="http://schemas.openxmlformats.org/drawingml/2006/main">
            <a:off x="876300" y="28956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Messungen</a:t>
            </a:r>
          </a:p>
        </p:txBody>
      </p:sp>
      <p:sp>
        <p:nvSpPr>
          <p:cNvPr id="10" name="">
            <a:extLst xmlns:a="http://schemas.openxmlformats.org/drawingml/2006/main">
              <a:ext uri="{FF2B5EF4-FFF2-40B4-BE49-F238E27FC236}">
                <a16:creationId xmlns:a16="http://schemas.microsoft.com/office/drawing/2014/main" id="{16D10E9C-66A2-4486-8C1D-A38F14E34964}"/>
              </a:ext>
            </a:extLst>
          </p:cNvPr>
          <p:cNvSpPr>
            <a:spLocks xmlns:a="http://schemas.openxmlformats.org/drawingml/2006/main" noGrp="1"/>
          </p:cNvSpPr>
          <p:nvPr/>
        </p:nvSpPr>
        <p:spPr>
          <a:xfrm xmlns:a="http://schemas.openxmlformats.org/drawingml/2006/main">
            <a:off x="2228850" y="2895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575" b="1">
                <a:solidFill>
                  <a:srgbClr val="101318"/>
                </a:solidFill>
              </a:defRPr>
            </a:pPr>
            <a:r>
              <a:rPr sz="1575" b="1">
                <a:solidFill>
                  <a:srgbClr val="101318"/>
                </a:solidFill>
              </a:rPr>
              <a:t>1.185</a:t>
            </a:r>
          </a:p>
        </p:txBody>
      </p:sp>
      <p:sp>
        <p:nvSpPr>
          <p:cNvPr id="11" name="">
            <a:extLst xmlns:a="http://schemas.openxmlformats.org/drawingml/2006/main">
              <a:ext uri="{FF2B5EF4-FFF2-40B4-BE49-F238E27FC236}">
                <a16:creationId xmlns:a16="http://schemas.microsoft.com/office/drawing/2014/main" id="{131AC800-6466-4E24-8DDD-C63E8A7AA79C}"/>
              </a:ext>
            </a:extLst>
          </p:cNvPr>
          <p:cNvSpPr>
            <a:spLocks xmlns:a="http://schemas.openxmlformats.org/drawingml/2006/main" noGrp="1"/>
          </p:cNvSpPr>
          <p:nvPr/>
        </p:nvSpPr>
        <p:spPr>
          <a:xfrm xmlns:a="http://schemas.openxmlformats.org/drawingml/2006/main">
            <a:off x="876300" y="33337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Validierung</a:t>
            </a:r>
          </a:p>
        </p:txBody>
      </p:sp>
      <p:sp>
        <p:nvSpPr>
          <p:cNvPr id="12" name="">
            <a:extLst xmlns:a="http://schemas.openxmlformats.org/drawingml/2006/main">
              <a:ext uri="{FF2B5EF4-FFF2-40B4-BE49-F238E27FC236}">
                <a16:creationId xmlns:a16="http://schemas.microsoft.com/office/drawing/2014/main" id="{F88BDD82-18A6-47EE-A55B-145F6BBBE840}"/>
              </a:ext>
            </a:extLst>
          </p:cNvPr>
          <p:cNvSpPr>
            <a:spLocks xmlns:a="http://schemas.openxmlformats.org/drawingml/2006/main" noGrp="1"/>
          </p:cNvSpPr>
          <p:nvPr/>
        </p:nvSpPr>
        <p:spPr>
          <a:xfrm xmlns:a="http://schemas.openxmlformats.org/drawingml/2006/main">
            <a:off x="2228850" y="33337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575" b="1">
                <a:solidFill>
                  <a:srgbClr val="101318"/>
                </a:solidFill>
              </a:defRPr>
            </a:pPr>
            <a:r>
              <a:rPr sz="1575" b="1">
                <a:solidFill>
                  <a:srgbClr val="101318"/>
                </a:solidFill>
              </a:rPr>
              <a:t>B2_4 · 42</a:t>
            </a:r>
          </a:p>
        </p:txBody>
      </p:sp>
      <p:sp>
        <p:nvSpPr>
          <p:cNvPr id="13" name="">
            <a:extLst xmlns:a="http://schemas.openxmlformats.org/drawingml/2006/main">
              <a:ext uri="{FF2B5EF4-FFF2-40B4-BE49-F238E27FC236}">
                <a16:creationId xmlns:a16="http://schemas.microsoft.com/office/drawing/2014/main" id="{24BE9296-95A0-4F3E-B770-581DAF9E0837}"/>
              </a:ext>
            </a:extLst>
          </p:cNvPr>
          <p:cNvSpPr>
            <a:spLocks xmlns:a="http://schemas.openxmlformats.org/drawingml/2006/main" noGrp="1"/>
          </p:cNvSpPr>
          <p:nvPr/>
        </p:nvSpPr>
        <p:spPr>
          <a:xfrm xmlns:a="http://schemas.openxmlformats.org/drawingml/2006/main">
            <a:off x="876300" y="37719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9616D"/>
                </a:solidFill>
              </a:defRPr>
            </a:pPr>
            <a:r>
              <a:rPr sz="1425" b="0">
                <a:solidFill>
                  <a:srgbClr val="59616D"/>
                </a:solidFill>
              </a:rPr>
              <a:t>Blind</a:t>
            </a:r>
          </a:p>
        </p:txBody>
      </p:sp>
      <p:sp>
        <p:nvSpPr>
          <p:cNvPr id="14" name="">
            <a:extLst xmlns:a="http://schemas.openxmlformats.org/drawingml/2006/main">
              <a:ext uri="{FF2B5EF4-FFF2-40B4-BE49-F238E27FC236}">
                <a16:creationId xmlns:a16="http://schemas.microsoft.com/office/drawing/2014/main" id="{591DF19C-5D4B-4246-A48B-FF1A329F0775}"/>
              </a:ext>
            </a:extLst>
          </p:cNvPr>
          <p:cNvSpPr>
            <a:spLocks xmlns:a="http://schemas.openxmlformats.org/drawingml/2006/main" noGrp="1"/>
          </p:cNvSpPr>
          <p:nvPr/>
        </p:nvSpPr>
        <p:spPr>
          <a:xfrm xmlns:a="http://schemas.openxmlformats.org/drawingml/2006/main">
            <a:off x="2019300" y="37719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425" b="1">
                <a:solidFill>
                  <a:srgbClr val="E35D6A"/>
                </a:solidFill>
              </a:defRPr>
            </a:pPr>
            <a:r>
              <a:rPr sz="1425" b="1">
                <a:solidFill>
                  <a:srgbClr val="E35D6A"/>
                </a:solidFill>
              </a:rPr>
              <a:t>B2_5 · 0 gelesen</a:t>
            </a:r>
          </a:p>
        </p:txBody>
      </p:sp>
      <p:sp>
        <p:nvSpPr>
          <p:cNvPr id="15" name="">
            <a:extLst xmlns:a="http://schemas.openxmlformats.org/drawingml/2006/main">
              <a:ext uri="{FF2B5EF4-FFF2-40B4-BE49-F238E27FC236}">
                <a16:creationId xmlns:a16="http://schemas.microsoft.com/office/drawing/2014/main" id="{E2A35B41-2EE2-4023-918E-E4CBC8E02447}"/>
              </a:ext>
            </a:extLst>
          </p:cNvPr>
          <p:cNvSpPr>
            <a:spLocks xmlns:a="http://schemas.openxmlformats.org/drawingml/2006/main" noGrp="1"/>
          </p:cNvSpPr>
          <p:nvPr/>
        </p:nvSpPr>
        <p:spPr>
          <a:xfrm xmlns:a="http://schemas.openxmlformats.org/drawingml/2006/main">
            <a:off x="876300" y="4438650"/>
            <a:ext cx="2781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59616D"/>
                </a:solidFill>
              </a:defRPr>
            </a:pPr>
            <a:r>
              <a:rPr sz="1275" b="0">
                <a:solidFill>
                  <a:srgbClr val="59616D"/>
                </a:solidFill>
              </a:rPr>
              <a:t>Normalisierung wird ausschließlich auf Trainings-Bearings geschätzt.</a:t>
            </a:r>
          </a:p>
        </p:txBody>
      </p:sp>
      <p:sp>
        <p:nvSpPr>
          <p:cNvPr id="16" name="">
            <a:extLst xmlns:a="http://schemas.openxmlformats.org/drawingml/2006/main">
              <a:ext uri="{FF2B5EF4-FFF2-40B4-BE49-F238E27FC236}">
                <a16:creationId xmlns:a16="http://schemas.microsoft.com/office/drawing/2014/main" id="{C291A4DF-24E0-42B7-8DA3-FF8CB9E03CF6}"/>
              </a:ext>
            </a:extLst>
          </p:cNvPr>
          <p:cNvSpPr>
            <a:spLocks xmlns:a="http://schemas.openxmlformats.org/drawingml/2006/main" noGrp="1"/>
          </p:cNvSpPr>
          <p:nvPr/>
        </p:nvSpPr>
        <p:spPr>
          <a:xfrm xmlns:a="http://schemas.openxmlformats.org/drawingml/2006/main">
            <a:off x="4305300" y="1714500"/>
            <a:ext cx="6972300" cy="3790950"/>
          </a:xfrm>
          <a:prstGeom xmlns:a="http://schemas.openxmlformats.org/drawingml/2006/main" prst="roundRect">
            <a:avLst>
              <a:gd name="adj" fmla="val 3015"/>
            </a:avLst>
          </a:prstGeom>
          <a:solidFill xmlns:a="http://schemas.openxmlformats.org/drawingml/2006/main">
            <a:srgbClr val="222831"/>
          </a:solidFill>
          <a:ln xmlns:a="http://schemas.openxmlformats.org/drawingml/2006/main" w="9525">
            <a:solidFill>
              <a:srgbClr val="222831"/>
            </a:solidFill>
            <a:prstDash val="solid"/>
          </a:ln>
        </p:spPr>
      </p:sp>
      <p:sp>
        <p:nvSpPr>
          <p:cNvPr id="17" name="">
            <a:extLst xmlns:a="http://schemas.openxmlformats.org/drawingml/2006/main">
              <a:ext uri="{FF2B5EF4-FFF2-40B4-BE49-F238E27FC236}">
                <a16:creationId xmlns:a16="http://schemas.microsoft.com/office/drawing/2014/main" id="{56CD655E-EC04-462C-A21B-2B50F7145177}"/>
              </a:ext>
            </a:extLst>
          </p:cNvPr>
          <p:cNvSpPr>
            <a:spLocks xmlns:a="http://schemas.openxmlformats.org/drawingml/2006/main" noGrp="1"/>
          </p:cNvSpPr>
          <p:nvPr/>
        </p:nvSpPr>
        <p:spPr>
          <a:xfrm xmlns:a="http://schemas.openxmlformats.org/drawingml/2006/main">
            <a:off x="4591050" y="1981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6DCBF4"/>
                </a:solidFill>
              </a:defRPr>
            </a:pPr>
            <a:r>
              <a:rPr sz="1125" b="1">
                <a:solidFill>
                  <a:srgbClr val="6DCBF4"/>
                </a:solidFill>
              </a:rPr>
              <a:t>5 EPOCHEN</a:t>
            </a:r>
          </a:p>
        </p:txBody>
      </p:sp>
      <p:sp>
        <p:nvSpPr>
          <p:cNvPr id="18" name="">
            <a:extLst xmlns:a="http://schemas.openxmlformats.org/drawingml/2006/main">
              <a:ext uri="{FF2B5EF4-FFF2-40B4-BE49-F238E27FC236}">
                <a16:creationId xmlns:a16="http://schemas.microsoft.com/office/drawing/2014/main" id="{21A653BF-330D-45EB-9B91-422C9159C5F4}"/>
              </a:ext>
            </a:extLst>
          </p:cNvPr>
          <p:cNvSpPr>
            <a:spLocks xmlns:a="http://schemas.openxmlformats.org/drawingml/2006/main" noGrp="1"/>
          </p:cNvSpPr>
          <p:nvPr/>
        </p:nvSpPr>
        <p:spPr>
          <a:xfrm xmlns:a="http://schemas.openxmlformats.org/drawingml/2006/main">
            <a:off x="4591050" y="2514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Training-MSE</a:t>
            </a:r>
          </a:p>
        </p:txBody>
      </p:sp>
      <p:sp>
        <p:nvSpPr>
          <p:cNvPr id="19" name="">
            <a:extLst xmlns:a="http://schemas.openxmlformats.org/drawingml/2006/main">
              <a:ext uri="{FF2B5EF4-FFF2-40B4-BE49-F238E27FC236}">
                <a16:creationId xmlns:a16="http://schemas.microsoft.com/office/drawing/2014/main" id="{7AEB19EF-8C21-432E-A7A2-CCCA55F6FEC2}"/>
              </a:ext>
            </a:extLst>
          </p:cNvPr>
          <p:cNvSpPr>
            <a:spLocks xmlns:a="http://schemas.openxmlformats.org/drawingml/2006/main" noGrp="1"/>
          </p:cNvSpPr>
          <p:nvPr/>
        </p:nvSpPr>
        <p:spPr>
          <a:xfrm xmlns:a="http://schemas.openxmlformats.org/drawingml/2006/main">
            <a:off x="8115300" y="24765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2100" b="1">
                <a:solidFill>
                  <a:srgbClr val="39A96B"/>
                </a:solidFill>
              </a:defRPr>
            </a:pPr>
            <a:r>
              <a:rPr sz="2100" b="1">
                <a:solidFill>
                  <a:srgbClr val="39A96B"/>
                </a:solidFill>
              </a:rPr>
              <a:t>0,791  →  0,069</a:t>
            </a:r>
          </a:p>
        </p:txBody>
      </p:sp>
      <p:sp>
        <p:nvSpPr>
          <p:cNvPr id="20" name="">
            <a:extLst xmlns:a="http://schemas.openxmlformats.org/drawingml/2006/main">
              <a:ext uri="{FF2B5EF4-FFF2-40B4-BE49-F238E27FC236}">
                <a16:creationId xmlns:a16="http://schemas.microsoft.com/office/drawing/2014/main" id="{4167197A-D5FE-4C6A-A836-20E833809602}"/>
              </a:ext>
            </a:extLst>
          </p:cNvPr>
          <p:cNvSpPr>
            <a:spLocks xmlns:a="http://schemas.openxmlformats.org/drawingml/2006/main" noGrp="1"/>
          </p:cNvSpPr>
          <p:nvPr/>
        </p:nvSpPr>
        <p:spPr>
          <a:xfrm xmlns:a="http://schemas.openxmlformats.org/drawingml/2006/main">
            <a:off x="4591050" y="31623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Validation-MSE</a:t>
            </a:r>
          </a:p>
        </p:txBody>
      </p:sp>
      <p:sp>
        <p:nvSpPr>
          <p:cNvPr id="21" name="">
            <a:extLst xmlns:a="http://schemas.openxmlformats.org/drawingml/2006/main">
              <a:ext uri="{FF2B5EF4-FFF2-40B4-BE49-F238E27FC236}">
                <a16:creationId xmlns:a16="http://schemas.microsoft.com/office/drawing/2014/main" id="{BDE64710-6046-4D67-BBCE-C8EF0F98679E}"/>
              </a:ext>
            </a:extLst>
          </p:cNvPr>
          <p:cNvSpPr>
            <a:spLocks xmlns:a="http://schemas.openxmlformats.org/drawingml/2006/main" noGrp="1"/>
          </p:cNvSpPr>
          <p:nvPr/>
        </p:nvSpPr>
        <p:spPr>
          <a:xfrm xmlns:a="http://schemas.openxmlformats.org/drawingml/2006/main">
            <a:off x="8115300" y="31242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2100" b="1">
                <a:solidFill>
                  <a:srgbClr val="39A96B"/>
                </a:solidFill>
              </a:defRPr>
            </a:pPr>
            <a:r>
              <a:rPr sz="2100" b="1">
                <a:solidFill>
                  <a:srgbClr val="39A96B"/>
                </a:solidFill>
              </a:rPr>
              <a:t>1,018  →  0,285</a:t>
            </a:r>
          </a:p>
        </p:txBody>
      </p:sp>
      <p:sp>
        <p:nvSpPr>
          <p:cNvPr id="22" name="">
            <a:extLst xmlns:a="http://schemas.openxmlformats.org/drawingml/2006/main">
              <a:ext uri="{FF2B5EF4-FFF2-40B4-BE49-F238E27FC236}">
                <a16:creationId xmlns:a16="http://schemas.microsoft.com/office/drawing/2014/main" id="{8E2097A1-DEB7-4981-941A-6D97F5511C75}"/>
              </a:ext>
            </a:extLst>
          </p:cNvPr>
          <p:cNvSpPr>
            <a:spLocks xmlns:a="http://schemas.openxmlformats.org/drawingml/2006/main" noGrp="1"/>
          </p:cNvSpPr>
          <p:nvPr/>
        </p:nvSpPr>
        <p:spPr>
          <a:xfrm xmlns:a="http://schemas.openxmlformats.org/drawingml/2006/main">
            <a:off x="4591050" y="38100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a:solidFill>
                  <a:srgbClr val="FFFFFF"/>
                </a:solidFill>
              </a:defRPr>
            </a:pPr>
            <a:r>
              <a:rPr sz="1500" b="1">
                <a:solidFill>
                  <a:srgbClr val="FFFFFF"/>
                </a:solidFill>
              </a:rPr>
              <a:t>Bestes Modell</a:t>
            </a:r>
          </a:p>
        </p:txBody>
      </p:sp>
      <p:sp>
        <p:nvSpPr>
          <p:cNvPr id="23" name="">
            <a:extLst xmlns:a="http://schemas.openxmlformats.org/drawingml/2006/main">
              <a:ext uri="{FF2B5EF4-FFF2-40B4-BE49-F238E27FC236}">
                <a16:creationId xmlns:a16="http://schemas.microsoft.com/office/drawing/2014/main" id="{3C6B1983-A2C3-4D31-92A9-ECC86382C931}"/>
              </a:ext>
            </a:extLst>
          </p:cNvPr>
          <p:cNvSpPr>
            <a:spLocks xmlns:a="http://schemas.openxmlformats.org/drawingml/2006/main" noGrp="1"/>
          </p:cNvSpPr>
          <p:nvPr/>
        </p:nvSpPr>
        <p:spPr>
          <a:xfrm xmlns:a="http://schemas.openxmlformats.org/drawingml/2006/main">
            <a:off x="8782050" y="3771900"/>
            <a:ext cx="205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2100" b="1">
                <a:solidFill>
                  <a:srgbClr val="6DCBF4"/>
                </a:solidFill>
              </a:defRPr>
            </a:pPr>
            <a:r>
              <a:rPr sz="2100" b="1">
                <a:solidFill>
                  <a:srgbClr val="6DCBF4"/>
                </a:solidFill>
              </a:rPr>
              <a:t>Epoch 4</a:t>
            </a:r>
          </a:p>
        </p:txBody>
      </p:sp>
      <p:sp>
        <p:nvSpPr>
          <p:cNvPr id="24" name="">
            <a:extLst xmlns:a="http://schemas.openxmlformats.org/drawingml/2006/main">
              <a:ext uri="{FF2B5EF4-FFF2-40B4-BE49-F238E27FC236}">
                <a16:creationId xmlns:a16="http://schemas.microsoft.com/office/drawing/2014/main" id="{F2997067-9142-449C-B1C3-97A93226FEE1}"/>
              </a:ext>
            </a:extLst>
          </p:cNvPr>
          <p:cNvSpPr>
            <a:spLocks xmlns:a="http://schemas.openxmlformats.org/drawingml/2006/main" noGrp="1"/>
          </p:cNvSpPr>
          <p:nvPr/>
        </p:nvSpPr>
        <p:spPr>
          <a:xfrm xmlns:a="http://schemas.openxmlformats.org/drawingml/2006/main">
            <a:off x="4591050" y="4476750"/>
            <a:ext cx="624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FFFFFF"/>
                </a:solidFill>
              </a:defRPr>
            </a:pPr>
            <a:r>
              <a:rPr sz="1350" b="0">
                <a:solidFill>
                  <a:srgbClr val="FFFFFF"/>
                </a:solidFill>
              </a:rPr>
              <a:t>Epoch 5: 0,289 → leichte Verschlechterung; deshalb keine zusätzliche Nachoptimierung.</a:t>
            </a:r>
          </a:p>
        </p:txBody>
      </p:sp>
    </p:spTree>
    <p:extLst>
      <p:ext uri="{BB962C8B-B14F-4D97-AF65-F5344CB8AC3E}">
        <p14:creationId xmlns:p14="http://schemas.microsoft.com/office/powerpoint/2010/main" val="1723712454"/>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0866A1-42EB-4084-85F8-2747ACD90170}"/>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ENTWICKLUNGSERGEBNISSE</a:t>
            </a:r>
          </a:p>
        </p:txBody>
      </p:sp>
      <p:sp>
        <p:nvSpPr>
          <p:cNvPr id="2" name="">
            <a:extLst xmlns:a="http://schemas.openxmlformats.org/drawingml/2006/main">
              <a:ext uri="{FF2B5EF4-FFF2-40B4-BE49-F238E27FC236}">
                <a16:creationId xmlns:a16="http://schemas.microsoft.com/office/drawing/2014/main" id="{5E707A7F-3692-4358-9434-8A63FB17AED9}"/>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Beide Arme ordnen die Lebensdauer positiv — Arm B stabilisiert Bearing2_4</a:t>
            </a:r>
          </a:p>
        </p:txBody>
      </p:sp>
      <p:sp>
        <p:nvSpPr>
          <p:cNvPr id="3" name="">
            <a:extLst xmlns:a="http://schemas.openxmlformats.org/drawingml/2006/main">
              <a:ext uri="{FF2B5EF4-FFF2-40B4-BE49-F238E27FC236}">
                <a16:creationId xmlns:a16="http://schemas.microsoft.com/office/drawing/2014/main" id="{01D9B85C-8511-4324-B5ED-D278D0F75039}"/>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029EB547-0BC4-4A89-A031-B539F1412FE7}"/>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08</a:t>
            </a:r>
          </a:p>
        </p:txBody>
      </p:sp>
      <p:graphicFrame>
        <p:nvGraphicFramePr>
          <p:cNvPr id="20" name="Chart"/>
          <p:cNvGraphicFramePr/>
          <p:nvPr/>
        </p:nvGraphicFramePr>
        <p:xfrm>
          <a:off xmlns:a="http://schemas.openxmlformats.org/drawingml/2006/main" x="609600" y="171450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3d5321f1c3c84a95"/>
          </a:graphicData>
        </a:graphic>
      </p:graphicFrame>
      <p:sp>
        <p:nvSpPr>
          <p:cNvPr id="6" name="">
            <a:extLst xmlns:a="http://schemas.openxmlformats.org/drawingml/2006/main">
              <a:ext uri="{FF2B5EF4-FFF2-40B4-BE49-F238E27FC236}">
                <a16:creationId xmlns:a16="http://schemas.microsoft.com/office/drawing/2014/main" id="{F9CD021B-2860-4B8A-8B7A-C98B254127BC}"/>
              </a:ext>
            </a:extLst>
          </p:cNvPr>
          <p:cNvSpPr>
            <a:spLocks xmlns:a="http://schemas.openxmlformats.org/drawingml/2006/main" noGrp="1"/>
          </p:cNvSpPr>
          <p:nvPr/>
        </p:nvSpPr>
        <p:spPr>
          <a:xfrm xmlns:a="http://schemas.openxmlformats.org/drawingml/2006/main">
            <a:off x="8496300" y="1828800"/>
            <a:ext cx="2781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841FBE70-B30D-4E18-B28C-5C724D9FF5C9}"/>
              </a:ext>
            </a:extLst>
          </p:cNvPr>
          <p:cNvSpPr>
            <a:spLocks xmlns:a="http://schemas.openxmlformats.org/drawingml/2006/main" noGrp="1"/>
          </p:cNvSpPr>
          <p:nvPr/>
        </p:nvSpPr>
        <p:spPr>
          <a:xfrm xmlns:a="http://schemas.openxmlformats.org/drawingml/2006/main">
            <a:off x="8743950" y="20193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39A96B"/>
                </a:solidFill>
              </a:defRPr>
            </a:pPr>
            <a:r>
              <a:rPr sz="2550" b="1">
                <a:solidFill>
                  <a:srgbClr val="39A96B"/>
                </a:solidFill>
              </a:rPr>
              <a:t>+0,087</a:t>
            </a:r>
          </a:p>
        </p:txBody>
      </p:sp>
      <p:sp>
        <p:nvSpPr>
          <p:cNvPr id="8" name="">
            <a:extLst xmlns:a="http://schemas.openxmlformats.org/drawingml/2006/main">
              <a:ext uri="{FF2B5EF4-FFF2-40B4-BE49-F238E27FC236}">
                <a16:creationId xmlns:a16="http://schemas.microsoft.com/office/drawing/2014/main" id="{F095448D-7BFB-486A-8813-761D67834A14}"/>
              </a:ext>
            </a:extLst>
          </p:cNvPr>
          <p:cNvSpPr>
            <a:spLocks xmlns:a="http://schemas.openxmlformats.org/drawingml/2006/main" noGrp="1"/>
          </p:cNvSpPr>
          <p:nvPr/>
        </p:nvSpPr>
        <p:spPr>
          <a:xfrm xmlns:a="http://schemas.openxmlformats.org/drawingml/2006/main">
            <a:off x="8743950" y="2533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59616D"/>
                </a:solidFill>
              </a:defRPr>
            </a:pPr>
            <a:r>
              <a:rPr sz="1275" b="1">
                <a:solidFill>
                  <a:srgbClr val="59616D"/>
                </a:solidFill>
              </a:rPr>
              <a:t>mittlere Δρ</a:t>
            </a:r>
          </a:p>
        </p:txBody>
      </p:sp>
      <p:sp>
        <p:nvSpPr>
          <p:cNvPr id="9" name="">
            <a:extLst xmlns:a="http://schemas.openxmlformats.org/drawingml/2006/main">
              <a:ext uri="{FF2B5EF4-FFF2-40B4-BE49-F238E27FC236}">
                <a16:creationId xmlns:a16="http://schemas.microsoft.com/office/drawing/2014/main" id="{9EFEAE4A-752D-4EDA-9C83-1A2454639621}"/>
              </a:ext>
            </a:extLst>
          </p:cNvPr>
          <p:cNvSpPr>
            <a:spLocks xmlns:a="http://schemas.openxmlformats.org/drawingml/2006/main" noGrp="1"/>
          </p:cNvSpPr>
          <p:nvPr/>
        </p:nvSpPr>
        <p:spPr>
          <a:xfrm xmlns:a="http://schemas.openxmlformats.org/drawingml/2006/main">
            <a:off x="8496300" y="3276600"/>
            <a:ext cx="2781300" cy="1485900"/>
          </a:xfrm>
          <a:prstGeom xmlns:a="http://schemas.openxmlformats.org/drawingml/2006/main" prst="roundRect">
            <a:avLst>
              <a:gd name="adj" fmla="val 7692"/>
            </a:avLst>
          </a:prstGeom>
          <a:solidFill xmlns:a="http://schemas.openxmlformats.org/drawingml/2006/main">
            <a:srgbClr val="222831"/>
          </a:solidFill>
          <a:ln xmlns:a="http://schemas.openxmlformats.org/drawingml/2006/main" w="9525">
            <a:solidFill>
              <a:srgbClr val="222831"/>
            </a:solidFill>
            <a:prstDash val="solid"/>
          </a:ln>
        </p:spPr>
      </p:sp>
      <p:sp>
        <p:nvSpPr>
          <p:cNvPr id="10" name="">
            <a:extLst xmlns:a="http://schemas.openxmlformats.org/drawingml/2006/main">
              <a:ext uri="{FF2B5EF4-FFF2-40B4-BE49-F238E27FC236}">
                <a16:creationId xmlns:a16="http://schemas.microsoft.com/office/drawing/2014/main" id="{0D8CCFE4-2728-457B-B2BC-EAA8F03DB06F}"/>
              </a:ext>
            </a:extLst>
          </p:cNvPr>
          <p:cNvSpPr>
            <a:spLocks xmlns:a="http://schemas.openxmlformats.org/drawingml/2006/main" noGrp="1"/>
          </p:cNvSpPr>
          <p:nvPr/>
        </p:nvSpPr>
        <p:spPr>
          <a:xfrm xmlns:a="http://schemas.openxmlformats.org/drawingml/2006/main">
            <a:off x="8743950" y="34671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DCBF4"/>
                </a:solidFill>
              </a:defRPr>
            </a:pPr>
            <a:r>
              <a:rPr sz="1350" b="1">
                <a:solidFill>
                  <a:srgbClr val="6DCBF4"/>
                </a:solidFill>
              </a:rPr>
              <a:t>B2_4</a:t>
            </a:r>
          </a:p>
        </p:txBody>
      </p:sp>
      <p:sp>
        <p:nvSpPr>
          <p:cNvPr id="11" name="">
            <a:extLst xmlns:a="http://schemas.openxmlformats.org/drawingml/2006/main">
              <a:ext uri="{FF2B5EF4-FFF2-40B4-BE49-F238E27FC236}">
                <a16:creationId xmlns:a16="http://schemas.microsoft.com/office/drawing/2014/main" id="{8F0D4FF6-C118-4634-9B10-03D83A18F220}"/>
              </a:ext>
            </a:extLst>
          </p:cNvPr>
          <p:cNvSpPr>
            <a:spLocks xmlns:a="http://schemas.openxmlformats.org/drawingml/2006/main" noGrp="1"/>
          </p:cNvSpPr>
          <p:nvPr/>
        </p:nvSpPr>
        <p:spPr>
          <a:xfrm xmlns:a="http://schemas.openxmlformats.org/drawingml/2006/main">
            <a:off x="8743950" y="38862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0,681 → 0,993</a:t>
            </a:r>
          </a:p>
        </p:txBody>
      </p:sp>
      <p:sp>
        <p:nvSpPr>
          <p:cNvPr id="12" name="">
            <a:extLst xmlns:a="http://schemas.openxmlformats.org/drawingml/2006/main">
              <a:ext uri="{FF2B5EF4-FFF2-40B4-BE49-F238E27FC236}">
                <a16:creationId xmlns:a16="http://schemas.microsoft.com/office/drawing/2014/main" id="{4F4A6CDF-4F90-4D25-89CE-5C3326A3D0BD}"/>
              </a:ext>
            </a:extLst>
          </p:cNvPr>
          <p:cNvSpPr>
            <a:spLocks xmlns:a="http://schemas.openxmlformats.org/drawingml/2006/main" noGrp="1"/>
          </p:cNvSpPr>
          <p:nvPr/>
        </p:nvSpPr>
        <p:spPr>
          <a:xfrm xmlns:a="http://schemas.openxmlformats.org/drawingml/2006/main">
            <a:off x="8743950" y="4362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39A96B"/>
                </a:solidFill>
              </a:defRPr>
            </a:pPr>
            <a:r>
              <a:rPr sz="1275" b="1">
                <a:solidFill>
                  <a:srgbClr val="39A96B"/>
                </a:solidFill>
              </a:rPr>
              <a:t>Δρ = +0,312</a:t>
            </a:r>
          </a:p>
        </p:txBody>
      </p:sp>
      <p:sp>
        <p:nvSpPr>
          <p:cNvPr id="13" name="">
            <a:extLst xmlns:a="http://schemas.openxmlformats.org/drawingml/2006/main">
              <a:ext uri="{FF2B5EF4-FFF2-40B4-BE49-F238E27FC236}">
                <a16:creationId xmlns:a16="http://schemas.microsoft.com/office/drawing/2014/main" id="{A7685122-B791-434C-9F9D-3CEE004FA8C6}"/>
              </a:ext>
            </a:extLst>
          </p:cNvPr>
          <p:cNvSpPr>
            <a:spLocks xmlns:a="http://schemas.openxmlformats.org/drawingml/2006/main" noGrp="1"/>
          </p:cNvSpPr>
          <p:nvPr/>
        </p:nvSpPr>
        <p:spPr>
          <a:xfrm xmlns:a="http://schemas.openxmlformats.org/drawingml/2006/main">
            <a:off x="8572500" y="50101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35D6A"/>
                </a:solidFill>
              </a:defRPr>
            </a:pPr>
            <a:r>
              <a:rPr sz="1200" b="1">
                <a:solidFill>
                  <a:srgbClr val="E35D6A"/>
                </a:solidFill>
              </a:rPr>
              <a:t>Entwicklungsdaten — noch kein Blind-Ergebnis</a:t>
            </a:r>
          </a:p>
        </p:txBody>
      </p:sp>
    </p:spTree>
    <p:extLst>
      <p:ext uri="{BB962C8B-B14F-4D97-AF65-F5344CB8AC3E}">
        <p14:creationId xmlns:p14="http://schemas.microsoft.com/office/powerpoint/2010/main" val="1798250712"/>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59CDE44-EF10-4951-9873-E6EC515E021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EVALUATIONSPIPELINE</a:t>
            </a:r>
          </a:p>
        </p:txBody>
      </p:sp>
      <p:sp>
        <p:nvSpPr>
          <p:cNvPr id="2" name="">
            <a:extLst xmlns:a="http://schemas.openxmlformats.org/drawingml/2006/main">
              <a:ext uri="{FF2B5EF4-FFF2-40B4-BE49-F238E27FC236}">
                <a16:creationId xmlns:a16="http://schemas.microsoft.com/office/drawing/2014/main" id="{4A0F72AA-D5DD-4D0E-AB9F-AFF2AD54A598}"/>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Gemeinsamer Ablauf reproduziert Ergebnisse — Blind-Test bleibt geschlossen</a:t>
            </a:r>
          </a:p>
        </p:txBody>
      </p:sp>
      <p:sp>
        <p:nvSpPr>
          <p:cNvPr id="3" name="">
            <a:extLst xmlns:a="http://schemas.openxmlformats.org/drawingml/2006/main">
              <a:ext uri="{FF2B5EF4-FFF2-40B4-BE49-F238E27FC236}">
                <a16:creationId xmlns:a16="http://schemas.microsoft.com/office/drawing/2014/main" id="{606B6D1D-6567-430A-832E-B3582101E8FF}"/>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B066E678-E993-43C6-BFFF-DAC1C1EE87D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09</a:t>
            </a:r>
          </a:p>
        </p:txBody>
      </p:sp>
      <p:sp>
        <p:nvSpPr>
          <p:cNvPr id="5" name="">
            <a:extLst xmlns:a="http://schemas.openxmlformats.org/drawingml/2006/main">
              <a:ext uri="{FF2B5EF4-FFF2-40B4-BE49-F238E27FC236}">
                <a16:creationId xmlns:a16="http://schemas.microsoft.com/office/drawing/2014/main" id="{947825E8-F3FA-4C75-BD32-3C7C2D4AB47C}"/>
              </a:ext>
            </a:extLst>
          </p:cNvPr>
          <p:cNvSpPr>
            <a:spLocks xmlns:a="http://schemas.openxmlformats.org/drawingml/2006/main" noGrp="1"/>
          </p:cNvSpPr>
          <p:nvPr/>
        </p:nvSpPr>
        <p:spPr>
          <a:xfrm xmlns:a="http://schemas.openxmlformats.org/drawingml/2006/main">
            <a:off x="609600" y="1714500"/>
            <a:ext cx="70104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34E23D33-22A4-4FCA-9D3E-05080B3D04D2}"/>
              </a:ext>
            </a:extLst>
          </p:cNvPr>
          <p:cNvSpPr>
            <a:spLocks xmlns:a="http://schemas.openxmlformats.org/drawingml/2006/main" noGrp="1"/>
          </p:cNvSpPr>
          <p:nvPr/>
        </p:nvSpPr>
        <p:spPr>
          <a:xfrm xmlns:a="http://schemas.openxmlformats.org/drawingml/2006/main">
            <a:off x="895350" y="1981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D8DFF"/>
                </a:solidFill>
              </a:defRPr>
            </a:pPr>
            <a:r>
              <a:rPr sz="1125" b="1">
                <a:solidFill>
                  <a:srgbClr val="3D8DFF"/>
                </a:solidFill>
              </a:rPr>
              <a:t>EINMAL MATERIALISIEREN</a:t>
            </a:r>
          </a:p>
        </p:txBody>
      </p:sp>
      <p:sp>
        <p:nvSpPr>
          <p:cNvPr id="7" name="">
            <a:extLst xmlns:a="http://schemas.openxmlformats.org/drawingml/2006/main">
              <a:ext uri="{FF2B5EF4-FFF2-40B4-BE49-F238E27FC236}">
                <a16:creationId xmlns:a16="http://schemas.microsoft.com/office/drawing/2014/main" id="{D11552E4-D7E3-4AE3-840A-B0152CDF5D31}"/>
              </a:ext>
            </a:extLst>
          </p:cNvPr>
          <p:cNvSpPr>
            <a:spLocks xmlns:a="http://schemas.openxmlformats.org/drawingml/2006/main" noGrp="1"/>
          </p:cNvSpPr>
          <p:nvPr/>
        </p:nvSpPr>
        <p:spPr>
          <a:xfrm xmlns:a="http://schemas.openxmlformats.org/drawingml/2006/main">
            <a:off x="895350" y="24003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101318"/>
                </a:solidFill>
              </a:defRPr>
            </a:pPr>
            <a:r>
              <a:rPr sz="2100" b="1">
                <a:solidFill>
                  <a:srgbClr val="101318"/>
                </a:solidFill>
              </a:rPr>
              <a:t>Bearing2_4: 42 Messungen</a:t>
            </a:r>
          </a:p>
        </p:txBody>
      </p:sp>
      <p:sp>
        <p:nvSpPr>
          <p:cNvPr id="8" name="">
            <a:extLst xmlns:a="http://schemas.openxmlformats.org/drawingml/2006/main">
              <a:ext uri="{FF2B5EF4-FFF2-40B4-BE49-F238E27FC236}">
                <a16:creationId xmlns:a16="http://schemas.microsoft.com/office/drawing/2014/main" id="{816D7950-AAD8-4B3E-8244-A87CF313ED10}"/>
              </a:ext>
            </a:extLst>
          </p:cNvPr>
          <p:cNvSpPr>
            <a:spLocks xmlns:a="http://schemas.openxmlformats.org/drawingml/2006/main" noGrp="1"/>
          </p:cNvSpPr>
          <p:nvPr/>
        </p:nvSpPr>
        <p:spPr>
          <a:xfrm xmlns:a="http://schemas.openxmlformats.org/drawingml/2006/main">
            <a:off x="3581400" y="28956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3D8DFF"/>
                </a:solidFill>
              </a:defRPr>
            </a:pPr>
            <a:r>
              <a:rPr sz="2100" b="1">
                <a:solidFill>
                  <a:srgbClr val="3D8DFF"/>
                </a:solidFill>
              </a:rPr>
              <a:t>↓</a:t>
            </a:r>
          </a:p>
        </p:txBody>
      </p:sp>
      <p:sp>
        <p:nvSpPr>
          <p:cNvPr id="9" name="">
            <a:extLst xmlns:a="http://schemas.openxmlformats.org/drawingml/2006/main">
              <a:ext uri="{FF2B5EF4-FFF2-40B4-BE49-F238E27FC236}">
                <a16:creationId xmlns:a16="http://schemas.microsoft.com/office/drawing/2014/main" id="{E746642A-CD6F-48F9-831E-443A3E308B24}"/>
              </a:ext>
            </a:extLst>
          </p:cNvPr>
          <p:cNvSpPr>
            <a:spLocks xmlns:a="http://schemas.openxmlformats.org/drawingml/2006/main" noGrp="1"/>
          </p:cNvSpPr>
          <p:nvPr/>
        </p:nvSpPr>
        <p:spPr>
          <a:xfrm xmlns:a="http://schemas.openxmlformats.org/drawingml/2006/main">
            <a:off x="990600" y="3409950"/>
            <a:ext cx="2609850" cy="952500"/>
          </a:xfrm>
          <a:prstGeom xmlns:a="http://schemas.openxmlformats.org/drawingml/2006/main" prst="roundRect">
            <a:avLst>
              <a:gd name="adj" fmla="val 12000"/>
            </a:avLst>
          </a:prstGeom>
          <a:solidFill xmlns:a="http://schemas.openxmlformats.org/drawingml/2006/main">
            <a:srgbClr val="EAF6FC"/>
          </a:solidFill>
          <a:ln xmlns:a="http://schemas.openxmlformats.org/drawingml/2006/main" w="9525">
            <a:solidFill>
              <a:srgbClr val="EAF6FC"/>
            </a:solidFill>
            <a:prstDash val="solid"/>
          </a:ln>
        </p:spPr>
      </p:sp>
      <p:sp>
        <p:nvSpPr>
          <p:cNvPr id="10" name="">
            <a:extLst xmlns:a="http://schemas.openxmlformats.org/drawingml/2006/main">
              <a:ext uri="{FF2B5EF4-FFF2-40B4-BE49-F238E27FC236}">
                <a16:creationId xmlns:a16="http://schemas.microsoft.com/office/drawing/2014/main" id="{439A9866-217E-4DA9-B1C6-2CA5B96B66F2}"/>
              </a:ext>
            </a:extLst>
          </p:cNvPr>
          <p:cNvSpPr>
            <a:spLocks xmlns:a="http://schemas.openxmlformats.org/drawingml/2006/main" noGrp="1"/>
          </p:cNvSpPr>
          <p:nvPr/>
        </p:nvSpPr>
        <p:spPr>
          <a:xfrm xmlns:a="http://schemas.openxmlformats.org/drawingml/2006/main">
            <a:off x="121920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101318"/>
                </a:solidFill>
              </a:defRPr>
            </a:pPr>
            <a:r>
              <a:rPr sz="1725" b="1">
                <a:solidFill>
                  <a:srgbClr val="101318"/>
                </a:solidFill>
              </a:rPr>
              <a:t>Arm A</a:t>
            </a:r>
          </a:p>
          <a:p xmlns:a="http://schemas.openxmlformats.org/drawingml/2006/main">
            <a:pPr algn="ctr">
              <a:buNone/>
              <a:defRPr sz="1725" b="1">
                <a:solidFill>
                  <a:srgbClr val="101318"/>
                </a:solidFill>
              </a:defRPr>
            </a:pPr>
            <a:r>
              <a:rPr sz="1725" b="1">
                <a:solidFill>
                  <a:srgbClr val="101318"/>
                </a:solidFill>
              </a:rPr>
              <a:t>ρ = 0,681319</a:t>
            </a:r>
          </a:p>
        </p:txBody>
      </p:sp>
      <p:sp>
        <p:nvSpPr>
          <p:cNvPr id="11" name="">
            <a:extLst xmlns:a="http://schemas.openxmlformats.org/drawingml/2006/main">
              <a:ext uri="{FF2B5EF4-FFF2-40B4-BE49-F238E27FC236}">
                <a16:creationId xmlns:a16="http://schemas.microsoft.com/office/drawing/2014/main" id="{CA1656FA-CCF8-4F44-B78F-CDB03895E333}"/>
              </a:ext>
            </a:extLst>
          </p:cNvPr>
          <p:cNvSpPr>
            <a:spLocks xmlns:a="http://schemas.openxmlformats.org/drawingml/2006/main" noGrp="1"/>
          </p:cNvSpPr>
          <p:nvPr/>
        </p:nvSpPr>
        <p:spPr>
          <a:xfrm xmlns:a="http://schemas.openxmlformats.org/drawingml/2006/main">
            <a:off x="4629150" y="3409950"/>
            <a:ext cx="2609850" cy="952500"/>
          </a:xfrm>
          <a:prstGeom xmlns:a="http://schemas.openxmlformats.org/drawingml/2006/main" prst="roundRect">
            <a:avLst>
              <a:gd name="adj" fmla="val 12000"/>
            </a:avLst>
          </a:prstGeom>
          <a:solidFill xmlns:a="http://schemas.openxmlformats.org/drawingml/2006/main">
            <a:srgbClr val="EAF7EF"/>
          </a:solidFill>
          <a:ln xmlns:a="http://schemas.openxmlformats.org/drawingml/2006/main" w="9525">
            <a:solidFill>
              <a:srgbClr val="EAF7EF"/>
            </a:solidFill>
            <a:prstDash val="solid"/>
          </a:ln>
        </p:spPr>
      </p:sp>
      <p:sp>
        <p:nvSpPr>
          <p:cNvPr id="12" name="">
            <a:extLst xmlns:a="http://schemas.openxmlformats.org/drawingml/2006/main">
              <a:ext uri="{FF2B5EF4-FFF2-40B4-BE49-F238E27FC236}">
                <a16:creationId xmlns:a16="http://schemas.microsoft.com/office/drawing/2014/main" id="{7BC6C63B-DA20-4BA0-8E4A-449C81B8114C}"/>
              </a:ext>
            </a:extLst>
          </p:cNvPr>
          <p:cNvSpPr>
            <a:spLocks xmlns:a="http://schemas.openxmlformats.org/drawingml/2006/main" noGrp="1"/>
          </p:cNvSpPr>
          <p:nvPr/>
        </p:nvSpPr>
        <p:spPr>
          <a:xfrm xmlns:a="http://schemas.openxmlformats.org/drawingml/2006/main">
            <a:off x="485775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101318"/>
                </a:solidFill>
              </a:defRPr>
            </a:pPr>
            <a:r>
              <a:rPr sz="1725" b="1">
                <a:solidFill>
                  <a:srgbClr val="101318"/>
                </a:solidFill>
              </a:rPr>
              <a:t>Arm B</a:t>
            </a:r>
          </a:p>
          <a:p xmlns:a="http://schemas.openxmlformats.org/drawingml/2006/main">
            <a:pPr algn="ctr">
              <a:buNone/>
              <a:defRPr sz="1725" b="1">
                <a:solidFill>
                  <a:srgbClr val="101318"/>
                </a:solidFill>
              </a:defRPr>
            </a:pPr>
            <a:r>
              <a:rPr sz="1725" b="1">
                <a:solidFill>
                  <a:srgbClr val="101318"/>
                </a:solidFill>
              </a:rPr>
              <a:t>ρ = 0,993284</a:t>
            </a:r>
          </a:p>
        </p:txBody>
      </p:sp>
      <p:sp>
        <p:nvSpPr>
          <p:cNvPr id="13" name="">
            <a:extLst xmlns:a="http://schemas.openxmlformats.org/drawingml/2006/main">
              <a:ext uri="{FF2B5EF4-FFF2-40B4-BE49-F238E27FC236}">
                <a16:creationId xmlns:a16="http://schemas.microsoft.com/office/drawing/2014/main" id="{FEDEE4BA-B58A-4037-AA96-085DEF3E0A36}"/>
              </a:ext>
            </a:extLst>
          </p:cNvPr>
          <p:cNvSpPr>
            <a:spLocks xmlns:a="http://schemas.openxmlformats.org/drawingml/2006/main" noGrp="1"/>
          </p:cNvSpPr>
          <p:nvPr/>
        </p:nvSpPr>
        <p:spPr>
          <a:xfrm xmlns:a="http://schemas.openxmlformats.org/drawingml/2006/main">
            <a:off x="1066800" y="46672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59616D"/>
                </a:solidFill>
              </a:defRPr>
            </a:pPr>
            <a:r>
              <a:rPr sz="1425" b="1">
                <a:solidFill>
                  <a:srgbClr val="59616D"/>
                </a:solidFill>
              </a:rPr>
              <a:t>Δρ = +0,311966 · exakte Reproduktion: Fehler 0</a:t>
            </a:r>
          </a:p>
        </p:txBody>
      </p:sp>
      <p:sp>
        <p:nvSpPr>
          <p:cNvPr id="14" name="">
            <a:extLst xmlns:a="http://schemas.openxmlformats.org/drawingml/2006/main">
              <a:ext uri="{FF2B5EF4-FFF2-40B4-BE49-F238E27FC236}">
                <a16:creationId xmlns:a16="http://schemas.microsoft.com/office/drawing/2014/main" id="{95872685-9EE8-4747-AAC5-D78D351608D9}"/>
              </a:ext>
            </a:extLst>
          </p:cNvPr>
          <p:cNvSpPr>
            <a:spLocks xmlns:a="http://schemas.openxmlformats.org/drawingml/2006/main" noGrp="1"/>
          </p:cNvSpPr>
          <p:nvPr/>
        </p:nvSpPr>
        <p:spPr>
          <a:xfrm xmlns:a="http://schemas.openxmlformats.org/drawingml/2006/main">
            <a:off x="7962900" y="1714500"/>
            <a:ext cx="3314700" cy="3714750"/>
          </a:xfrm>
          <a:prstGeom xmlns:a="http://schemas.openxmlformats.org/drawingml/2006/main" prst="roundRect">
            <a:avLst>
              <a:gd name="adj" fmla="val 3448"/>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01E3CCEC-BBB3-4CC0-AE54-686E9695453D}"/>
              </a:ext>
            </a:extLst>
          </p:cNvPr>
          <p:cNvSpPr>
            <a:spLocks xmlns:a="http://schemas.openxmlformats.org/drawingml/2006/main" noGrp="1"/>
          </p:cNvSpPr>
          <p:nvPr/>
        </p:nvSpPr>
        <p:spPr>
          <a:xfrm xmlns:a="http://schemas.openxmlformats.org/drawingml/2006/main">
            <a:off x="8420100" y="2114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FFFFFF"/>
                </a:solidFill>
              </a:defRPr>
            </a:pPr>
            <a:r>
              <a:rPr sz="3150" b="1">
                <a:solidFill>
                  <a:srgbClr val="FFFFFF"/>
                </a:solidFill>
              </a:rPr>
              <a:t>B2_5</a:t>
            </a:r>
          </a:p>
        </p:txBody>
      </p:sp>
      <p:sp>
        <p:nvSpPr>
          <p:cNvPr id="16" name="">
            <a:extLst xmlns:a="http://schemas.openxmlformats.org/drawingml/2006/main">
              <a:ext uri="{FF2B5EF4-FFF2-40B4-BE49-F238E27FC236}">
                <a16:creationId xmlns:a16="http://schemas.microsoft.com/office/drawing/2014/main" id="{1D0AF19C-9075-4F74-B480-2C82ED8F65AD}"/>
              </a:ext>
            </a:extLst>
          </p:cNvPr>
          <p:cNvSpPr>
            <a:spLocks xmlns:a="http://schemas.openxmlformats.org/drawingml/2006/main" noGrp="1"/>
          </p:cNvSpPr>
          <p:nvPr/>
        </p:nvSpPr>
        <p:spPr>
          <a:xfrm xmlns:a="http://schemas.openxmlformats.org/drawingml/2006/main">
            <a:off x="8553450" y="28765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6DCBF4"/>
                </a:solidFill>
              </a:defRPr>
            </a:pPr>
            <a:r>
              <a:rPr sz="1275" b="1">
                <a:solidFill>
                  <a:srgbClr val="6DCBF4"/>
                </a:solidFill>
              </a:rPr>
              <a:t>STRICT BLIND</a:t>
            </a:r>
          </a:p>
        </p:txBody>
      </p:sp>
      <p:sp>
        <p:nvSpPr>
          <p:cNvPr id="17" name="">
            <a:extLst xmlns:a="http://schemas.openxmlformats.org/drawingml/2006/main">
              <a:ext uri="{FF2B5EF4-FFF2-40B4-BE49-F238E27FC236}">
                <a16:creationId xmlns:a16="http://schemas.microsoft.com/office/drawing/2014/main" id="{04EFF541-94CE-4B91-8658-3E3DE2ACC12D}"/>
              </a:ext>
            </a:extLst>
          </p:cNvPr>
          <p:cNvSpPr>
            <a:spLocks xmlns:a="http://schemas.openxmlformats.org/drawingml/2006/main" noGrp="1"/>
          </p:cNvSpPr>
          <p:nvPr/>
        </p:nvSpPr>
        <p:spPr>
          <a:xfrm xmlns:a="http://schemas.openxmlformats.org/drawingml/2006/main">
            <a:off x="8420100" y="33718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noch nicht gelesen</a:t>
            </a:r>
          </a:p>
          <a:p xmlns:a="http://schemas.openxmlformats.org/drawingml/2006/main">
            <a:pPr algn="ctr">
              <a:buNone/>
              <a:defRPr sz="1650" b="1">
                <a:solidFill>
                  <a:srgbClr val="FFFFFF"/>
                </a:solidFill>
              </a:defRPr>
            </a:pPr>
            <a:r>
              <a:rPr sz="1650" b="1">
                <a:solidFill>
                  <a:srgbClr val="FFFFFF"/>
                </a:solidFill>
              </a:rPr>
              <a:t>keine Kurven</a:t>
            </a:r>
          </a:p>
          <a:p xmlns:a="http://schemas.openxmlformats.org/drawingml/2006/main">
            <a:pPr algn="ctr">
              <a:buNone/>
              <a:defRPr sz="1650" b="1">
                <a:solidFill>
                  <a:srgbClr val="FFFFFF"/>
                </a:solidFill>
              </a:defRPr>
            </a:pPr>
            <a:r>
              <a:rPr sz="1650" b="1">
                <a:solidFill>
                  <a:srgbClr val="FFFFFF"/>
                </a:solidFill>
              </a:rPr>
              <a:t>keine Kennzahlen</a:t>
            </a:r>
          </a:p>
        </p:txBody>
      </p:sp>
      <p:sp>
        <p:nvSpPr>
          <p:cNvPr id="18" name="">
            <a:extLst xmlns:a="http://schemas.openxmlformats.org/drawingml/2006/main">
              <a:ext uri="{FF2B5EF4-FFF2-40B4-BE49-F238E27FC236}">
                <a16:creationId xmlns:a16="http://schemas.microsoft.com/office/drawing/2014/main" id="{3861F01E-0EE2-406C-A119-0126335A54F5}"/>
              </a:ext>
            </a:extLst>
          </p:cNvPr>
          <p:cNvSpPr>
            <a:spLocks xmlns:a="http://schemas.openxmlformats.org/drawingml/2006/main" noGrp="1"/>
          </p:cNvSpPr>
          <p:nvPr/>
        </p:nvSpPr>
        <p:spPr>
          <a:xfrm xmlns:a="http://schemas.openxmlformats.org/drawingml/2006/main">
            <a:off x="8629650" y="4800600"/>
            <a:ext cx="19431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9" name="">
            <a:extLst xmlns:a="http://schemas.openxmlformats.org/drawingml/2006/main">
              <a:ext uri="{FF2B5EF4-FFF2-40B4-BE49-F238E27FC236}">
                <a16:creationId xmlns:a16="http://schemas.microsoft.com/office/drawing/2014/main" id="{42D778AC-1DB7-4E84-BF87-5A5649A607B7}"/>
              </a:ext>
            </a:extLst>
          </p:cNvPr>
          <p:cNvSpPr>
            <a:spLocks xmlns:a="http://schemas.openxmlformats.org/drawingml/2006/main" noGrp="1"/>
          </p:cNvSpPr>
          <p:nvPr/>
        </p:nvSpPr>
        <p:spPr>
          <a:xfrm xmlns:a="http://schemas.openxmlformats.org/drawingml/2006/main">
            <a:off x="8743950" y="4800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66 Tests bestanden</a:t>
            </a:r>
          </a:p>
        </p:txBody>
      </p:sp>
    </p:spTree>
    <p:extLst>
      <p:ext uri="{BB962C8B-B14F-4D97-AF65-F5344CB8AC3E}">
        <p14:creationId xmlns:p14="http://schemas.microsoft.com/office/powerpoint/2010/main" val="34836587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BA2649-BAC3-48CE-91BD-CAA37F6EA2ED}"/>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EINORDNUNG</a:t>
            </a:r>
          </a:p>
        </p:txBody>
      </p:sp>
      <p:sp>
        <p:nvSpPr>
          <p:cNvPr id="2" name="">
            <a:extLst xmlns:a="http://schemas.openxmlformats.org/drawingml/2006/main">
              <a:ext uri="{FF2B5EF4-FFF2-40B4-BE49-F238E27FC236}">
                <a16:creationId xmlns:a16="http://schemas.microsoft.com/office/drawing/2014/main" id="{9F7DDA20-E8FB-4458-A2D8-2A40AEAE5C2E}"/>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Was die bisherigen Ergebnisse zeigen — und was noch offen bleibt</a:t>
            </a:r>
          </a:p>
        </p:txBody>
      </p:sp>
      <p:sp>
        <p:nvSpPr>
          <p:cNvPr id="3" name="">
            <a:extLst xmlns:a="http://schemas.openxmlformats.org/drawingml/2006/main">
              <a:ext uri="{FF2B5EF4-FFF2-40B4-BE49-F238E27FC236}">
                <a16:creationId xmlns:a16="http://schemas.microsoft.com/office/drawing/2014/main" id="{E939E8DB-5183-4912-8499-AE6698DF7FFC}"/>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687333CF-E781-47F8-B1A5-D74CEF71B00D}"/>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10</a:t>
            </a:r>
          </a:p>
        </p:txBody>
      </p:sp>
      <p:sp>
        <p:nvSpPr>
          <p:cNvPr id="5" name="">
            <a:extLst xmlns:a="http://schemas.openxmlformats.org/drawingml/2006/main">
              <a:ext uri="{FF2B5EF4-FFF2-40B4-BE49-F238E27FC236}">
                <a16:creationId xmlns:a16="http://schemas.microsoft.com/office/drawing/2014/main" id="{18197FC9-DC45-4471-96BD-73EE910D0480}"/>
              </a:ext>
            </a:extLst>
          </p:cNvPr>
          <p:cNvSpPr>
            <a:spLocks xmlns:a="http://schemas.openxmlformats.org/drawingml/2006/main" noGrp="1"/>
          </p:cNvSpPr>
          <p:nvPr/>
        </p:nvSpPr>
        <p:spPr>
          <a:xfrm xmlns:a="http://schemas.openxmlformats.org/drawingml/2006/main">
            <a:off x="609600" y="1714500"/>
            <a:ext cx="5143500" cy="3790950"/>
          </a:xfrm>
          <a:prstGeom xmlns:a="http://schemas.openxmlformats.org/drawingml/2006/main" prst="roundRect">
            <a:avLst>
              <a:gd name="adj" fmla="val 3015"/>
            </a:avLst>
          </a:prstGeom>
          <a:solidFill xmlns:a="http://schemas.openxmlformats.org/drawingml/2006/main">
            <a:srgbClr val="EAF7EF"/>
          </a:solidFill>
          <a:ln xmlns:a="http://schemas.openxmlformats.org/drawingml/2006/main" w="9525">
            <a:solidFill>
              <a:srgbClr val="CFE9D9"/>
            </a:solidFill>
            <a:prstDash val="solid"/>
          </a:ln>
        </p:spPr>
      </p:sp>
      <p:sp>
        <p:nvSpPr>
          <p:cNvPr id="6" name="">
            <a:extLst xmlns:a="http://schemas.openxmlformats.org/drawingml/2006/main">
              <a:ext uri="{FF2B5EF4-FFF2-40B4-BE49-F238E27FC236}">
                <a16:creationId xmlns:a16="http://schemas.microsoft.com/office/drawing/2014/main" id="{EE1FF26A-B5F1-4268-A1A3-100FD54713F5}"/>
              </a:ext>
            </a:extLst>
          </p:cNvPr>
          <p:cNvSpPr>
            <a:spLocks xmlns:a="http://schemas.openxmlformats.org/drawingml/2006/main" noGrp="1"/>
          </p:cNvSpPr>
          <p:nvPr/>
        </p:nvSpPr>
        <p:spPr>
          <a:xfrm xmlns:a="http://schemas.openxmlformats.org/drawingml/2006/main">
            <a:off x="895350" y="1981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9A96B"/>
                </a:solidFill>
              </a:defRPr>
            </a:pPr>
            <a:r>
              <a:rPr sz="1125" b="1">
                <a:solidFill>
                  <a:srgbClr val="39A96B"/>
                </a:solidFill>
              </a:rPr>
              <a:t>UNTERSTÜTZT</a:t>
            </a:r>
          </a:p>
        </p:txBody>
      </p:sp>
      <p:sp>
        <p:nvSpPr>
          <p:cNvPr id="7" name="">
            <a:extLst xmlns:a="http://schemas.openxmlformats.org/drawingml/2006/main">
              <a:ext uri="{FF2B5EF4-FFF2-40B4-BE49-F238E27FC236}">
                <a16:creationId xmlns:a16="http://schemas.microsoft.com/office/drawing/2014/main" id="{21C782A3-21B2-48B9-8B1D-9AAA2D19BBEB}"/>
              </a:ext>
            </a:extLst>
          </p:cNvPr>
          <p:cNvSpPr>
            <a:spLocks xmlns:a="http://schemas.openxmlformats.org/drawingml/2006/main" noGrp="1"/>
          </p:cNvSpPr>
          <p:nvPr/>
        </p:nvSpPr>
        <p:spPr>
          <a:xfrm xmlns:a="http://schemas.openxmlformats.org/drawingml/2006/main">
            <a:off x="895350" y="2514600"/>
            <a:ext cx="43434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1318"/>
                </a:solidFill>
              </a:defRPr>
            </a:pPr>
            <a:r>
              <a:rPr sz="1575" b="0">
                <a:solidFill>
                  <a:srgbClr val="101318"/>
                </a:solidFill>
              </a:rPr>
              <a:t>✓  Der kleine AutoEncoder erzeugt einen nutzbaren zeitlichen latenten Raum.</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Der feste Interpreter funktioniert mit zwei Encoder-Varianten.</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Encoder-Anpassung kann problematische Bearings deutlich verbessern.</a:t>
            </a:r>
          </a:p>
        </p:txBody>
      </p:sp>
      <p:sp>
        <p:nvSpPr>
          <p:cNvPr id="8" name="">
            <a:extLst xmlns:a="http://schemas.openxmlformats.org/drawingml/2006/main">
              <a:ext uri="{FF2B5EF4-FFF2-40B4-BE49-F238E27FC236}">
                <a16:creationId xmlns:a16="http://schemas.microsoft.com/office/drawing/2014/main" id="{9269B149-FA37-4E29-8065-07742C8C58CE}"/>
              </a:ext>
            </a:extLst>
          </p:cNvPr>
          <p:cNvSpPr>
            <a:spLocks xmlns:a="http://schemas.openxmlformats.org/drawingml/2006/main" noGrp="1"/>
          </p:cNvSpPr>
          <p:nvPr/>
        </p:nvSpPr>
        <p:spPr>
          <a:xfrm xmlns:a="http://schemas.openxmlformats.org/drawingml/2006/main">
            <a:off x="6057900" y="1714500"/>
            <a:ext cx="5219700" cy="3790950"/>
          </a:xfrm>
          <a:prstGeom xmlns:a="http://schemas.openxmlformats.org/drawingml/2006/main" prst="roundRect">
            <a:avLst>
              <a:gd name="adj" fmla="val 3015"/>
            </a:avLst>
          </a:prstGeom>
          <a:solidFill xmlns:a="http://schemas.openxmlformats.org/drawingml/2006/main">
            <a:srgbClr val="FFF4E7"/>
          </a:solidFill>
          <a:ln xmlns:a="http://schemas.openxmlformats.org/drawingml/2006/main" w="9525">
            <a:solidFill>
              <a:srgbClr val="F3D9B7"/>
            </a:solidFill>
            <a:prstDash val="solid"/>
          </a:ln>
        </p:spPr>
      </p:sp>
      <p:sp>
        <p:nvSpPr>
          <p:cNvPr id="9" name="">
            <a:extLst xmlns:a="http://schemas.openxmlformats.org/drawingml/2006/main">
              <a:ext uri="{FF2B5EF4-FFF2-40B4-BE49-F238E27FC236}">
                <a16:creationId xmlns:a16="http://schemas.microsoft.com/office/drawing/2014/main" id="{29AEBBA4-E5BA-4015-8B02-888B3CB6426D}"/>
              </a:ext>
            </a:extLst>
          </p:cNvPr>
          <p:cNvSpPr>
            <a:spLocks xmlns:a="http://schemas.openxmlformats.org/drawingml/2006/main" noGrp="1"/>
          </p:cNvSpPr>
          <p:nvPr/>
        </p:nvSpPr>
        <p:spPr>
          <a:xfrm xmlns:a="http://schemas.openxmlformats.org/drawingml/2006/main">
            <a:off x="6343650" y="1981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F2A24A"/>
                </a:solidFill>
              </a:defRPr>
            </a:pPr>
            <a:r>
              <a:rPr sz="1125" b="1">
                <a:solidFill>
                  <a:srgbClr val="F2A24A"/>
                </a:solidFill>
              </a:rPr>
              <a:t>NOCH NICHT BEWIESEN</a:t>
            </a:r>
          </a:p>
        </p:txBody>
      </p:sp>
      <p:sp>
        <p:nvSpPr>
          <p:cNvPr id="10" name="">
            <a:extLst xmlns:a="http://schemas.openxmlformats.org/drawingml/2006/main">
              <a:ext uri="{FF2B5EF4-FFF2-40B4-BE49-F238E27FC236}">
                <a16:creationId xmlns:a16="http://schemas.microsoft.com/office/drawing/2014/main" id="{C3DB0C9A-CEFF-431A-BF18-50553C98126D}"/>
              </a:ext>
            </a:extLst>
          </p:cNvPr>
          <p:cNvSpPr>
            <a:spLocks xmlns:a="http://schemas.openxmlformats.org/drawingml/2006/main" noGrp="1"/>
          </p:cNvSpPr>
          <p:nvPr/>
        </p:nvSpPr>
        <p:spPr>
          <a:xfrm xmlns:a="http://schemas.openxmlformats.org/drawingml/2006/main">
            <a:off x="6343650" y="2514600"/>
            <a:ext cx="44196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1318"/>
                </a:solidFill>
              </a:defRPr>
            </a:pPr>
            <a:r>
              <a:rPr sz="1575" b="0">
                <a:solidFill>
                  <a:srgbClr val="101318"/>
                </a:solidFill>
              </a:rPr>
              <a:t>•  Level ist kein physikalischer Schadensgrad.</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Positive Zeitkorrelation garantiert keine Generalisierung auf unbekannte Bearings.</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Der Nutzen für RL oder Wartungsentscheidungen ist noch nicht validiert.</a:t>
            </a:r>
          </a:p>
        </p:txBody>
      </p:sp>
    </p:spTree>
    <p:extLst>
      <p:ext uri="{BB962C8B-B14F-4D97-AF65-F5344CB8AC3E}">
        <p14:creationId xmlns:p14="http://schemas.microsoft.com/office/powerpoint/2010/main" val="1401815384"/>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27AF93-8288-4885-A664-7123D2DE5953}"/>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NÄCHSTER SCHRITT</a:t>
            </a:r>
          </a:p>
        </p:txBody>
      </p:sp>
      <p:sp>
        <p:nvSpPr>
          <p:cNvPr id="2" name="">
            <a:extLst xmlns:a="http://schemas.openxmlformats.org/drawingml/2006/main">
              <a:ext uri="{FF2B5EF4-FFF2-40B4-BE49-F238E27FC236}">
                <a16:creationId xmlns:a16="http://schemas.microsoft.com/office/drawing/2014/main" id="{536AF027-2BD4-47AE-AF1B-5BFC67C002BA}"/>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Einmalige gemeinsame Blind-Evaluation auf Bearing2_5</a:t>
            </a:r>
          </a:p>
        </p:txBody>
      </p:sp>
      <p:sp>
        <p:nvSpPr>
          <p:cNvPr id="3" name="">
            <a:extLst xmlns:a="http://schemas.openxmlformats.org/drawingml/2006/main">
              <a:ext uri="{FF2B5EF4-FFF2-40B4-BE49-F238E27FC236}">
                <a16:creationId xmlns:a16="http://schemas.microsoft.com/office/drawing/2014/main" id="{4EB60B3A-85A7-4D24-A502-9AEEC0D2F574}"/>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2867D01-1DF4-45A4-AF93-C9FCC93D55B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11</a:t>
            </a:r>
          </a:p>
        </p:txBody>
      </p:sp>
      <p:sp>
        <p:nvSpPr>
          <p:cNvPr id="5" name="">
            <a:extLst xmlns:a="http://schemas.openxmlformats.org/drawingml/2006/main">
              <a:ext uri="{FF2B5EF4-FFF2-40B4-BE49-F238E27FC236}">
                <a16:creationId xmlns:a16="http://schemas.microsoft.com/office/drawing/2014/main" id="{18D044C3-24C5-47D7-AF75-65E479BC35EB}"/>
              </a:ext>
            </a:extLst>
          </p:cNvPr>
          <p:cNvSpPr>
            <a:spLocks xmlns:a="http://schemas.openxmlformats.org/drawingml/2006/main" noGrp="1"/>
          </p:cNvSpPr>
          <p:nvPr/>
        </p:nvSpPr>
        <p:spPr>
          <a:xfrm xmlns:a="http://schemas.openxmlformats.org/drawingml/2006/main">
            <a:off x="609600" y="19431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387F4995-2811-4175-BBF6-803A305838DE}"/>
              </a:ext>
            </a:extLst>
          </p:cNvPr>
          <p:cNvSpPr>
            <a:spLocks xmlns:a="http://schemas.openxmlformats.org/drawingml/2006/main" noGrp="1"/>
          </p:cNvSpPr>
          <p:nvPr/>
        </p:nvSpPr>
        <p:spPr>
          <a:xfrm xmlns:a="http://schemas.openxmlformats.org/drawingml/2006/main">
            <a:off x="723900" y="19431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01</a:t>
            </a:r>
          </a:p>
        </p:txBody>
      </p:sp>
      <p:sp>
        <p:nvSpPr>
          <p:cNvPr id="7" name="">
            <a:extLst xmlns:a="http://schemas.openxmlformats.org/drawingml/2006/main">
              <a:ext uri="{FF2B5EF4-FFF2-40B4-BE49-F238E27FC236}">
                <a16:creationId xmlns:a16="http://schemas.microsoft.com/office/drawing/2014/main" id="{3F8FBE37-107F-40A1-853D-A97EDEC965B8}"/>
              </a:ext>
            </a:extLst>
          </p:cNvPr>
          <p:cNvSpPr>
            <a:spLocks xmlns:a="http://schemas.openxmlformats.org/drawingml/2006/main" noGrp="1"/>
          </p:cNvSpPr>
          <p:nvPr/>
        </p:nvSpPr>
        <p:spPr>
          <a:xfrm xmlns:a="http://schemas.openxmlformats.org/drawingml/2006/main">
            <a:off x="1466850" y="1885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Artefakte fixieren</a:t>
            </a:r>
          </a:p>
        </p:txBody>
      </p:sp>
      <p:sp>
        <p:nvSpPr>
          <p:cNvPr id="8" name="">
            <a:extLst xmlns:a="http://schemas.openxmlformats.org/drawingml/2006/main">
              <a:ext uri="{FF2B5EF4-FFF2-40B4-BE49-F238E27FC236}">
                <a16:creationId xmlns:a16="http://schemas.microsoft.com/office/drawing/2014/main" id="{B1D40526-3B75-4C9A-A559-F1449CF989D4}"/>
              </a:ext>
            </a:extLst>
          </p:cNvPr>
          <p:cNvSpPr>
            <a:spLocks xmlns:a="http://schemas.openxmlformats.org/drawingml/2006/main" noGrp="1"/>
          </p:cNvSpPr>
          <p:nvPr/>
        </p:nvSpPr>
        <p:spPr>
          <a:xfrm xmlns:a="http://schemas.openxmlformats.org/drawingml/2006/main">
            <a:off x="6496050" y="18859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Konfiguration, Checkpoints und Hashes final dokumentieren.</a:t>
            </a:r>
          </a:p>
        </p:txBody>
      </p:sp>
      <p:sp>
        <p:nvSpPr>
          <p:cNvPr id="9" name="">
            <a:extLst xmlns:a="http://schemas.openxmlformats.org/drawingml/2006/main">
              <a:ext uri="{FF2B5EF4-FFF2-40B4-BE49-F238E27FC236}">
                <a16:creationId xmlns:a16="http://schemas.microsoft.com/office/drawing/2014/main" id="{6749CF34-4C45-4E8D-A391-2C0A2B7BDA7B}"/>
              </a:ext>
            </a:extLst>
          </p:cNvPr>
          <p:cNvSpPr>
            <a:spLocks xmlns:a="http://schemas.openxmlformats.org/drawingml/2006/main" noGrp="1"/>
          </p:cNvSpPr>
          <p:nvPr/>
        </p:nvSpPr>
        <p:spPr>
          <a:xfrm xmlns:a="http://schemas.openxmlformats.org/drawingml/2006/main">
            <a:off x="1466850" y="27051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0" name="">
            <a:extLst xmlns:a="http://schemas.openxmlformats.org/drawingml/2006/main">
              <a:ext uri="{FF2B5EF4-FFF2-40B4-BE49-F238E27FC236}">
                <a16:creationId xmlns:a16="http://schemas.microsoft.com/office/drawing/2014/main" id="{DCE2E653-FE30-4288-B328-3E5D940B9D08}"/>
              </a:ext>
            </a:extLst>
          </p:cNvPr>
          <p:cNvSpPr>
            <a:spLocks xmlns:a="http://schemas.openxmlformats.org/drawingml/2006/main" noGrp="1"/>
          </p:cNvSpPr>
          <p:nvPr/>
        </p:nvSpPr>
        <p:spPr>
          <a:xfrm xmlns:a="http://schemas.openxmlformats.org/drawingml/2006/main">
            <a:off x="609600" y="32004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78A5A46B-ED79-4924-9817-19F499F97AE9}"/>
              </a:ext>
            </a:extLst>
          </p:cNvPr>
          <p:cNvSpPr>
            <a:spLocks xmlns:a="http://schemas.openxmlformats.org/drawingml/2006/main" noGrp="1"/>
          </p:cNvSpPr>
          <p:nvPr/>
        </p:nvSpPr>
        <p:spPr>
          <a:xfrm xmlns:a="http://schemas.openxmlformats.org/drawingml/2006/main">
            <a:off x="723900" y="32004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02</a:t>
            </a:r>
          </a:p>
        </p:txBody>
      </p:sp>
      <p:sp>
        <p:nvSpPr>
          <p:cNvPr id="12" name="">
            <a:extLst xmlns:a="http://schemas.openxmlformats.org/drawingml/2006/main">
              <a:ext uri="{FF2B5EF4-FFF2-40B4-BE49-F238E27FC236}">
                <a16:creationId xmlns:a16="http://schemas.microsoft.com/office/drawing/2014/main" id="{AA043B5A-64CD-4278-BBDC-BEEF58B1220E}"/>
              </a:ext>
            </a:extLst>
          </p:cNvPr>
          <p:cNvSpPr>
            <a:spLocks xmlns:a="http://schemas.openxmlformats.org/drawingml/2006/main" noGrp="1"/>
          </p:cNvSpPr>
          <p:nvPr/>
        </p:nvSpPr>
        <p:spPr>
          <a:xfrm xmlns:a="http://schemas.openxmlformats.org/drawingml/2006/main">
            <a:off x="1466850" y="3143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Beide Arme gleichzeitig ausführen</a:t>
            </a:r>
          </a:p>
        </p:txBody>
      </p:sp>
      <p:sp>
        <p:nvSpPr>
          <p:cNvPr id="13" name="">
            <a:extLst xmlns:a="http://schemas.openxmlformats.org/drawingml/2006/main">
              <a:ext uri="{FF2B5EF4-FFF2-40B4-BE49-F238E27FC236}">
                <a16:creationId xmlns:a16="http://schemas.microsoft.com/office/drawing/2014/main" id="{D6DF7AA2-3132-46EE-94D2-035A96EFF48D}"/>
              </a:ext>
            </a:extLst>
          </p:cNvPr>
          <p:cNvSpPr>
            <a:spLocks xmlns:a="http://schemas.openxmlformats.org/drawingml/2006/main" noGrp="1"/>
          </p:cNvSpPr>
          <p:nvPr/>
        </p:nvSpPr>
        <p:spPr>
          <a:xfrm xmlns:a="http://schemas.openxmlformats.org/drawingml/2006/main">
            <a:off x="6496050" y="31432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Dieselben Rohdaten einmal laden und durch Arm A sowie Arm B führen.</a:t>
            </a:r>
          </a:p>
        </p:txBody>
      </p:sp>
      <p:sp>
        <p:nvSpPr>
          <p:cNvPr id="14" name="">
            <a:extLst xmlns:a="http://schemas.openxmlformats.org/drawingml/2006/main">
              <a:ext uri="{FF2B5EF4-FFF2-40B4-BE49-F238E27FC236}">
                <a16:creationId xmlns:a16="http://schemas.microsoft.com/office/drawing/2014/main" id="{A6BE9264-A0B2-429A-9521-5D617E18C3C5}"/>
              </a:ext>
            </a:extLst>
          </p:cNvPr>
          <p:cNvSpPr>
            <a:spLocks xmlns:a="http://schemas.openxmlformats.org/drawingml/2006/main" noGrp="1"/>
          </p:cNvSpPr>
          <p:nvPr/>
        </p:nvSpPr>
        <p:spPr>
          <a:xfrm xmlns:a="http://schemas.openxmlformats.org/drawingml/2006/main">
            <a:off x="1466850" y="39624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5" name="">
            <a:extLst xmlns:a="http://schemas.openxmlformats.org/drawingml/2006/main">
              <a:ext uri="{FF2B5EF4-FFF2-40B4-BE49-F238E27FC236}">
                <a16:creationId xmlns:a16="http://schemas.microsoft.com/office/drawing/2014/main" id="{B1E4C23B-AC31-4B25-81E0-88AE9F32F017}"/>
              </a:ext>
            </a:extLst>
          </p:cNvPr>
          <p:cNvSpPr>
            <a:spLocks xmlns:a="http://schemas.openxmlformats.org/drawingml/2006/main" noGrp="1"/>
          </p:cNvSpPr>
          <p:nvPr/>
        </p:nvSpPr>
        <p:spPr>
          <a:xfrm xmlns:a="http://schemas.openxmlformats.org/drawingml/2006/main">
            <a:off x="609600" y="4457700"/>
            <a:ext cx="6096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6" name="">
            <a:extLst xmlns:a="http://schemas.openxmlformats.org/drawingml/2006/main">
              <a:ext uri="{FF2B5EF4-FFF2-40B4-BE49-F238E27FC236}">
                <a16:creationId xmlns:a16="http://schemas.microsoft.com/office/drawing/2014/main" id="{55B0D71A-3D79-423F-B654-8428C765768C}"/>
              </a:ext>
            </a:extLst>
          </p:cNvPr>
          <p:cNvSpPr>
            <a:spLocks xmlns:a="http://schemas.openxmlformats.org/drawingml/2006/main" noGrp="1"/>
          </p:cNvSpPr>
          <p:nvPr/>
        </p:nvSpPr>
        <p:spPr>
          <a:xfrm xmlns:a="http://schemas.openxmlformats.org/drawingml/2006/main">
            <a:off x="723900" y="44577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03</a:t>
            </a:r>
          </a:p>
        </p:txBody>
      </p:sp>
      <p:sp>
        <p:nvSpPr>
          <p:cNvPr id="17" name="">
            <a:extLst xmlns:a="http://schemas.openxmlformats.org/drawingml/2006/main">
              <a:ext uri="{FF2B5EF4-FFF2-40B4-BE49-F238E27FC236}">
                <a16:creationId xmlns:a16="http://schemas.microsoft.com/office/drawing/2014/main" id="{5B70A0D6-99A2-4009-AF6A-19E194557397}"/>
              </a:ext>
            </a:extLst>
          </p:cNvPr>
          <p:cNvSpPr>
            <a:spLocks xmlns:a="http://schemas.openxmlformats.org/drawingml/2006/main" noGrp="1"/>
          </p:cNvSpPr>
          <p:nvPr/>
        </p:nvSpPr>
        <p:spPr>
          <a:xfrm xmlns:a="http://schemas.openxmlformats.org/drawingml/2006/main">
            <a:off x="1466850" y="4400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Ergebnis ohne Nachjustierung berichten</a:t>
            </a:r>
          </a:p>
        </p:txBody>
      </p:sp>
      <p:sp>
        <p:nvSpPr>
          <p:cNvPr id="18" name="">
            <a:extLst xmlns:a="http://schemas.openxmlformats.org/drawingml/2006/main">
              <a:ext uri="{FF2B5EF4-FFF2-40B4-BE49-F238E27FC236}">
                <a16:creationId xmlns:a16="http://schemas.microsoft.com/office/drawing/2014/main" id="{3FD89CE8-6485-41F9-992A-3207CFD74594}"/>
              </a:ext>
            </a:extLst>
          </p:cNvPr>
          <p:cNvSpPr>
            <a:spLocks xmlns:a="http://schemas.openxmlformats.org/drawingml/2006/main" noGrp="1"/>
          </p:cNvSpPr>
          <p:nvPr/>
        </p:nvSpPr>
        <p:spPr>
          <a:xfrm xmlns:a="http://schemas.openxmlformats.org/drawingml/2006/main">
            <a:off x="6496050" y="44005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ρ_A, ρ_B und Δρ ausgeben; Bearing2_5 danach nicht zum Tuning verwenden.</a:t>
            </a:r>
          </a:p>
        </p:txBody>
      </p:sp>
      <p:sp>
        <p:nvSpPr>
          <p:cNvPr id="19" name="">
            <a:extLst xmlns:a="http://schemas.openxmlformats.org/drawingml/2006/main">
              <a:ext uri="{FF2B5EF4-FFF2-40B4-BE49-F238E27FC236}">
                <a16:creationId xmlns:a16="http://schemas.microsoft.com/office/drawing/2014/main" id="{101BC9CB-D939-4754-AAB4-CC13F893A98E}"/>
              </a:ext>
            </a:extLst>
          </p:cNvPr>
          <p:cNvSpPr>
            <a:spLocks xmlns:a="http://schemas.openxmlformats.org/drawingml/2006/main" noGrp="1"/>
          </p:cNvSpPr>
          <p:nvPr/>
        </p:nvSpPr>
        <p:spPr>
          <a:xfrm xmlns:a="http://schemas.openxmlformats.org/drawingml/2006/main">
            <a:off x="609600" y="5657850"/>
            <a:ext cx="10668000" cy="514350"/>
          </a:xfrm>
          <a:prstGeom xmlns:a="http://schemas.openxmlformats.org/drawingml/2006/main" prst="roundRect">
            <a:avLst>
              <a:gd name="adj" fmla="val 22222"/>
            </a:avLst>
          </a:prstGeom>
          <a:solidFill xmlns:a="http://schemas.openxmlformats.org/drawingml/2006/main">
            <a:srgbClr val="222831"/>
          </a:solidFill>
          <a:ln xmlns:a="http://schemas.openxmlformats.org/drawingml/2006/main" w="9525">
            <a:solidFill>
              <a:srgbClr val="222831"/>
            </a:solidFill>
            <a:prstDash val="solid"/>
          </a:ln>
        </p:spPr>
      </p:sp>
      <p:sp>
        <p:nvSpPr>
          <p:cNvPr id="20" name="">
            <a:extLst xmlns:a="http://schemas.openxmlformats.org/drawingml/2006/main">
              <a:ext uri="{FF2B5EF4-FFF2-40B4-BE49-F238E27FC236}">
                <a16:creationId xmlns:a16="http://schemas.microsoft.com/office/drawing/2014/main" id="{8CF4CEEB-0AC4-41B6-A566-E91286399DE0}"/>
              </a:ext>
            </a:extLst>
          </p:cNvPr>
          <p:cNvSpPr>
            <a:spLocks xmlns:a="http://schemas.openxmlformats.org/drawingml/2006/main" noGrp="1"/>
          </p:cNvSpPr>
          <p:nvPr/>
        </p:nvSpPr>
        <p:spPr>
          <a:xfrm xmlns:a="http://schemas.openxmlformats.org/drawingml/2006/main">
            <a:off x="819150" y="5724525"/>
            <a:ext cx="1024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FFFFF"/>
                </a:solidFill>
              </a:defRPr>
            </a:pPr>
            <a:r>
              <a:rPr sz="1500" b="1">
                <a:solidFill>
                  <a:srgbClr val="FFFFFF"/>
                </a:solidFill>
              </a:rPr>
              <a:t>Diskussion: Reicht diese Blind-Evaluation als nächster Meilenstein aus?</a:t>
            </a:r>
          </a:p>
        </p:txBody>
      </p:sp>
    </p:spTree>
    <p:extLst>
      <p:ext uri="{BB962C8B-B14F-4D97-AF65-F5344CB8AC3E}">
        <p14:creationId xmlns:p14="http://schemas.microsoft.com/office/powerpoint/2010/main" val="1771948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2026-08-30T20:37:25.3200000Z</dcterms:created>
  <dcterms:modified xsi:type="dcterms:W3CDTF">2026-08-30T20:37:25.3200000Z</dcterms:modified>
</coreProperties>
</file>