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f50ff3f3b134b20" /><Relationship Type="http://schemas.openxmlformats.org/officeDocument/2006/relationships/extended-properties" Target="/docProps/app.xml" Id="Rb6260db349fb4da4" /><Relationship Type="http://schemas.openxmlformats.org/officeDocument/2006/relationships/officeDocument" Target="/ppt/presentation.xml" Id="R57fed1bf90334120" /></Relationships>
</file>

<file path=ppt/presentation.xml><?xml version="1.0" encoding="utf-8"?>
<p:presentation xmlns:p="http://schemas.openxmlformats.org/presentationml/2006/main">
  <p:sldMasterIdLst>
    <p:sldMasterId xmlns:r="http://schemas.openxmlformats.org/officeDocument/2006/relationships" id="2147483648" r:id="R3f1624b3bd994b8a"/>
  </p:sldMasterIdLst>
  <p:notesMasterIdLst>
    <p:notesMasterId xmlns:r="http://schemas.openxmlformats.org/officeDocument/2006/relationships" r:id="R45e7d37e4cd9492c"/>
  </p:notesMasterIdLst>
  <p:sldIdLst>
    <p:sldId xmlns:r="http://schemas.openxmlformats.org/officeDocument/2006/relationships" id="256" r:id="R29274ea6df834aa3"/>
    <p:sldId xmlns:r="http://schemas.openxmlformats.org/officeDocument/2006/relationships" id="257" r:id="Rb086710df0114376"/>
    <p:sldId xmlns:r="http://schemas.openxmlformats.org/officeDocument/2006/relationships" id="258" r:id="R234d7a7657644acc"/>
    <p:sldId xmlns:r="http://schemas.openxmlformats.org/officeDocument/2006/relationships" id="259" r:id="R1691d4fd2385494d"/>
    <p:sldId xmlns:r="http://schemas.openxmlformats.org/officeDocument/2006/relationships" id="260" r:id="Re5ce705b4b364aa9"/>
    <p:sldId xmlns:r="http://schemas.openxmlformats.org/officeDocument/2006/relationships" id="261" r:id="R6aa478af40f34a0e"/>
    <p:sldId xmlns:r="http://schemas.openxmlformats.org/officeDocument/2006/relationships" id="262" r:id="R84fe213938094fea"/>
    <p:sldId xmlns:r="http://schemas.openxmlformats.org/officeDocument/2006/relationships" id="263" r:id="R5349dc88de074d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bb72feda754db9" /><Relationship Type="http://schemas.openxmlformats.org/officeDocument/2006/relationships/slideMaster" Target="/ppt/slideMasters/slideMaster1.xml" Id="R3f1624b3bd994b8a" /><Relationship Type="http://schemas.openxmlformats.org/officeDocument/2006/relationships/notesMaster" Target="/ppt/notesMasters/notesMaster1.xml" Id="R45e7d37e4cd9492c" /><Relationship Type="http://schemas.openxmlformats.org/officeDocument/2006/relationships/presProps" Target="/ppt/presProps.xml" Id="R2a2fa60278e34961" /><Relationship Type="http://schemas.openxmlformats.org/officeDocument/2006/relationships/tableStyles" Target="/ppt/tableStyles.xml" Id="Rf5d3a2226c864c5a" /><Relationship Type="http://schemas.openxmlformats.org/officeDocument/2006/relationships/slide" Target="/ppt/slides/slide1.xml" Id="R29274ea6df834aa3" /><Relationship Type="http://schemas.openxmlformats.org/officeDocument/2006/relationships/slide" Target="/ppt/slides/slide2.xml" Id="Rb086710df0114376" /><Relationship Type="http://schemas.openxmlformats.org/officeDocument/2006/relationships/slide" Target="/ppt/slides/slide3.xml" Id="R234d7a7657644acc" /><Relationship Type="http://schemas.openxmlformats.org/officeDocument/2006/relationships/slide" Target="/ppt/slides/slide4.xml" Id="R1691d4fd2385494d" /><Relationship Type="http://schemas.openxmlformats.org/officeDocument/2006/relationships/slide" Target="/ppt/slides/slide5.xml" Id="Re5ce705b4b364aa9" /><Relationship Type="http://schemas.openxmlformats.org/officeDocument/2006/relationships/slide" Target="/ppt/slides/slide6.xml" Id="R6aa478af40f34a0e" /><Relationship Type="http://schemas.openxmlformats.org/officeDocument/2006/relationships/slide" Target="/ppt/slides/slide7.xml" Id="R84fe213938094fea" /><Relationship Type="http://schemas.openxmlformats.org/officeDocument/2006/relationships/slide" Target="/ppt/slides/slide8.xml" Id="R5349dc88de074d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b4b165c4704e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76109e102f4b0c" /><Relationship Type="http://schemas.openxmlformats.org/officeDocument/2006/relationships/notesMaster" Target="/ppt/notesMasters/notesMaster1.xml" Id="Rd94c561fea3e44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0712f2b84f448f" /><Relationship Type="http://schemas.openxmlformats.org/officeDocument/2006/relationships/notesMaster" Target="/ppt/notesMasters/notesMaster1.xml" Id="R84fd78cc7ec440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ae9838166241ed" /><Relationship Type="http://schemas.openxmlformats.org/officeDocument/2006/relationships/notesMaster" Target="/ppt/notesMasters/notesMaster1.xml" Id="R758a4d96e33145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4312f02021432c" /><Relationship Type="http://schemas.openxmlformats.org/officeDocument/2006/relationships/notesMaster" Target="/ppt/notesMasters/notesMaster1.xml" Id="R365115750a6b48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0e759f807c4f48" /><Relationship Type="http://schemas.openxmlformats.org/officeDocument/2006/relationships/notesMaster" Target="/ppt/notesMasters/notesMaster1.xml" Id="R5fc18b81c9dc4c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b2144ae5de4bcc" /><Relationship Type="http://schemas.openxmlformats.org/officeDocument/2006/relationships/notesMaster" Target="/ppt/notesMasters/notesMaster1.xml" Id="R925608827a0040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ab90a2d8ad42e5" /><Relationship Type="http://schemas.openxmlformats.org/officeDocument/2006/relationships/notesMaster" Target="/ppt/notesMasters/notesMaster1.xml" Id="R5daa25a15ef14b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f94154ca804b46" /><Relationship Type="http://schemas.openxmlformats.org/officeDocument/2006/relationships/notesMaster" Target="/ppt/notesMasters/notesMaster1.xml" Id="Rf4e09d9a897d40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Hallo zusammen. Heute zeige ich kurz meine Arbeit vom 12. September. Zuerst kommt das Ergebnis des Blind-Tests. Danach zeige ich die Stabilitätsstudie mit mehreren Seeds und Bearings. Zum Schluss erkläre ich die Analyse von Bearing1_4 und den nächsten Schritt.</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war mein Ausgangspunkt. Das System war schon vollständig aufgebaut. Der AutoEncoder erzeugt acht Werte. Der Interpreter macht daraus Level, Trend und Movement. Jetzt wollte ich nicht mehr nur zeigen, dass der Code läuft. Ich wollte prüfen, ob das Ergebnis auch bei unbekannten Daten und bei anderen Trainingsläufen stabil bleibt. Die ersten 15 Messungen bilden die Referenz. Level ist der geglättete Abstand, Trend die Steigung. Movement misst den Abstand zwischen zwei z-Punkten.</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ist der echte Blind-Test mit Bearing2_5. Die Rohdaten wurden einmal geladen und dann durch beide Arme geführt. Arm A erreicht eine Korrelation von 0,946. Arm B erreicht 0,964. Beide Werte sind klar positiv und höher als die vorher festgelegte Grenze von 0,7. Arm B ist etwas besser, aber der Unterschied von 0,018 ist klein. Deshalb sage ich nicht, dass Arm B klar überlegen ist. Das Ergebnis gilt für dieses eine zuvor unbekannte Bearing. Spätere Wiederverwendung in der Stabilitätsstudie ist keine neue Blind-Evaluation.</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einzelner Blind-Test reicht noch nicht für eine Stabilitätsaussage. Deshalb habe ich eine größere Studie gemacht. Ich benutze zwei Betriebsbedingungen. In jeder Bedingung rotiert jedes der fünf Bearings einmal in den Test. Dazu kommen drei verschiedene Seeds. Insgesamt entstehen 30 Trainingsläufe. Wichtig ist: Die Normalisierung benutzt immer nur die drei Trainings-Bearings. Training und Test liegen hier jeweils in derselben Betriebsbedingung. Das ist eine Wiederholungsstudie in zwei Bedingungen. Die Daten waren im Projekt schon bekannt. Es sind keine 30 unabhängigen Bearings.</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wichtigste Ergebnis ist Level. Über alle 30 Läufe liegt die mittlere Spearman-Korrelation bei 0,959. Auch getrennt nach den beiden Betriebsbedingungen bleiben die Werte hoch. Die Streuung ist mit 0,048 relativ klein. Das zeigt: Das gute Blind-Ergebnis kommt nicht nur von einem einzelnen Seed oder einem einzelnen Bearing. Bearing1_4 bleibt aber der schwierigste Fall. Die Läufe teilen sich Daten. Deshalb zeige ich Mittelwert und Streuung. Diese Studie allein prüft keine direkte Übertragung von einer Bedingung in die andere. Zeit ist hier nur ein Vergleichswert für die Reihenfolge, kein gemessener Schaden.</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benutze ich unterschiedliche Kennzahlen. Level hat eine hohe Korrelation mit der Zeit. Trend stimmt in rund 82 Prozent der Fälle mit der Richtung der Level-Änderung überein. Movement korreliert mit dem Betrag dieser Änderung mit 0,379. Trend entsteht selbst aus Level. Deshalb ist das nur ein interner Check. Daraus kann ich noch keine Fehlererkennung oder Vorhersage ableiten. Dafür brauche ich unabhängige Labels.</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Bearing1_4 liegt der mittlere Level-Wert für die Korrelation bei 0,860. Die Kurven der drei Seeds sind sehr ähnlich. Der Rekonstruktionsfehler ist 1,77-mal so hoch wie der Mittelwert der anderen Bearings. Diese Vergleichsgruppe enthält aber Trainingsdaten. Deshalb ist das nur ein Hinweis und noch keine Erklärung der Ursache. Außerdem habe ich 16 Kombinationen von Kalibrierung und Fenster geprüft. Dabei ändern sich auch die ausgewerteten Zeitpunkte. Ich wähle daraus keine neuen Parameter für v0.1.</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Fazit ist: Level zeigt in den bisherigen Daten eine hohe Zeitkorrelation. Die Ergebnisse und Version v0.1 sind im Repository dokumentiert. Als Nächstes möchte ich die Kalibrierung und die Distanz vergleichen. Zum Beispiel ein robusteres Zentrum oder eine skalierte Distanz. Dafür brauche ich vorher einen festen Vergleichsplan mit gleichen Zeitpunkten. Die bisherigen Testdaten gelten dann als Entwicklungsdaten. Physischer Schaden und der Nutzen für RL bleiben offen. Passt dieser nächste Schritt für die weitere Arbeit?</a:t>
            </a:r>
          </a:p>
          <a:p xmlns:a="http://schemas.openxmlformats.org/drawingml/2006/main">
            <a:r>
              <a:t/>
            </a:r>
          </a:p>
          <a:p xmlns:a="http://schemas.openxmlformats.org/drawingml/2006/main">
            <a:r>
              <a:t>Quelle: state-interpreter/results/ (12.09.2026), zugehörige Skripte und Projektprotokolle.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46b42668ea4f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c1d9241b304e8a" /><Relationship Type="http://schemas.openxmlformats.org/officeDocument/2006/relationships/slideLayout" Target="/ppt/slideLayouts/slideLayout1.xml" Id="R69b016b6d9f148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b016b6d9f148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61160ed5b64a0e" /><Relationship Type="http://schemas.openxmlformats.org/officeDocument/2006/relationships/notesSlide" Target="/ppt/notesSlides/notesSlide1.xml" Id="R91c75f810e314e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dda8e79b864d0d" /><Relationship Type="http://schemas.openxmlformats.org/officeDocument/2006/relationships/notesSlide" Target="/ppt/notesSlides/notesSlide2.xml" Id="R583f792f940341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eb16d6702949d4" /><Relationship Type="http://schemas.openxmlformats.org/officeDocument/2006/relationships/notesSlide" Target="/ppt/notesSlides/notesSlide3.xml" Id="R186e5e4f9b8c4c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615b5917484556" /><Relationship Type="http://schemas.openxmlformats.org/officeDocument/2006/relationships/notesSlide" Target="/ppt/notesSlides/notesSlide4.xml" Id="R89d518fa21894b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6f4b48a65e43f7" /><Relationship Type="http://schemas.openxmlformats.org/officeDocument/2006/relationships/chart" Target="/ppt/slides/charts/chart1.xml" Id="R502de3405d1745a9" /><Relationship Type="http://schemas.openxmlformats.org/officeDocument/2006/relationships/notesSlide" Target="/ppt/notesSlides/notesSlide5.xml" Id="R683fdae634f24b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05ade211e5494b" /><Relationship Type="http://schemas.openxmlformats.org/officeDocument/2006/relationships/notesSlide" Target="/ppt/notesSlides/notesSlide6.xml" Id="Re6b56de52af141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5ab8468010433f" /><Relationship Type="http://schemas.openxmlformats.org/officeDocument/2006/relationships/notesSlide" Target="/ppt/notesSlides/notesSlide7.xml" Id="Rd2680aecfa3a40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e0ff4ba9c4468b" /><Relationship Type="http://schemas.openxmlformats.org/officeDocument/2006/relationships/notesSlide" Target="/ppt/notesSlides/notesSlide8.xml" Id="R188dae4172b6443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Spearman ρ</c:v>
          </c:tx>
          <c:spPr>
            <a:solidFill xmlns:a="http://schemas.openxmlformats.org/drawingml/2006/main">
              <a:srgbClr val="237C9E"/>
            </a:solidFill>
          </c:spPr>
          <c:dLbls>
            <c:dLbl>
              <c:idx val="0"/>
              <c:tx>
                <c:rich>
                  <a:bodyPr xmlns:a="http://schemas.openxmlformats.org/drawingml/2006/main"/>
                  <a:lstStyle xmlns:a="http://schemas.openxmlformats.org/drawingml/2006/main"/>
                  <a:p xmlns:a="http://schemas.openxmlformats.org/drawingml/2006/main">
                    <a:r>
                      <a:rPr sz="1725" b="1">
                        <a:latin typeface="Arial"/>
                        <a:ea typeface="Arial"/>
                        <a:cs typeface="Arial"/>
                      </a:rPr>
                      <a:t>0,959</a:t>
                    </a:r>
                  </a:p>
                </c:rich>
              </c:tx>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latin typeface="Arial"/>
                        <a:ea typeface="Arial"/>
                        <a:cs typeface="Arial"/>
                      </a:rPr>
                      <a:t>0,940</a:t>
                    </a:r>
                  </a:p>
                </c:rich>
              </c:tx>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latin typeface="Arial"/>
                        <a:ea typeface="Arial"/>
                        <a:cs typeface="Arial"/>
                      </a:rPr>
                      <a:t>0,978</a:t>
                    </a:r>
                  </a:p>
                </c:rich>
              </c:tx>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0"/>
              <c:showCatName val="0"/>
              <c:showSerName val="0"/>
              <c:showPercent val="0"/>
              <c:showBubbleSize val="0"/>
            </c:dLbl>
          </c:dLbls>
          <c:cat>
            <c:strRef>
              <c:f>'Chart Data'!$A$2:$A$4</c:f>
              <c:strCache>
                <c:ptCount val="3"/>
                <c:pt idx="0">
                  <c:v>Alle 30 Läufe</c:v>
                </c:pt>
                <c:pt idx="1">
                  <c:v>35 Hz / 12 kN</c:v>
                </c:pt>
                <c:pt idx="2">
                  <c:v>37,5 Hz / 11 kN</c:v>
                </c:pt>
              </c:strCache>
            </c:strRef>
          </c:cat>
          <c:val>
            <c:numRef>
              <c:f>'Chart Data'!$B$2:$B$4</c:f>
              <c:numCache>
                <c:formatCode>0.000</c:formatCode>
                <c:ptCount val="3"/>
                <c:pt idx="0">
                  <c:v>0.959</c:v>
                </c:pt>
                <c:pt idx="1">
                  <c:v>0.94</c:v>
                </c:pt>
                <c:pt idx="2">
                  <c:v>0.978</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majorUnit val="0.2"/>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1EC97C-7140-4A9D-9FC7-F36FB241039E}"/>
              </a:ext>
            </a:extLst>
          </p:cNvPr>
          <p:cNvSpPr>
            <a:spLocks xmlns:a="http://schemas.openxmlformats.org/drawingml/2006/main" noGrp="1"/>
          </p:cNvSpPr>
          <p:nvPr/>
        </p:nvSpPr>
        <p:spPr>
          <a:xfrm xmlns:a="http://schemas.openxmlformats.org/drawingml/2006/main">
            <a:off x="609600" y="4572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37C9E"/>
                </a:solidFill>
                <a:latin typeface="Arial"/>
                <a:ea typeface="Arial"/>
                <a:cs typeface="Arial"/>
              </a:defRPr>
            </a:pPr>
            <a:r>
              <a:rPr sz="1350" b="1">
                <a:solidFill>
                  <a:srgbClr val="237C9E"/>
                </a:solidFill>
                <a:latin typeface="Arial"/>
                <a:ea typeface="Arial"/>
                <a:cs typeface="Arial"/>
              </a:rPr>
              <a:t>STATE INTERPRETER</a:t>
            </a:r>
          </a:p>
        </p:txBody>
      </p:sp>
      <p:sp>
        <p:nvSpPr>
          <p:cNvPr id="2" name="">
            <a:extLst xmlns:a="http://schemas.openxmlformats.org/drawingml/2006/main">
              <a:ext uri="{FF2B5EF4-FFF2-40B4-BE49-F238E27FC236}">
                <a16:creationId xmlns:a16="http://schemas.microsoft.com/office/drawing/2014/main" id="{9CDDE544-C9CB-41A3-9377-6FD23119DC4A}"/>
              </a:ext>
            </a:extLst>
          </p:cNvPr>
          <p:cNvSpPr>
            <a:spLocks xmlns:a="http://schemas.openxmlformats.org/drawingml/2006/main" noGrp="1"/>
          </p:cNvSpPr>
          <p:nvPr/>
        </p:nvSpPr>
        <p:spPr>
          <a:xfrm xmlns:a="http://schemas.openxmlformats.org/drawingml/2006/main">
            <a:off x="609600" y="1352550"/>
            <a:ext cx="7239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Wochenbericht</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12. September 2026</a:t>
            </a:r>
          </a:p>
        </p:txBody>
      </p:sp>
      <p:sp>
        <p:nvSpPr>
          <p:cNvPr id="3" name="">
            <a:extLst xmlns:a="http://schemas.openxmlformats.org/drawingml/2006/main">
              <a:ext uri="{FF2B5EF4-FFF2-40B4-BE49-F238E27FC236}">
                <a16:creationId xmlns:a16="http://schemas.microsoft.com/office/drawing/2014/main" id="{C119E56F-BA35-45A8-8362-F0D8C06E2D77}"/>
              </a:ext>
            </a:extLst>
          </p:cNvPr>
          <p:cNvSpPr>
            <a:spLocks xmlns:a="http://schemas.openxmlformats.org/drawingml/2006/main" noGrp="1"/>
          </p:cNvSpPr>
          <p:nvPr/>
        </p:nvSpPr>
        <p:spPr>
          <a:xfrm xmlns:a="http://schemas.openxmlformats.org/drawingml/2006/main">
            <a:off x="647700" y="3676650"/>
            <a:ext cx="714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60717D"/>
                </a:solidFill>
                <a:latin typeface="Arial"/>
                <a:ea typeface="Arial"/>
                <a:cs typeface="Arial"/>
              </a:defRPr>
            </a:pPr>
            <a:r>
              <a:rPr sz="1725" b="0">
                <a:solidFill>
                  <a:srgbClr val="60717D"/>
                </a:solidFill>
                <a:latin typeface="Arial"/>
                <a:ea typeface="Arial"/>
                <a:cs typeface="Arial"/>
              </a:rPr>
              <a:t>Blind-Evaluation · Stabilitätsstudie · Fehleranalyse</a:t>
            </a:r>
          </a:p>
        </p:txBody>
      </p:sp>
      <p:sp>
        <p:nvSpPr>
          <p:cNvPr id="4" name="">
            <a:extLst xmlns:a="http://schemas.openxmlformats.org/drawingml/2006/main">
              <a:ext uri="{FF2B5EF4-FFF2-40B4-BE49-F238E27FC236}">
                <a16:creationId xmlns:a16="http://schemas.microsoft.com/office/drawing/2014/main" id="{1C19D268-DBC5-41E8-A13D-9DA98046E4DE}"/>
              </a:ext>
            </a:extLst>
          </p:cNvPr>
          <p:cNvSpPr>
            <a:spLocks xmlns:a="http://schemas.openxmlformats.org/drawingml/2006/main" noGrp="1"/>
          </p:cNvSpPr>
          <p:nvPr/>
        </p:nvSpPr>
        <p:spPr>
          <a:xfrm xmlns:a="http://schemas.openxmlformats.org/drawingml/2006/main">
            <a:off x="8743950" y="1047750"/>
            <a:ext cx="2381250" cy="4000500"/>
          </a:xfrm>
          <a:prstGeom xmlns:a="http://schemas.openxmlformats.org/drawingml/2006/main" prst="roundRect">
            <a:avLst>
              <a:gd name="adj" fmla="val 3200"/>
            </a:avLst>
          </a:prstGeom>
          <a:solidFill xmlns:a="http://schemas.openxmlformats.org/drawingml/2006/main">
            <a:srgbClr val="18324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DADDBC-2C99-467A-A1EF-6E6FD7D00B84}"/>
              </a:ext>
            </a:extLst>
          </p:cNvPr>
          <p:cNvSpPr>
            <a:spLocks xmlns:a="http://schemas.openxmlformats.org/drawingml/2006/main" noGrp="1"/>
          </p:cNvSpPr>
          <p:nvPr/>
        </p:nvSpPr>
        <p:spPr>
          <a:xfrm xmlns:a="http://schemas.openxmlformats.org/drawingml/2006/main">
            <a:off x="9353550" y="1571625"/>
            <a:ext cx="114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350" b="1">
                <a:solidFill>
                  <a:srgbClr val="66C4D5"/>
                </a:solidFill>
                <a:latin typeface="Arial"/>
                <a:ea typeface="Arial"/>
                <a:cs typeface="Arial"/>
              </a:defRPr>
            </a:pPr>
            <a:r>
              <a:rPr sz="4350" b="1">
                <a:solidFill>
                  <a:srgbClr val="66C4D5"/>
                </a:solidFill>
                <a:latin typeface="Arial"/>
                <a:ea typeface="Arial"/>
                <a:cs typeface="Arial"/>
              </a:rPr>
              <a:t>z</a:t>
            </a:r>
          </a:p>
        </p:txBody>
      </p:sp>
      <p:sp>
        <p:nvSpPr>
          <p:cNvPr id="6" name="">
            <a:extLst xmlns:a="http://schemas.openxmlformats.org/drawingml/2006/main">
              <a:ext uri="{FF2B5EF4-FFF2-40B4-BE49-F238E27FC236}">
                <a16:creationId xmlns:a16="http://schemas.microsoft.com/office/drawing/2014/main" id="{330A57B6-0719-4A65-86D9-3C68512A5928}"/>
              </a:ext>
            </a:extLst>
          </p:cNvPr>
          <p:cNvSpPr>
            <a:spLocks xmlns:a="http://schemas.openxmlformats.org/drawingml/2006/main" noGrp="1"/>
          </p:cNvSpPr>
          <p:nvPr/>
        </p:nvSpPr>
        <p:spPr>
          <a:xfrm xmlns:a="http://schemas.openxmlformats.org/drawingml/2006/main">
            <a:off x="9448800" y="2476500"/>
            <a:ext cx="95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982"/>
          </a:bodyPr>
          <a:lstStyle xmlns:a="http://schemas.openxmlformats.org/drawingml/2006/main"/>
          <a:p xmlns:a="http://schemas.openxmlformats.org/drawingml/2006/main">
            <a:pPr algn="ctr">
              <a:defRPr sz="2850" b="1">
                <a:solidFill>
                  <a:srgbClr val="FFFFFF"/>
                </a:solidFill>
                <a:latin typeface="Arial"/>
                <a:ea typeface="Arial"/>
                <a:cs typeface="Arial"/>
              </a:defRPr>
            </a:pPr>
            <a:r>
              <a:rPr sz="2850" b="1">
                <a:solidFill>
                  <a:srgbClr val="FFFFFF"/>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765D8D9C-E104-4D23-9E3E-820F6098B744}"/>
              </a:ext>
            </a:extLst>
          </p:cNvPr>
          <p:cNvSpPr>
            <a:spLocks xmlns:a="http://schemas.openxmlformats.org/drawingml/2006/main" noGrp="1"/>
          </p:cNvSpPr>
          <p:nvPr/>
        </p:nvSpPr>
        <p:spPr>
          <a:xfrm xmlns:a="http://schemas.openxmlformats.org/drawingml/2006/main">
            <a:off x="9048750" y="3124200"/>
            <a:ext cx="17716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Level</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Trend</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Movement</a:t>
            </a:r>
          </a:p>
        </p:txBody>
      </p:sp>
      <p:sp>
        <p:nvSpPr>
          <p:cNvPr id="8" name="">
            <a:extLst xmlns:a="http://schemas.openxmlformats.org/drawingml/2006/main">
              <a:ext uri="{FF2B5EF4-FFF2-40B4-BE49-F238E27FC236}">
                <a16:creationId xmlns:a16="http://schemas.microsoft.com/office/drawing/2014/main" id="{AAE2CAEC-305C-40A8-BF73-229377807CE7}"/>
              </a:ext>
            </a:extLst>
          </p:cNvPr>
          <p:cNvSpPr>
            <a:spLocks xmlns:a="http://schemas.openxmlformats.org/drawingml/2006/main" noGrp="1"/>
          </p:cNvSpPr>
          <p:nvPr/>
        </p:nvSpPr>
        <p:spPr>
          <a:xfrm xmlns:a="http://schemas.openxmlformats.org/drawingml/2006/main">
            <a:off x="647700" y="60769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588"/>
          </a:bodyPr>
          <a:lstStyle xmlns:a="http://schemas.openxmlformats.org/drawingml/2006/main"/>
          <a:p xmlns:a="http://schemas.openxmlformats.org/drawingml/2006/main">
            <a:pPr algn="l">
              <a:defRPr sz="1275" b="0">
                <a:solidFill>
                  <a:srgbClr val="60717D"/>
                </a:solidFill>
                <a:latin typeface="Arial"/>
                <a:ea typeface="Arial"/>
                <a:cs typeface="Arial"/>
              </a:defRPr>
            </a:pPr>
            <a:r>
              <a:rPr sz="1275" b="0">
                <a:solidFill>
                  <a:srgbClr val="60717D"/>
                </a:solidFill>
                <a:latin typeface="Arial"/>
                <a:ea typeface="Arial"/>
                <a:cs typeface="Arial"/>
              </a:rPr>
              <a:t>Yuxin</a:t>
            </a:r>
          </a:p>
        </p:txBody>
      </p:sp>
    </p:spTree>
    <p:extLst>
      <p:ext uri="{BB962C8B-B14F-4D97-AF65-F5344CB8AC3E}">
        <p14:creationId xmlns:p14="http://schemas.microsoft.com/office/powerpoint/2010/main" val="4777080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529137-79D5-4945-B273-E6982DEB110D}"/>
              </a:ext>
            </a:extLst>
          </p:cNvPr>
          <p:cNvSpPr>
            <a:spLocks xmlns:a="http://schemas.openxmlformats.org/drawingml/2006/main" noGrp="1"/>
          </p:cNvSpPr>
          <p:nvPr/>
        </p:nvSpPr>
        <p:spPr>
          <a:xfrm xmlns:a="http://schemas.openxmlformats.org/drawingml/2006/main">
            <a:off x="609600" y="266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37C9E"/>
                </a:solidFill>
                <a:latin typeface="Arial"/>
                <a:ea typeface="Arial"/>
                <a:cs typeface="Arial"/>
              </a:defRPr>
            </a:pPr>
            <a:r>
              <a:rPr sz="1275" b="1">
                <a:solidFill>
                  <a:srgbClr val="237C9E"/>
                </a:solidFill>
                <a:latin typeface="Arial"/>
                <a:ea typeface="Arial"/>
                <a:cs typeface="Arial"/>
              </a:rPr>
              <a:t>AUSGANGSPUNKT</a:t>
            </a:r>
          </a:p>
        </p:txBody>
      </p:sp>
      <p:sp>
        <p:nvSpPr>
          <p:cNvPr id="2" name="">
            <a:extLst xmlns:a="http://schemas.openxmlformats.org/drawingml/2006/main">
              <a:ext uri="{FF2B5EF4-FFF2-40B4-BE49-F238E27FC236}">
                <a16:creationId xmlns:a16="http://schemas.microsoft.com/office/drawing/2014/main" id="{35A6861B-11B8-4759-A0E3-6F889684308C}"/>
              </a:ext>
            </a:extLst>
          </p:cNvPr>
          <p:cNvSpPr>
            <a:spLocks xmlns:a="http://schemas.openxmlformats.org/drawingml/2006/main" noGrp="1"/>
          </p:cNvSpPr>
          <p:nvPr/>
        </p:nvSpPr>
        <p:spPr>
          <a:xfrm xmlns:a="http://schemas.openxmlformats.org/drawingml/2006/main">
            <a:off x="6096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Die erste Version war bereit für eine strengere Prüfung</a:t>
            </a:r>
          </a:p>
        </p:txBody>
      </p:sp>
      <p:sp>
        <p:nvSpPr>
          <p:cNvPr id="3" name="">
            <a:extLst xmlns:a="http://schemas.openxmlformats.org/drawingml/2006/main">
              <a:ext uri="{FF2B5EF4-FFF2-40B4-BE49-F238E27FC236}">
                <a16:creationId xmlns:a16="http://schemas.microsoft.com/office/drawing/2014/main" id="{5B7D1FBC-9AD8-4252-83F7-ACE25FAEFC58}"/>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CAD6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006A10-30F4-4D82-97E9-B3B6961D7A77}"/>
              </a:ext>
            </a:extLst>
          </p:cNvPr>
          <p:cNvSpPr>
            <a:spLocks xmlns:a="http://schemas.openxmlformats.org/drawingml/2006/main" noGrp="1"/>
          </p:cNvSpPr>
          <p:nvPr/>
        </p:nvSpPr>
        <p:spPr>
          <a:xfrm xmlns:a="http://schemas.openxmlformats.org/drawingml/2006/main">
            <a:off x="11049000" y="62293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r">
              <a:defRPr sz="1125" b="1">
                <a:solidFill>
                  <a:srgbClr val="60717D"/>
                </a:solidFill>
                <a:latin typeface="Arial"/>
                <a:ea typeface="Arial"/>
                <a:cs typeface="Arial"/>
              </a:defRPr>
            </a:pPr>
            <a:r>
              <a:rPr sz="1125" b="1">
                <a:solidFill>
                  <a:srgbClr val="60717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2C8E143-BEF5-4AA1-AEA8-FF4C94CC5839}"/>
              </a:ext>
            </a:extLst>
          </p:cNvPr>
          <p:cNvSpPr>
            <a:spLocks xmlns:a="http://schemas.openxmlformats.org/drawingml/2006/main" noGrp="1"/>
          </p:cNvSpPr>
          <p:nvPr/>
        </p:nvSpPr>
        <p:spPr>
          <a:xfrm xmlns:a="http://schemas.openxmlformats.org/drawingml/2006/main">
            <a:off x="609600" y="1809750"/>
            <a:ext cx="4857750" cy="3333750"/>
          </a:xfrm>
          <a:prstGeom xmlns:a="http://schemas.openxmlformats.org/drawingml/2006/main" prst="roundRect">
            <a:avLst>
              <a:gd name="adj" fmla="val 2286"/>
            </a:avLst>
          </a:prstGeom>
          <a:solidFill xmlns:a="http://schemas.openxmlformats.org/drawingml/2006/main">
            <a:srgbClr val="EAF5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A092CA-DE4A-409C-BD56-A26DDDB7F31A}"/>
              </a:ext>
            </a:extLst>
          </p:cNvPr>
          <p:cNvSpPr>
            <a:spLocks xmlns:a="http://schemas.openxmlformats.org/drawingml/2006/main" noGrp="1"/>
          </p:cNvSpPr>
          <p:nvPr/>
        </p:nvSpPr>
        <p:spPr>
          <a:xfrm xmlns:a="http://schemas.openxmlformats.org/drawingml/2006/main">
            <a:off x="876300" y="20383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83247"/>
                </a:solidFill>
                <a:latin typeface="Arial"/>
                <a:ea typeface="Arial"/>
                <a:cs typeface="Arial"/>
              </a:defRPr>
            </a:pPr>
            <a:r>
              <a:rPr sz="1800" b="1">
                <a:solidFill>
                  <a:srgbClr val="183247"/>
                </a:solidFill>
                <a:latin typeface="Arial"/>
                <a:ea typeface="Arial"/>
                <a:cs typeface="Arial"/>
              </a:rPr>
              <a:t>Bestehendes System</a:t>
            </a:r>
          </a:p>
        </p:txBody>
      </p:sp>
      <p:sp>
        <p:nvSpPr>
          <p:cNvPr id="7" name="">
            <a:extLst xmlns:a="http://schemas.openxmlformats.org/drawingml/2006/main">
              <a:ext uri="{FF2B5EF4-FFF2-40B4-BE49-F238E27FC236}">
                <a16:creationId xmlns:a16="http://schemas.microsoft.com/office/drawing/2014/main" id="{0036E9E9-E407-4F7F-8950-6E56C46328E9}"/>
              </a:ext>
            </a:extLst>
          </p:cNvPr>
          <p:cNvSpPr>
            <a:spLocks xmlns:a="http://schemas.openxmlformats.org/drawingml/2006/main" noGrp="1"/>
          </p:cNvSpPr>
          <p:nvPr/>
        </p:nvSpPr>
        <p:spPr>
          <a:xfrm xmlns:a="http://schemas.openxmlformats.org/drawingml/2006/main">
            <a:off x="876300" y="2647950"/>
            <a:ext cx="4095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XJTU-SY Schwingungen</a:t>
            </a:r>
          </a:p>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STFT mit 2 × 32 × 32</a:t>
            </a:r>
          </a:p>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AutoEncoder mit z ∈ ℝ⁸</a:t>
            </a:r>
          </a:p>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Interpreter mit 15 / 10</a:t>
            </a:r>
          </a:p>
        </p:txBody>
      </p:sp>
      <p:sp>
        <p:nvSpPr>
          <p:cNvPr id="8" name="">
            <a:extLst xmlns:a="http://schemas.openxmlformats.org/drawingml/2006/main">
              <a:ext uri="{FF2B5EF4-FFF2-40B4-BE49-F238E27FC236}">
                <a16:creationId xmlns:a16="http://schemas.microsoft.com/office/drawing/2014/main" id="{8D8EF4DA-BB5C-44D7-9625-0B947328CBF1}"/>
              </a:ext>
            </a:extLst>
          </p:cNvPr>
          <p:cNvSpPr>
            <a:spLocks xmlns:a="http://schemas.openxmlformats.org/drawingml/2006/main" noGrp="1"/>
          </p:cNvSpPr>
          <p:nvPr/>
        </p:nvSpPr>
        <p:spPr>
          <a:xfrm xmlns:a="http://schemas.openxmlformats.org/drawingml/2006/main">
            <a:off x="5657850" y="3067050"/>
            <a:ext cx="685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237C9E"/>
                </a:solidFill>
                <a:latin typeface="Arial"/>
                <a:ea typeface="Arial"/>
                <a:cs typeface="Arial"/>
              </a:defRPr>
            </a:pPr>
            <a:r>
              <a:rPr sz="3150" b="1">
                <a:solidFill>
                  <a:srgbClr val="237C9E"/>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2CDBB93C-6421-4BF9-82EA-71E8870359B4}"/>
              </a:ext>
            </a:extLst>
          </p:cNvPr>
          <p:cNvSpPr>
            <a:spLocks xmlns:a="http://schemas.openxmlformats.org/drawingml/2006/main" noGrp="1"/>
          </p:cNvSpPr>
          <p:nvPr/>
        </p:nvSpPr>
        <p:spPr>
          <a:xfrm xmlns:a="http://schemas.openxmlformats.org/drawingml/2006/main">
            <a:off x="6534150" y="1809750"/>
            <a:ext cx="4743450" cy="3333750"/>
          </a:xfrm>
          <a:prstGeom xmlns:a="http://schemas.openxmlformats.org/drawingml/2006/main" prst="roundRect">
            <a:avLst>
              <a:gd name="adj" fmla="val 2286"/>
            </a:avLst>
          </a:prstGeom>
          <a:solidFill xmlns:a="http://schemas.openxmlformats.org/drawingml/2006/main">
            <a:srgbClr val="F4F7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4E33EFA-7C7C-4598-8570-6536FB77A0A0}"/>
              </a:ext>
            </a:extLst>
          </p:cNvPr>
          <p:cNvSpPr>
            <a:spLocks xmlns:a="http://schemas.openxmlformats.org/drawingml/2006/main" noGrp="1"/>
          </p:cNvSpPr>
          <p:nvPr/>
        </p:nvSpPr>
        <p:spPr>
          <a:xfrm xmlns:a="http://schemas.openxmlformats.org/drawingml/2006/main">
            <a:off x="6800850" y="20383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83247"/>
                </a:solidFill>
                <a:latin typeface="Arial"/>
                <a:ea typeface="Arial"/>
                <a:cs typeface="Arial"/>
              </a:defRPr>
            </a:pPr>
            <a:r>
              <a:rPr sz="1800" b="1">
                <a:solidFill>
                  <a:srgbClr val="183247"/>
                </a:solidFill>
                <a:latin typeface="Arial"/>
                <a:ea typeface="Arial"/>
                <a:cs typeface="Arial"/>
              </a:rPr>
              <a:t>Frage am 12.09.</a:t>
            </a:r>
          </a:p>
        </p:txBody>
      </p:sp>
      <p:sp>
        <p:nvSpPr>
          <p:cNvPr id="11" name="">
            <a:extLst xmlns:a="http://schemas.openxmlformats.org/drawingml/2006/main">
              <a:ext uri="{FF2B5EF4-FFF2-40B4-BE49-F238E27FC236}">
                <a16:creationId xmlns:a16="http://schemas.microsoft.com/office/drawing/2014/main" id="{4D3BF697-381B-4EEC-82DC-8A773F906603}"/>
              </a:ext>
            </a:extLst>
          </p:cNvPr>
          <p:cNvSpPr>
            <a:spLocks xmlns:a="http://schemas.openxmlformats.org/drawingml/2006/main" noGrp="1"/>
          </p:cNvSpPr>
          <p:nvPr/>
        </p:nvSpPr>
        <p:spPr>
          <a:xfrm xmlns:a="http://schemas.openxmlformats.org/drawingml/2006/main">
            <a:off x="6800850" y="2647950"/>
            <a:ext cx="4000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Funktioniert Level auch bei</a:t>
            </a:r>
          </a:p>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einem unbekannten Bearing?</a:t>
            </a:r>
          </a:p>
          <a:p xmlns:a="http://schemas.openxmlformats.org/drawingml/2006/main">
            <a:r>
              <a:t/>
            </a:r>
          </a:p>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Bleibt das Ergebnis stabil bei</a:t>
            </a:r>
          </a:p>
          <a:p xmlns:a="http://schemas.openxmlformats.org/drawingml/2006/main">
            <a:pPr algn="l">
              <a:defRPr sz="1650" b="0">
                <a:solidFill>
                  <a:srgbClr val="183247"/>
                </a:solidFill>
                <a:latin typeface="Arial"/>
                <a:ea typeface="Arial"/>
                <a:cs typeface="Arial"/>
              </a:defRPr>
            </a:pPr>
            <a:r>
              <a:rPr sz="1650" b="0">
                <a:solidFill>
                  <a:srgbClr val="183247"/>
                </a:solidFill>
                <a:latin typeface="Arial"/>
                <a:ea typeface="Arial"/>
                <a:cs typeface="Arial"/>
              </a:rPr>
              <a:t>neuen Seeds und Datenaufteilungen?</a:t>
            </a:r>
          </a:p>
        </p:txBody>
      </p:sp>
    </p:spTree>
    <p:extLst>
      <p:ext uri="{BB962C8B-B14F-4D97-AF65-F5344CB8AC3E}">
        <p14:creationId xmlns:p14="http://schemas.microsoft.com/office/powerpoint/2010/main" val="468945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802947-D31D-48D9-AC3F-69414758EF48}"/>
              </a:ext>
            </a:extLst>
          </p:cNvPr>
          <p:cNvSpPr>
            <a:spLocks xmlns:a="http://schemas.openxmlformats.org/drawingml/2006/main" noGrp="1"/>
          </p:cNvSpPr>
          <p:nvPr/>
        </p:nvSpPr>
        <p:spPr>
          <a:xfrm xmlns:a="http://schemas.openxmlformats.org/drawingml/2006/main">
            <a:off x="609600" y="266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37C9E"/>
                </a:solidFill>
                <a:latin typeface="Arial"/>
                <a:ea typeface="Arial"/>
                <a:cs typeface="Arial"/>
              </a:defRPr>
            </a:pPr>
            <a:r>
              <a:rPr sz="1275" b="1">
                <a:solidFill>
                  <a:srgbClr val="237C9E"/>
                </a:solidFill>
                <a:latin typeface="Arial"/>
                <a:ea typeface="Arial"/>
                <a:cs typeface="Arial"/>
              </a:rPr>
              <a:t>BLIND-EVALUATION</a:t>
            </a:r>
          </a:p>
        </p:txBody>
      </p:sp>
      <p:sp>
        <p:nvSpPr>
          <p:cNvPr id="2" name="">
            <a:extLst xmlns:a="http://schemas.openxmlformats.org/drawingml/2006/main">
              <a:ext uri="{FF2B5EF4-FFF2-40B4-BE49-F238E27FC236}">
                <a16:creationId xmlns:a16="http://schemas.microsoft.com/office/drawing/2014/main" id="{4C8BB8C2-8ED7-404C-8353-3CD1969FC81D}"/>
              </a:ext>
            </a:extLst>
          </p:cNvPr>
          <p:cNvSpPr>
            <a:spLocks xmlns:a="http://schemas.openxmlformats.org/drawingml/2006/main" noGrp="1"/>
          </p:cNvSpPr>
          <p:nvPr/>
        </p:nvSpPr>
        <p:spPr>
          <a:xfrm xmlns:a="http://schemas.openxmlformats.org/drawingml/2006/main">
            <a:off x="6096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Bearing2_5 bestätigt die zeitliche Ordnung beider Varianten</a:t>
            </a:r>
          </a:p>
        </p:txBody>
      </p:sp>
      <p:sp>
        <p:nvSpPr>
          <p:cNvPr id="3" name="">
            <a:extLst xmlns:a="http://schemas.openxmlformats.org/drawingml/2006/main">
              <a:ext uri="{FF2B5EF4-FFF2-40B4-BE49-F238E27FC236}">
                <a16:creationId xmlns:a16="http://schemas.microsoft.com/office/drawing/2014/main" id="{0F18FA63-CB98-42D6-AD80-25624953413D}"/>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CAD6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03CFEF-0079-458D-95C7-9157B0DC588D}"/>
              </a:ext>
            </a:extLst>
          </p:cNvPr>
          <p:cNvSpPr>
            <a:spLocks xmlns:a="http://schemas.openxmlformats.org/drawingml/2006/main" noGrp="1"/>
          </p:cNvSpPr>
          <p:nvPr/>
        </p:nvSpPr>
        <p:spPr>
          <a:xfrm xmlns:a="http://schemas.openxmlformats.org/drawingml/2006/main">
            <a:off x="11049000" y="62293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r">
              <a:defRPr sz="1125" b="1">
                <a:solidFill>
                  <a:srgbClr val="60717D"/>
                </a:solidFill>
                <a:latin typeface="Arial"/>
                <a:ea typeface="Arial"/>
                <a:cs typeface="Arial"/>
              </a:defRPr>
            </a:pPr>
            <a:r>
              <a:rPr sz="1125" b="1">
                <a:solidFill>
                  <a:srgbClr val="60717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A266709-7F95-4962-92AD-FBF8C7834859}"/>
              </a:ext>
            </a:extLst>
          </p:cNvPr>
          <p:cNvSpPr>
            <a:spLocks xmlns:a="http://schemas.openxmlformats.org/drawingml/2006/main" noGrp="1"/>
          </p:cNvSpPr>
          <p:nvPr/>
        </p:nvSpPr>
        <p:spPr>
          <a:xfrm xmlns:a="http://schemas.openxmlformats.org/drawingml/2006/main">
            <a:off x="609600" y="1885950"/>
            <a:ext cx="320040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8CEC29-E8A6-4C45-9D4B-51BDEF74E892}"/>
              </a:ext>
            </a:extLst>
          </p:cNvPr>
          <p:cNvSpPr>
            <a:spLocks xmlns:a="http://schemas.openxmlformats.org/drawingml/2006/main" noGrp="1"/>
          </p:cNvSpPr>
          <p:nvPr/>
        </p:nvSpPr>
        <p:spPr>
          <a:xfrm xmlns:a="http://schemas.openxmlformats.org/drawingml/2006/main">
            <a:off x="609600" y="1885950"/>
            <a:ext cx="76200" cy="1428750"/>
          </a:xfrm>
          <a:prstGeom xmlns:a="http://schemas.openxmlformats.org/drawingml/2006/main" prst="rect">
            <a:avLst/>
          </a:prstGeom>
          <a:solidFill xmlns:a="http://schemas.openxmlformats.org/drawingml/2006/main">
            <a:srgbClr val="237C9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88AD8B-6FAF-4974-9227-FB1BBFA867E4}"/>
              </a:ext>
            </a:extLst>
          </p:cNvPr>
          <p:cNvSpPr>
            <a:spLocks xmlns:a="http://schemas.openxmlformats.org/drawingml/2006/main" noGrp="1"/>
          </p:cNvSpPr>
          <p:nvPr/>
        </p:nvSpPr>
        <p:spPr>
          <a:xfrm xmlns:a="http://schemas.openxmlformats.org/drawingml/2006/main">
            <a:off x="876300" y="207645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37C9E"/>
                </a:solidFill>
                <a:latin typeface="Arial"/>
                <a:ea typeface="Arial"/>
                <a:cs typeface="Arial"/>
              </a:defRPr>
            </a:pPr>
            <a:r>
              <a:rPr sz="2850" b="1">
                <a:solidFill>
                  <a:srgbClr val="237C9E"/>
                </a:solidFill>
                <a:latin typeface="Arial"/>
                <a:ea typeface="Arial"/>
                <a:cs typeface="Arial"/>
              </a:rPr>
              <a:t>0,946</a:t>
            </a:r>
          </a:p>
        </p:txBody>
      </p:sp>
      <p:sp>
        <p:nvSpPr>
          <p:cNvPr id="8" name="">
            <a:extLst xmlns:a="http://schemas.openxmlformats.org/drawingml/2006/main">
              <a:ext uri="{FF2B5EF4-FFF2-40B4-BE49-F238E27FC236}">
                <a16:creationId xmlns:a16="http://schemas.microsoft.com/office/drawing/2014/main" id="{8D8EC08C-BB72-40A3-B054-FCB864CB7CBC}"/>
              </a:ext>
            </a:extLst>
          </p:cNvPr>
          <p:cNvSpPr>
            <a:spLocks xmlns:a="http://schemas.openxmlformats.org/drawingml/2006/main" noGrp="1"/>
          </p:cNvSpPr>
          <p:nvPr/>
        </p:nvSpPr>
        <p:spPr>
          <a:xfrm xmlns:a="http://schemas.openxmlformats.org/drawingml/2006/main">
            <a:off x="876300" y="270510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Arm A: direkte Generalisierung</a:t>
            </a:r>
          </a:p>
        </p:txBody>
      </p:sp>
      <p:sp>
        <p:nvSpPr>
          <p:cNvPr id="9" name="">
            <a:extLst xmlns:a="http://schemas.openxmlformats.org/drawingml/2006/main">
              <a:ext uri="{FF2B5EF4-FFF2-40B4-BE49-F238E27FC236}">
                <a16:creationId xmlns:a16="http://schemas.microsoft.com/office/drawing/2014/main" id="{2353CBF0-C7A1-495B-8D32-EC4A1FAEEBC9}"/>
              </a:ext>
            </a:extLst>
          </p:cNvPr>
          <p:cNvSpPr>
            <a:spLocks xmlns:a="http://schemas.openxmlformats.org/drawingml/2006/main" noGrp="1"/>
          </p:cNvSpPr>
          <p:nvPr/>
        </p:nvSpPr>
        <p:spPr>
          <a:xfrm xmlns:a="http://schemas.openxmlformats.org/drawingml/2006/main">
            <a:off x="4038600" y="1885950"/>
            <a:ext cx="320040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1BA14A-344C-4BF5-88F9-191F153E59B5}"/>
              </a:ext>
            </a:extLst>
          </p:cNvPr>
          <p:cNvSpPr>
            <a:spLocks xmlns:a="http://schemas.openxmlformats.org/drawingml/2006/main" noGrp="1"/>
          </p:cNvSpPr>
          <p:nvPr/>
        </p:nvSpPr>
        <p:spPr>
          <a:xfrm xmlns:a="http://schemas.openxmlformats.org/drawingml/2006/main">
            <a:off x="4038600" y="1885950"/>
            <a:ext cx="76200" cy="1428750"/>
          </a:xfrm>
          <a:prstGeom xmlns:a="http://schemas.openxmlformats.org/drawingml/2006/main" prst="rect">
            <a:avLst/>
          </a:prstGeom>
          <a:solidFill xmlns:a="http://schemas.openxmlformats.org/drawingml/2006/main">
            <a:srgbClr val="4A8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C3577CD-593E-4686-839B-44C2F04AEFC1}"/>
              </a:ext>
            </a:extLst>
          </p:cNvPr>
          <p:cNvSpPr>
            <a:spLocks xmlns:a="http://schemas.openxmlformats.org/drawingml/2006/main" noGrp="1"/>
          </p:cNvSpPr>
          <p:nvPr/>
        </p:nvSpPr>
        <p:spPr>
          <a:xfrm xmlns:a="http://schemas.openxmlformats.org/drawingml/2006/main">
            <a:off x="4305300" y="207645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4A8B72"/>
                </a:solidFill>
                <a:latin typeface="Arial"/>
                <a:ea typeface="Arial"/>
                <a:cs typeface="Arial"/>
              </a:defRPr>
            </a:pPr>
            <a:r>
              <a:rPr sz="2850" b="1">
                <a:solidFill>
                  <a:srgbClr val="4A8B72"/>
                </a:solidFill>
                <a:latin typeface="Arial"/>
                <a:ea typeface="Arial"/>
                <a:cs typeface="Arial"/>
              </a:rPr>
              <a:t>0,964</a:t>
            </a:r>
          </a:p>
        </p:txBody>
      </p:sp>
      <p:sp>
        <p:nvSpPr>
          <p:cNvPr id="12" name="">
            <a:extLst xmlns:a="http://schemas.openxmlformats.org/drawingml/2006/main">
              <a:ext uri="{FF2B5EF4-FFF2-40B4-BE49-F238E27FC236}">
                <a16:creationId xmlns:a16="http://schemas.microsoft.com/office/drawing/2014/main" id="{EC33D90F-BCB9-4533-BECF-FDB530351792}"/>
              </a:ext>
            </a:extLst>
          </p:cNvPr>
          <p:cNvSpPr>
            <a:spLocks xmlns:a="http://schemas.openxmlformats.org/drawingml/2006/main" noGrp="1"/>
          </p:cNvSpPr>
          <p:nvPr/>
        </p:nvSpPr>
        <p:spPr>
          <a:xfrm xmlns:a="http://schemas.openxmlformats.org/drawingml/2006/main">
            <a:off x="4305300" y="270510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Arm B: angepasster Encoder</a:t>
            </a:r>
          </a:p>
        </p:txBody>
      </p:sp>
      <p:sp>
        <p:nvSpPr>
          <p:cNvPr id="13" name="">
            <a:extLst xmlns:a="http://schemas.openxmlformats.org/drawingml/2006/main">
              <a:ext uri="{FF2B5EF4-FFF2-40B4-BE49-F238E27FC236}">
                <a16:creationId xmlns:a16="http://schemas.microsoft.com/office/drawing/2014/main" id="{AF661BA0-0EA2-4328-9851-8F3771CAA9E8}"/>
              </a:ext>
            </a:extLst>
          </p:cNvPr>
          <p:cNvSpPr>
            <a:spLocks xmlns:a="http://schemas.openxmlformats.org/drawingml/2006/main" noGrp="1"/>
          </p:cNvSpPr>
          <p:nvPr/>
        </p:nvSpPr>
        <p:spPr>
          <a:xfrm xmlns:a="http://schemas.openxmlformats.org/drawingml/2006/main">
            <a:off x="7467600" y="1885950"/>
            <a:ext cx="320040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783097-9B63-47EA-9C5A-2169DFD14F84}"/>
              </a:ext>
            </a:extLst>
          </p:cNvPr>
          <p:cNvSpPr>
            <a:spLocks xmlns:a="http://schemas.openxmlformats.org/drawingml/2006/main" noGrp="1"/>
          </p:cNvSpPr>
          <p:nvPr/>
        </p:nvSpPr>
        <p:spPr>
          <a:xfrm xmlns:a="http://schemas.openxmlformats.org/drawingml/2006/main">
            <a:off x="7467600" y="1885950"/>
            <a:ext cx="76200" cy="1428750"/>
          </a:xfrm>
          <a:prstGeom xmlns:a="http://schemas.openxmlformats.org/drawingml/2006/main" prst="rect">
            <a:avLst/>
          </a:prstGeom>
          <a:solidFill xmlns:a="http://schemas.openxmlformats.org/drawingml/2006/main">
            <a:srgbClr val="D15B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8025C6C-F332-40D5-9414-E628AB2E6FC3}"/>
              </a:ext>
            </a:extLst>
          </p:cNvPr>
          <p:cNvSpPr>
            <a:spLocks xmlns:a="http://schemas.openxmlformats.org/drawingml/2006/main" noGrp="1"/>
          </p:cNvSpPr>
          <p:nvPr/>
        </p:nvSpPr>
        <p:spPr>
          <a:xfrm xmlns:a="http://schemas.openxmlformats.org/drawingml/2006/main">
            <a:off x="7734300" y="207645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D15B4B"/>
                </a:solidFill>
                <a:latin typeface="Arial"/>
                <a:ea typeface="Arial"/>
                <a:cs typeface="Arial"/>
              </a:defRPr>
            </a:pPr>
            <a:r>
              <a:rPr sz="2850" b="1">
                <a:solidFill>
                  <a:srgbClr val="D15B4B"/>
                </a:solidFill>
                <a:latin typeface="Arial"/>
                <a:ea typeface="Arial"/>
                <a:cs typeface="Arial"/>
              </a:rPr>
              <a:t>+0,018</a:t>
            </a:r>
          </a:p>
        </p:txBody>
      </p:sp>
      <p:sp>
        <p:nvSpPr>
          <p:cNvPr id="16" name="">
            <a:extLst xmlns:a="http://schemas.openxmlformats.org/drawingml/2006/main">
              <a:ext uri="{FF2B5EF4-FFF2-40B4-BE49-F238E27FC236}">
                <a16:creationId xmlns:a16="http://schemas.microsoft.com/office/drawing/2014/main" id="{DAFB7719-FAB9-4831-8056-E12860E783A4}"/>
              </a:ext>
            </a:extLst>
          </p:cNvPr>
          <p:cNvSpPr>
            <a:spLocks xmlns:a="http://schemas.openxmlformats.org/drawingml/2006/main" noGrp="1"/>
          </p:cNvSpPr>
          <p:nvPr/>
        </p:nvSpPr>
        <p:spPr>
          <a:xfrm xmlns:a="http://schemas.openxmlformats.org/drawingml/2006/main">
            <a:off x="7734300" y="270510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Differenz Arm B minus Arm A</a:t>
            </a:r>
          </a:p>
        </p:txBody>
      </p:sp>
      <p:sp>
        <p:nvSpPr>
          <p:cNvPr id="17" name="">
            <a:extLst xmlns:a="http://schemas.openxmlformats.org/drawingml/2006/main">
              <a:ext uri="{FF2B5EF4-FFF2-40B4-BE49-F238E27FC236}">
                <a16:creationId xmlns:a16="http://schemas.microsoft.com/office/drawing/2014/main" id="{D16F75CA-39C8-460E-B0A1-39CD209D3352}"/>
              </a:ext>
            </a:extLst>
          </p:cNvPr>
          <p:cNvSpPr>
            <a:spLocks xmlns:a="http://schemas.openxmlformats.org/drawingml/2006/main" noGrp="1"/>
          </p:cNvSpPr>
          <p:nvPr/>
        </p:nvSpPr>
        <p:spPr>
          <a:xfrm xmlns:a="http://schemas.openxmlformats.org/drawingml/2006/main">
            <a:off x="609600" y="3714750"/>
            <a:ext cx="10058400" cy="1352550"/>
          </a:xfrm>
          <a:prstGeom xmlns:a="http://schemas.openxmlformats.org/drawingml/2006/main" prst="roundRect">
            <a:avLst>
              <a:gd name="adj" fmla="val 5634"/>
            </a:avLst>
          </a:prstGeom>
          <a:solidFill xmlns:a="http://schemas.openxmlformats.org/drawingml/2006/main">
            <a:srgbClr val="18324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40151F-2980-436A-9D27-195A5DAD5B11}"/>
              </a:ext>
            </a:extLst>
          </p:cNvPr>
          <p:cNvSpPr>
            <a:spLocks xmlns:a="http://schemas.openxmlformats.org/drawingml/2006/main" noGrp="1"/>
          </p:cNvSpPr>
          <p:nvPr/>
        </p:nvSpPr>
        <p:spPr>
          <a:xfrm xmlns:a="http://schemas.openxmlformats.org/drawingml/2006/main">
            <a:off x="876300" y="3886200"/>
            <a:ext cx="4438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339 Messungen einmal geladen</a:t>
            </a:r>
          </a:p>
        </p:txBody>
      </p:sp>
      <p:sp>
        <p:nvSpPr>
          <p:cNvPr id="19" name="">
            <a:extLst xmlns:a="http://schemas.openxmlformats.org/drawingml/2006/main">
              <a:ext uri="{FF2B5EF4-FFF2-40B4-BE49-F238E27FC236}">
                <a16:creationId xmlns:a16="http://schemas.microsoft.com/office/drawing/2014/main" id="{4856E1B6-CB15-4C04-9224-ABC6D6B4E03C}"/>
              </a:ext>
            </a:extLst>
          </p:cNvPr>
          <p:cNvSpPr>
            <a:spLocks xmlns:a="http://schemas.openxmlformats.org/drawingml/2006/main" noGrp="1"/>
          </p:cNvSpPr>
          <p:nvPr/>
        </p:nvSpPr>
        <p:spPr>
          <a:xfrm xmlns:a="http://schemas.openxmlformats.org/drawingml/2006/main">
            <a:off x="876300" y="4362450"/>
            <a:ext cx="4438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324 READY-Zustände je Arm</a:t>
            </a:r>
          </a:p>
        </p:txBody>
      </p:sp>
      <p:sp>
        <p:nvSpPr>
          <p:cNvPr id="20" name="">
            <a:extLst xmlns:a="http://schemas.openxmlformats.org/drawingml/2006/main">
              <a:ext uri="{FF2B5EF4-FFF2-40B4-BE49-F238E27FC236}">
                <a16:creationId xmlns:a16="http://schemas.microsoft.com/office/drawing/2014/main" id="{B5926CA5-4130-48DD-94E2-8CA2B43463C6}"/>
              </a:ext>
            </a:extLst>
          </p:cNvPr>
          <p:cNvSpPr>
            <a:spLocks xmlns:a="http://schemas.openxmlformats.org/drawingml/2006/main" noGrp="1"/>
          </p:cNvSpPr>
          <p:nvPr/>
        </p:nvSpPr>
        <p:spPr>
          <a:xfrm xmlns:a="http://schemas.openxmlformats.org/drawingml/2006/main">
            <a:off x="5753100" y="3886200"/>
            <a:ext cx="4495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66C4D5"/>
                </a:solidFill>
                <a:latin typeface="Arial"/>
                <a:ea typeface="Arial"/>
                <a:cs typeface="Arial"/>
              </a:defRPr>
            </a:pPr>
            <a:r>
              <a:rPr sz="1650" b="1">
                <a:solidFill>
                  <a:srgbClr val="66C4D5"/>
                </a:solidFill>
                <a:latin typeface="Arial"/>
                <a:ea typeface="Arial"/>
                <a:cs typeface="Arial"/>
              </a:rPr>
              <a:t>Beide ρ-Werte liegen über 0,7</a:t>
            </a:r>
          </a:p>
        </p:txBody>
      </p:sp>
      <p:sp>
        <p:nvSpPr>
          <p:cNvPr id="21" name="">
            <a:extLst xmlns:a="http://schemas.openxmlformats.org/drawingml/2006/main">
              <a:ext uri="{FF2B5EF4-FFF2-40B4-BE49-F238E27FC236}">
                <a16:creationId xmlns:a16="http://schemas.microsoft.com/office/drawing/2014/main" id="{B0C485CB-CD53-4CCF-B237-63EEDD0D0F63}"/>
              </a:ext>
            </a:extLst>
          </p:cNvPr>
          <p:cNvSpPr>
            <a:spLocks xmlns:a="http://schemas.openxmlformats.org/drawingml/2006/main" noGrp="1"/>
          </p:cNvSpPr>
          <p:nvPr/>
        </p:nvSpPr>
        <p:spPr>
          <a:xfrm xmlns:a="http://schemas.openxmlformats.org/drawingml/2006/main">
            <a:off x="5753100" y="4362450"/>
            <a:ext cx="4495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Arm B ist nur leicht besser</a:t>
            </a:r>
          </a:p>
        </p:txBody>
      </p:sp>
    </p:spTree>
    <p:extLst>
      <p:ext uri="{BB962C8B-B14F-4D97-AF65-F5344CB8AC3E}">
        <p14:creationId xmlns:p14="http://schemas.microsoft.com/office/powerpoint/2010/main" val="5544095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338CC14-368F-451B-B78B-7A22E5F9F1FA}"/>
              </a:ext>
            </a:extLst>
          </p:cNvPr>
          <p:cNvSpPr>
            <a:spLocks xmlns:a="http://schemas.openxmlformats.org/drawingml/2006/main" noGrp="1"/>
          </p:cNvSpPr>
          <p:nvPr/>
        </p:nvSpPr>
        <p:spPr>
          <a:xfrm xmlns:a="http://schemas.openxmlformats.org/drawingml/2006/main">
            <a:off x="609600" y="266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37C9E"/>
                </a:solidFill>
                <a:latin typeface="Arial"/>
                <a:ea typeface="Arial"/>
                <a:cs typeface="Arial"/>
              </a:defRPr>
            </a:pPr>
            <a:r>
              <a:rPr sz="1275" b="1">
                <a:solidFill>
                  <a:srgbClr val="237C9E"/>
                </a:solidFill>
                <a:latin typeface="Arial"/>
                <a:ea typeface="Arial"/>
                <a:cs typeface="Arial"/>
              </a:rPr>
              <a:t>STABILITÄTSDESIGN</a:t>
            </a:r>
          </a:p>
        </p:txBody>
      </p:sp>
      <p:sp>
        <p:nvSpPr>
          <p:cNvPr id="2" name="">
            <a:extLst xmlns:a="http://schemas.openxmlformats.org/drawingml/2006/main">
              <a:ext uri="{FF2B5EF4-FFF2-40B4-BE49-F238E27FC236}">
                <a16:creationId xmlns:a16="http://schemas.microsoft.com/office/drawing/2014/main" id="{BA31EFF9-D874-44D5-8E62-D36A254FB671}"/>
              </a:ext>
            </a:extLst>
          </p:cNvPr>
          <p:cNvSpPr>
            <a:spLocks xmlns:a="http://schemas.openxmlformats.org/drawingml/2006/main" noGrp="1"/>
          </p:cNvSpPr>
          <p:nvPr/>
        </p:nvSpPr>
        <p:spPr>
          <a:xfrm xmlns:a="http://schemas.openxmlformats.org/drawingml/2006/main">
            <a:off x="6096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30 Trainingsläufe prüfen Seeds, Bearings und Betriebsbedingungen</a:t>
            </a:r>
          </a:p>
        </p:txBody>
      </p:sp>
      <p:sp>
        <p:nvSpPr>
          <p:cNvPr id="3" name="">
            <a:extLst xmlns:a="http://schemas.openxmlformats.org/drawingml/2006/main">
              <a:ext uri="{FF2B5EF4-FFF2-40B4-BE49-F238E27FC236}">
                <a16:creationId xmlns:a16="http://schemas.microsoft.com/office/drawing/2014/main" id="{88C903A4-D503-4EBB-A429-DA53FA1A07CC}"/>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CAD6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C33E07-D24E-4A5D-BFEF-298D382DCF78}"/>
              </a:ext>
            </a:extLst>
          </p:cNvPr>
          <p:cNvSpPr>
            <a:spLocks xmlns:a="http://schemas.openxmlformats.org/drawingml/2006/main" noGrp="1"/>
          </p:cNvSpPr>
          <p:nvPr/>
        </p:nvSpPr>
        <p:spPr>
          <a:xfrm xmlns:a="http://schemas.openxmlformats.org/drawingml/2006/main">
            <a:off x="11049000" y="62293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r">
              <a:defRPr sz="1125" b="1">
                <a:solidFill>
                  <a:srgbClr val="60717D"/>
                </a:solidFill>
                <a:latin typeface="Arial"/>
                <a:ea typeface="Arial"/>
                <a:cs typeface="Arial"/>
              </a:defRPr>
            </a:pPr>
            <a:r>
              <a:rPr sz="1125" b="1">
                <a:solidFill>
                  <a:srgbClr val="60717D"/>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EE5D7C9-1AA4-4FB0-A1ED-55187740C32E}"/>
              </a:ext>
            </a:extLst>
          </p:cNvPr>
          <p:cNvSpPr>
            <a:spLocks xmlns:a="http://schemas.openxmlformats.org/drawingml/2006/main" noGrp="1"/>
          </p:cNvSpPr>
          <p:nvPr/>
        </p:nvSpPr>
        <p:spPr>
          <a:xfrm xmlns:a="http://schemas.openxmlformats.org/drawingml/2006/main">
            <a:off x="609600" y="1790700"/>
            <a:ext cx="238125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20E371-5190-4B40-989F-C5E5F6B6A3B6}"/>
              </a:ext>
            </a:extLst>
          </p:cNvPr>
          <p:cNvSpPr>
            <a:spLocks xmlns:a="http://schemas.openxmlformats.org/drawingml/2006/main" noGrp="1"/>
          </p:cNvSpPr>
          <p:nvPr/>
        </p:nvSpPr>
        <p:spPr>
          <a:xfrm xmlns:a="http://schemas.openxmlformats.org/drawingml/2006/main">
            <a:off x="609600" y="1790700"/>
            <a:ext cx="76200" cy="1428750"/>
          </a:xfrm>
          <a:prstGeom xmlns:a="http://schemas.openxmlformats.org/drawingml/2006/main" prst="rect">
            <a:avLst/>
          </a:prstGeom>
          <a:solidFill xmlns:a="http://schemas.openxmlformats.org/drawingml/2006/main">
            <a:srgbClr val="237C9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556FB2B-567B-4339-A0AB-71F3839191FA}"/>
              </a:ext>
            </a:extLst>
          </p:cNvPr>
          <p:cNvSpPr>
            <a:spLocks xmlns:a="http://schemas.openxmlformats.org/drawingml/2006/main" noGrp="1"/>
          </p:cNvSpPr>
          <p:nvPr/>
        </p:nvSpPr>
        <p:spPr>
          <a:xfrm xmlns:a="http://schemas.openxmlformats.org/drawingml/2006/main">
            <a:off x="876300" y="1981200"/>
            <a:ext cx="1885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37C9E"/>
                </a:solidFill>
                <a:latin typeface="Arial"/>
                <a:ea typeface="Arial"/>
                <a:cs typeface="Arial"/>
              </a:defRPr>
            </a:pPr>
            <a:r>
              <a:rPr sz="2850" b="1">
                <a:solidFill>
                  <a:srgbClr val="237C9E"/>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EE3F7C60-9AEA-4D0F-B4F8-7D62B1841E45}"/>
              </a:ext>
            </a:extLst>
          </p:cNvPr>
          <p:cNvSpPr>
            <a:spLocks xmlns:a="http://schemas.openxmlformats.org/drawingml/2006/main" noGrp="1"/>
          </p:cNvSpPr>
          <p:nvPr/>
        </p:nvSpPr>
        <p:spPr>
          <a:xfrm xmlns:a="http://schemas.openxmlformats.org/drawingml/2006/main">
            <a:off x="876300" y="260985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Betriebsbedingungen</a:t>
            </a:r>
          </a:p>
        </p:txBody>
      </p:sp>
      <p:sp>
        <p:nvSpPr>
          <p:cNvPr id="9" name="">
            <a:extLst xmlns:a="http://schemas.openxmlformats.org/drawingml/2006/main">
              <a:ext uri="{FF2B5EF4-FFF2-40B4-BE49-F238E27FC236}">
                <a16:creationId xmlns:a16="http://schemas.microsoft.com/office/drawing/2014/main" id="{D6F49899-1B5A-499A-AA59-585DAE84D281}"/>
              </a:ext>
            </a:extLst>
          </p:cNvPr>
          <p:cNvSpPr>
            <a:spLocks xmlns:a="http://schemas.openxmlformats.org/drawingml/2006/main" noGrp="1"/>
          </p:cNvSpPr>
          <p:nvPr/>
        </p:nvSpPr>
        <p:spPr>
          <a:xfrm xmlns:a="http://schemas.openxmlformats.org/drawingml/2006/main">
            <a:off x="3181350" y="1790700"/>
            <a:ext cx="238125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26EEC58-20E8-482E-8FB7-8F07B1EAAFC7}"/>
              </a:ext>
            </a:extLst>
          </p:cNvPr>
          <p:cNvSpPr>
            <a:spLocks xmlns:a="http://schemas.openxmlformats.org/drawingml/2006/main" noGrp="1"/>
          </p:cNvSpPr>
          <p:nvPr/>
        </p:nvSpPr>
        <p:spPr>
          <a:xfrm xmlns:a="http://schemas.openxmlformats.org/drawingml/2006/main">
            <a:off x="3181350" y="1790700"/>
            <a:ext cx="76200" cy="1428750"/>
          </a:xfrm>
          <a:prstGeom xmlns:a="http://schemas.openxmlformats.org/drawingml/2006/main" prst="rect">
            <a:avLst/>
          </a:prstGeom>
          <a:solidFill xmlns:a="http://schemas.openxmlformats.org/drawingml/2006/main">
            <a:srgbClr val="237C9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DEF029-2CA4-4634-A23A-A635464DB6C7}"/>
              </a:ext>
            </a:extLst>
          </p:cNvPr>
          <p:cNvSpPr>
            <a:spLocks xmlns:a="http://schemas.openxmlformats.org/drawingml/2006/main" noGrp="1"/>
          </p:cNvSpPr>
          <p:nvPr/>
        </p:nvSpPr>
        <p:spPr>
          <a:xfrm xmlns:a="http://schemas.openxmlformats.org/drawingml/2006/main">
            <a:off x="3448050" y="1981200"/>
            <a:ext cx="1885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37C9E"/>
                </a:solidFill>
                <a:latin typeface="Arial"/>
                <a:ea typeface="Arial"/>
                <a:cs typeface="Arial"/>
              </a:defRPr>
            </a:pPr>
            <a:r>
              <a:rPr sz="2850" b="1">
                <a:solidFill>
                  <a:srgbClr val="237C9E"/>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23D779D3-13A8-43E2-8341-9B64BF33AB1F}"/>
              </a:ext>
            </a:extLst>
          </p:cNvPr>
          <p:cNvSpPr>
            <a:spLocks xmlns:a="http://schemas.openxmlformats.org/drawingml/2006/main" noGrp="1"/>
          </p:cNvSpPr>
          <p:nvPr/>
        </p:nvSpPr>
        <p:spPr>
          <a:xfrm xmlns:a="http://schemas.openxmlformats.org/drawingml/2006/main">
            <a:off x="3448050" y="260985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81"/>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Test-Folds je Bedingung</a:t>
            </a:r>
          </a:p>
        </p:txBody>
      </p:sp>
      <p:sp>
        <p:nvSpPr>
          <p:cNvPr id="13" name="">
            <a:extLst xmlns:a="http://schemas.openxmlformats.org/drawingml/2006/main">
              <a:ext uri="{FF2B5EF4-FFF2-40B4-BE49-F238E27FC236}">
                <a16:creationId xmlns:a16="http://schemas.microsoft.com/office/drawing/2014/main" id="{2BDDC9EB-594B-47DB-8B48-74E77FB02D9F}"/>
              </a:ext>
            </a:extLst>
          </p:cNvPr>
          <p:cNvSpPr>
            <a:spLocks xmlns:a="http://schemas.openxmlformats.org/drawingml/2006/main" noGrp="1"/>
          </p:cNvSpPr>
          <p:nvPr/>
        </p:nvSpPr>
        <p:spPr>
          <a:xfrm xmlns:a="http://schemas.openxmlformats.org/drawingml/2006/main">
            <a:off x="5753100" y="1790700"/>
            <a:ext cx="238125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A5D88BF-62CB-4DB9-A760-E9E4224727E3}"/>
              </a:ext>
            </a:extLst>
          </p:cNvPr>
          <p:cNvSpPr>
            <a:spLocks xmlns:a="http://schemas.openxmlformats.org/drawingml/2006/main" noGrp="1"/>
          </p:cNvSpPr>
          <p:nvPr/>
        </p:nvSpPr>
        <p:spPr>
          <a:xfrm xmlns:a="http://schemas.openxmlformats.org/drawingml/2006/main">
            <a:off x="5753100" y="1790700"/>
            <a:ext cx="76200" cy="1428750"/>
          </a:xfrm>
          <a:prstGeom xmlns:a="http://schemas.openxmlformats.org/drawingml/2006/main" prst="rect">
            <a:avLst/>
          </a:prstGeom>
          <a:solidFill xmlns:a="http://schemas.openxmlformats.org/drawingml/2006/main">
            <a:srgbClr val="237C9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5671EDA-E40F-4236-AF09-1188F1860D9D}"/>
              </a:ext>
            </a:extLst>
          </p:cNvPr>
          <p:cNvSpPr>
            <a:spLocks xmlns:a="http://schemas.openxmlformats.org/drawingml/2006/main" noGrp="1"/>
          </p:cNvSpPr>
          <p:nvPr/>
        </p:nvSpPr>
        <p:spPr>
          <a:xfrm xmlns:a="http://schemas.openxmlformats.org/drawingml/2006/main">
            <a:off x="6019800" y="1981200"/>
            <a:ext cx="1885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37C9E"/>
                </a:solidFill>
                <a:latin typeface="Arial"/>
                <a:ea typeface="Arial"/>
                <a:cs typeface="Arial"/>
              </a:defRPr>
            </a:pPr>
            <a:r>
              <a:rPr sz="2850" b="1">
                <a:solidFill>
                  <a:srgbClr val="237C9E"/>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201B8DE9-61D9-4779-8E2F-CF25A5BF49B2}"/>
              </a:ext>
            </a:extLst>
          </p:cNvPr>
          <p:cNvSpPr>
            <a:spLocks xmlns:a="http://schemas.openxmlformats.org/drawingml/2006/main" noGrp="1"/>
          </p:cNvSpPr>
          <p:nvPr/>
        </p:nvSpPr>
        <p:spPr>
          <a:xfrm xmlns:a="http://schemas.openxmlformats.org/drawingml/2006/main">
            <a:off x="6019800" y="260985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zufällige Seeds</a:t>
            </a:r>
          </a:p>
        </p:txBody>
      </p:sp>
      <p:sp>
        <p:nvSpPr>
          <p:cNvPr id="17" name="">
            <a:extLst xmlns:a="http://schemas.openxmlformats.org/drawingml/2006/main">
              <a:ext uri="{FF2B5EF4-FFF2-40B4-BE49-F238E27FC236}">
                <a16:creationId xmlns:a16="http://schemas.microsoft.com/office/drawing/2014/main" id="{B77D84C7-5FD6-49E2-A62C-01073A5105E2}"/>
              </a:ext>
            </a:extLst>
          </p:cNvPr>
          <p:cNvSpPr>
            <a:spLocks xmlns:a="http://schemas.openxmlformats.org/drawingml/2006/main" noGrp="1"/>
          </p:cNvSpPr>
          <p:nvPr/>
        </p:nvSpPr>
        <p:spPr>
          <a:xfrm xmlns:a="http://schemas.openxmlformats.org/drawingml/2006/main">
            <a:off x="8324850" y="1790700"/>
            <a:ext cx="238125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67FE40D-C385-4611-B0BB-1C1E1BCD2923}"/>
              </a:ext>
            </a:extLst>
          </p:cNvPr>
          <p:cNvSpPr>
            <a:spLocks xmlns:a="http://schemas.openxmlformats.org/drawingml/2006/main" noGrp="1"/>
          </p:cNvSpPr>
          <p:nvPr/>
        </p:nvSpPr>
        <p:spPr>
          <a:xfrm xmlns:a="http://schemas.openxmlformats.org/drawingml/2006/main">
            <a:off x="8324850" y="1790700"/>
            <a:ext cx="76200" cy="1428750"/>
          </a:xfrm>
          <a:prstGeom xmlns:a="http://schemas.openxmlformats.org/drawingml/2006/main" prst="rect">
            <a:avLst/>
          </a:prstGeom>
          <a:solidFill xmlns:a="http://schemas.openxmlformats.org/drawingml/2006/main">
            <a:srgbClr val="D15B4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F662F1C-F196-436C-B093-3FF5C38CE7C6}"/>
              </a:ext>
            </a:extLst>
          </p:cNvPr>
          <p:cNvSpPr>
            <a:spLocks xmlns:a="http://schemas.openxmlformats.org/drawingml/2006/main" noGrp="1"/>
          </p:cNvSpPr>
          <p:nvPr/>
        </p:nvSpPr>
        <p:spPr>
          <a:xfrm xmlns:a="http://schemas.openxmlformats.org/drawingml/2006/main">
            <a:off x="8591550" y="1981200"/>
            <a:ext cx="1885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D15B4B"/>
                </a:solidFill>
                <a:latin typeface="Arial"/>
                <a:ea typeface="Arial"/>
                <a:cs typeface="Arial"/>
              </a:defRPr>
            </a:pPr>
            <a:r>
              <a:rPr sz="2850" b="1">
                <a:solidFill>
                  <a:srgbClr val="D15B4B"/>
                </a:solidFill>
                <a:latin typeface="Arial"/>
                <a:ea typeface="Arial"/>
                <a:cs typeface="Arial"/>
              </a:rPr>
              <a:t>30</a:t>
            </a:r>
          </a:p>
        </p:txBody>
      </p:sp>
      <p:sp>
        <p:nvSpPr>
          <p:cNvPr id="20" name="">
            <a:extLst xmlns:a="http://schemas.openxmlformats.org/drawingml/2006/main">
              <a:ext uri="{FF2B5EF4-FFF2-40B4-BE49-F238E27FC236}">
                <a16:creationId xmlns:a16="http://schemas.microsoft.com/office/drawing/2014/main" id="{72D06046-3009-4964-833D-049EEF1013EE}"/>
              </a:ext>
            </a:extLst>
          </p:cNvPr>
          <p:cNvSpPr>
            <a:spLocks xmlns:a="http://schemas.openxmlformats.org/drawingml/2006/main" noGrp="1"/>
          </p:cNvSpPr>
          <p:nvPr/>
        </p:nvSpPr>
        <p:spPr>
          <a:xfrm xmlns:a="http://schemas.openxmlformats.org/drawingml/2006/main">
            <a:off x="8591550" y="260985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Trainingsläufe</a:t>
            </a:r>
          </a:p>
        </p:txBody>
      </p:sp>
      <p:sp>
        <p:nvSpPr>
          <p:cNvPr id="21" name="">
            <a:extLst xmlns:a="http://schemas.openxmlformats.org/drawingml/2006/main">
              <a:ext uri="{FF2B5EF4-FFF2-40B4-BE49-F238E27FC236}">
                <a16:creationId xmlns:a16="http://schemas.microsoft.com/office/drawing/2014/main" id="{32E542BF-67E2-497D-B3D5-995362EDF803}"/>
              </a:ext>
            </a:extLst>
          </p:cNvPr>
          <p:cNvSpPr>
            <a:spLocks xmlns:a="http://schemas.openxmlformats.org/drawingml/2006/main" noGrp="1"/>
          </p:cNvSpPr>
          <p:nvPr/>
        </p:nvSpPr>
        <p:spPr>
          <a:xfrm xmlns:a="http://schemas.openxmlformats.org/drawingml/2006/main">
            <a:off x="609600" y="3638550"/>
            <a:ext cx="10096500" cy="1485900"/>
          </a:xfrm>
          <a:prstGeom xmlns:a="http://schemas.openxmlformats.org/drawingml/2006/main" prst="roundRect">
            <a:avLst>
              <a:gd name="adj" fmla="val 5128"/>
            </a:avLst>
          </a:prstGeom>
          <a:solidFill xmlns:a="http://schemas.openxmlformats.org/drawingml/2006/main">
            <a:srgbClr val="F4F7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DB280AA-987C-4FEF-A0F1-DC9B09FF9F18}"/>
              </a:ext>
            </a:extLst>
          </p:cNvPr>
          <p:cNvSpPr>
            <a:spLocks xmlns:a="http://schemas.openxmlformats.org/drawingml/2006/main" noGrp="1"/>
          </p:cNvSpPr>
          <p:nvPr/>
        </p:nvSpPr>
        <p:spPr>
          <a:xfrm xmlns:a="http://schemas.openxmlformats.org/drawingml/2006/main">
            <a:off x="876300" y="38290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83247"/>
                </a:solidFill>
                <a:latin typeface="Arial"/>
                <a:ea typeface="Arial"/>
                <a:cs typeface="Arial"/>
              </a:defRPr>
            </a:pPr>
            <a:r>
              <a:rPr sz="1575" b="1">
                <a:solidFill>
                  <a:srgbClr val="183247"/>
                </a:solidFill>
                <a:latin typeface="Arial"/>
                <a:ea typeface="Arial"/>
                <a:cs typeface="Arial"/>
              </a:rPr>
              <a:t>Pro Fold</a:t>
            </a:r>
          </a:p>
        </p:txBody>
      </p:sp>
      <p:sp>
        <p:nvSpPr>
          <p:cNvPr id="23" name="">
            <a:extLst xmlns:a="http://schemas.openxmlformats.org/drawingml/2006/main">
              <a:ext uri="{FF2B5EF4-FFF2-40B4-BE49-F238E27FC236}">
                <a16:creationId xmlns:a16="http://schemas.microsoft.com/office/drawing/2014/main" id="{07077F60-CAD2-4C8B-B170-F733B27F34E8}"/>
              </a:ext>
            </a:extLst>
          </p:cNvPr>
          <p:cNvSpPr>
            <a:spLocks xmlns:a="http://schemas.openxmlformats.org/drawingml/2006/main" noGrp="1"/>
          </p:cNvSpPr>
          <p:nvPr/>
        </p:nvSpPr>
        <p:spPr>
          <a:xfrm xmlns:a="http://schemas.openxmlformats.org/drawingml/2006/main">
            <a:off x="2857500" y="37909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3 Bearings für Training und Normalisierung</a:t>
            </a:r>
          </a:p>
        </p:txBody>
      </p:sp>
      <p:sp>
        <p:nvSpPr>
          <p:cNvPr id="24" name="">
            <a:extLst xmlns:a="http://schemas.openxmlformats.org/drawingml/2006/main">
              <a:ext uri="{FF2B5EF4-FFF2-40B4-BE49-F238E27FC236}">
                <a16:creationId xmlns:a16="http://schemas.microsoft.com/office/drawing/2014/main" id="{51AD255C-5F29-4A66-8388-8FBB6EA04342}"/>
              </a:ext>
            </a:extLst>
          </p:cNvPr>
          <p:cNvSpPr>
            <a:spLocks xmlns:a="http://schemas.openxmlformats.org/drawingml/2006/main" noGrp="1"/>
          </p:cNvSpPr>
          <p:nvPr/>
        </p:nvSpPr>
        <p:spPr>
          <a:xfrm xmlns:a="http://schemas.openxmlformats.org/drawingml/2006/main">
            <a:off x="2857500" y="42291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1 Bearing für Validierung</a:t>
            </a:r>
          </a:p>
        </p:txBody>
      </p:sp>
      <p:sp>
        <p:nvSpPr>
          <p:cNvPr id="25" name="">
            <a:extLst xmlns:a="http://schemas.openxmlformats.org/drawingml/2006/main">
              <a:ext uri="{FF2B5EF4-FFF2-40B4-BE49-F238E27FC236}">
                <a16:creationId xmlns:a16="http://schemas.microsoft.com/office/drawing/2014/main" id="{445252F9-87BA-4EB4-B18A-CB1255AE284D}"/>
              </a:ext>
            </a:extLst>
          </p:cNvPr>
          <p:cNvSpPr>
            <a:spLocks xmlns:a="http://schemas.openxmlformats.org/drawingml/2006/main" noGrp="1"/>
          </p:cNvSpPr>
          <p:nvPr/>
        </p:nvSpPr>
        <p:spPr>
          <a:xfrm xmlns:a="http://schemas.openxmlformats.org/drawingml/2006/main">
            <a:off x="2857500" y="46672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1 Bearing nur für den Test</a:t>
            </a:r>
          </a:p>
        </p:txBody>
      </p:sp>
    </p:spTree>
    <p:extLst>
      <p:ext uri="{BB962C8B-B14F-4D97-AF65-F5344CB8AC3E}">
        <p14:creationId xmlns:p14="http://schemas.microsoft.com/office/powerpoint/2010/main" val="10954974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6F7AC7-11B8-4FFE-A263-B84521957A26}"/>
              </a:ext>
            </a:extLst>
          </p:cNvPr>
          <p:cNvSpPr>
            <a:spLocks xmlns:a="http://schemas.openxmlformats.org/drawingml/2006/main" noGrp="1"/>
          </p:cNvSpPr>
          <p:nvPr/>
        </p:nvSpPr>
        <p:spPr>
          <a:xfrm xmlns:a="http://schemas.openxmlformats.org/drawingml/2006/main">
            <a:off x="609600" y="266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37C9E"/>
                </a:solidFill>
                <a:latin typeface="Arial"/>
                <a:ea typeface="Arial"/>
                <a:cs typeface="Arial"/>
              </a:defRPr>
            </a:pPr>
            <a:r>
              <a:rPr sz="1275" b="1">
                <a:solidFill>
                  <a:srgbClr val="237C9E"/>
                </a:solidFill>
                <a:latin typeface="Arial"/>
                <a:ea typeface="Arial"/>
                <a:cs typeface="Arial"/>
              </a:rPr>
              <a:t>STABILITÄTSERGEBNIS</a:t>
            </a:r>
          </a:p>
        </p:txBody>
      </p:sp>
      <p:sp>
        <p:nvSpPr>
          <p:cNvPr id="2" name="">
            <a:extLst xmlns:a="http://schemas.openxmlformats.org/drawingml/2006/main">
              <a:ext uri="{FF2B5EF4-FFF2-40B4-BE49-F238E27FC236}">
                <a16:creationId xmlns:a16="http://schemas.microsoft.com/office/drawing/2014/main" id="{D5368CAF-A7DC-43A1-BDB4-E50E170A94FD}"/>
              </a:ext>
            </a:extLst>
          </p:cNvPr>
          <p:cNvSpPr>
            <a:spLocks xmlns:a="http://schemas.openxmlformats.org/drawingml/2006/main" noGrp="1"/>
          </p:cNvSpPr>
          <p:nvPr/>
        </p:nvSpPr>
        <p:spPr>
          <a:xfrm xmlns:a="http://schemas.openxmlformats.org/drawingml/2006/main">
            <a:off x="6096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Level bleibt über beide Bedingungen stabil</a:t>
            </a:r>
          </a:p>
        </p:txBody>
      </p:sp>
      <p:sp>
        <p:nvSpPr>
          <p:cNvPr id="3" name="">
            <a:extLst xmlns:a="http://schemas.openxmlformats.org/drawingml/2006/main">
              <a:ext uri="{FF2B5EF4-FFF2-40B4-BE49-F238E27FC236}">
                <a16:creationId xmlns:a16="http://schemas.microsoft.com/office/drawing/2014/main" id="{C155C695-C08B-433C-AA7A-7BE3B7D098D0}"/>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CAD6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8C7001-83C2-4855-98CB-64109F403FAC}"/>
              </a:ext>
            </a:extLst>
          </p:cNvPr>
          <p:cNvSpPr>
            <a:spLocks xmlns:a="http://schemas.openxmlformats.org/drawingml/2006/main" noGrp="1"/>
          </p:cNvSpPr>
          <p:nvPr/>
        </p:nvSpPr>
        <p:spPr>
          <a:xfrm xmlns:a="http://schemas.openxmlformats.org/drawingml/2006/main">
            <a:off x="11049000" y="62293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r">
              <a:defRPr sz="1125" b="1">
                <a:solidFill>
                  <a:srgbClr val="60717D"/>
                </a:solidFill>
                <a:latin typeface="Arial"/>
                <a:ea typeface="Arial"/>
                <a:cs typeface="Arial"/>
              </a:defRPr>
            </a:pPr>
            <a:r>
              <a:rPr sz="1125" b="1">
                <a:solidFill>
                  <a:srgbClr val="60717D"/>
                </a:solidFill>
                <a:latin typeface="Arial"/>
                <a:ea typeface="Arial"/>
                <a:cs typeface="Arial"/>
              </a:rPr>
              <a:t>05</a:t>
            </a:r>
          </a:p>
        </p:txBody>
      </p:sp>
      <p:graphicFrame>
        <p:nvGraphicFramePr>
          <p:cNvPr id="14" name="Chart"/>
          <p:cNvGraphicFramePr/>
          <p:nvPr/>
        </p:nvGraphicFramePr>
        <p:xfrm>
          <a:off xmlns:a="http://schemas.openxmlformats.org/drawingml/2006/main" x="609600" y="173355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502de3405d1745a9"/>
          </a:graphicData>
        </a:graphic>
      </p:graphicFrame>
      <p:sp>
        <p:nvSpPr>
          <p:cNvPr id="6" name="">
            <a:extLst xmlns:a="http://schemas.openxmlformats.org/drawingml/2006/main">
              <a:ext uri="{FF2B5EF4-FFF2-40B4-BE49-F238E27FC236}">
                <a16:creationId xmlns:a16="http://schemas.microsoft.com/office/drawing/2014/main" id="{118C04DA-44AB-4CFD-B41B-D03E27437A46}"/>
              </a:ext>
            </a:extLst>
          </p:cNvPr>
          <p:cNvSpPr>
            <a:spLocks xmlns:a="http://schemas.openxmlformats.org/drawingml/2006/main" noGrp="1"/>
          </p:cNvSpPr>
          <p:nvPr/>
        </p:nvSpPr>
        <p:spPr>
          <a:xfrm xmlns:a="http://schemas.openxmlformats.org/drawingml/2006/main">
            <a:off x="7848600" y="1733550"/>
            <a:ext cx="3429000" cy="3714750"/>
          </a:xfrm>
          <a:prstGeom xmlns:a="http://schemas.openxmlformats.org/drawingml/2006/main" prst="roundRect">
            <a:avLst>
              <a:gd name="adj" fmla="val 2222"/>
            </a:avLst>
          </a:prstGeom>
          <a:solidFill xmlns:a="http://schemas.openxmlformats.org/drawingml/2006/main">
            <a:srgbClr val="EAF5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664E13-C5C7-4D29-9909-68D6FA7709C9}"/>
              </a:ext>
            </a:extLst>
          </p:cNvPr>
          <p:cNvSpPr>
            <a:spLocks xmlns:a="http://schemas.openxmlformats.org/drawingml/2006/main" noGrp="1"/>
          </p:cNvSpPr>
          <p:nvPr/>
        </p:nvSpPr>
        <p:spPr>
          <a:xfrm xmlns:a="http://schemas.openxmlformats.org/drawingml/2006/main">
            <a:off x="8115300" y="1981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83247"/>
                </a:solidFill>
                <a:latin typeface="Arial"/>
                <a:ea typeface="Arial"/>
                <a:cs typeface="Arial"/>
              </a:defRPr>
            </a:pPr>
            <a:r>
              <a:rPr sz="1650" b="1">
                <a:solidFill>
                  <a:srgbClr val="183247"/>
                </a:solidFill>
                <a:latin typeface="Arial"/>
                <a:ea typeface="Arial"/>
                <a:cs typeface="Arial"/>
              </a:rPr>
              <a:t>Gesamtergebnis</a:t>
            </a:r>
          </a:p>
        </p:txBody>
      </p:sp>
      <p:sp>
        <p:nvSpPr>
          <p:cNvPr id="8" name="">
            <a:extLst xmlns:a="http://schemas.openxmlformats.org/drawingml/2006/main">
              <a:ext uri="{FF2B5EF4-FFF2-40B4-BE49-F238E27FC236}">
                <a16:creationId xmlns:a16="http://schemas.microsoft.com/office/drawing/2014/main" id="{C21D71D5-255E-4233-943E-2A4848C50E64}"/>
              </a:ext>
            </a:extLst>
          </p:cNvPr>
          <p:cNvSpPr>
            <a:spLocks xmlns:a="http://schemas.openxmlformats.org/drawingml/2006/main" noGrp="1"/>
          </p:cNvSpPr>
          <p:nvPr/>
        </p:nvSpPr>
        <p:spPr>
          <a:xfrm xmlns:a="http://schemas.openxmlformats.org/drawingml/2006/main">
            <a:off x="8115300" y="2533650"/>
            <a:ext cx="285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83247"/>
                </a:solidFill>
                <a:latin typeface="Arial"/>
                <a:ea typeface="Arial"/>
                <a:cs typeface="Arial"/>
              </a:defRPr>
            </a:pPr>
            <a:r>
              <a:rPr sz="1725" b="0">
                <a:solidFill>
                  <a:srgbClr val="183247"/>
                </a:solidFill>
                <a:latin typeface="Arial"/>
                <a:ea typeface="Arial"/>
                <a:cs typeface="Arial"/>
              </a:rPr>
              <a:t>Mittelwert  0,959</a:t>
            </a:r>
          </a:p>
          <a:p xmlns:a="http://schemas.openxmlformats.org/drawingml/2006/main">
            <a:pPr algn="l">
              <a:defRPr sz="1725" b="0">
                <a:solidFill>
                  <a:srgbClr val="183247"/>
                </a:solidFill>
                <a:latin typeface="Arial"/>
                <a:ea typeface="Arial"/>
                <a:cs typeface="Arial"/>
              </a:defRPr>
            </a:pPr>
            <a:r>
              <a:rPr sz="1725" b="0">
                <a:solidFill>
                  <a:srgbClr val="183247"/>
                </a:solidFill>
                <a:latin typeface="Arial"/>
                <a:ea typeface="Arial"/>
                <a:cs typeface="Arial"/>
              </a:rPr>
              <a:t>Standardabw.  0,048</a:t>
            </a:r>
          </a:p>
          <a:p xmlns:a="http://schemas.openxmlformats.org/drawingml/2006/main">
            <a:pPr algn="l">
              <a:defRPr sz="1725" b="0">
                <a:solidFill>
                  <a:srgbClr val="183247"/>
                </a:solidFill>
                <a:latin typeface="Arial"/>
                <a:ea typeface="Arial"/>
                <a:cs typeface="Arial"/>
              </a:defRPr>
            </a:pPr>
            <a:r>
              <a:rPr sz="1725" b="0">
                <a:solidFill>
                  <a:srgbClr val="183247"/>
                </a:solidFill>
                <a:latin typeface="Arial"/>
                <a:ea typeface="Arial"/>
                <a:cs typeface="Arial"/>
              </a:rPr>
              <a:t>10 Bearings</a:t>
            </a:r>
          </a:p>
          <a:p xmlns:a="http://schemas.openxmlformats.org/drawingml/2006/main">
            <a:pPr algn="l">
              <a:defRPr sz="1725" b="0">
                <a:solidFill>
                  <a:srgbClr val="183247"/>
                </a:solidFill>
                <a:latin typeface="Arial"/>
                <a:ea typeface="Arial"/>
                <a:cs typeface="Arial"/>
              </a:defRPr>
            </a:pPr>
            <a:r>
              <a:rPr sz="1725" b="0">
                <a:solidFill>
                  <a:srgbClr val="183247"/>
                </a:solidFill>
                <a:latin typeface="Arial"/>
                <a:ea typeface="Arial"/>
                <a:cs typeface="Arial"/>
              </a:rPr>
              <a:t>3 Seeds je Test-Fold</a:t>
            </a:r>
          </a:p>
        </p:txBody>
      </p:sp>
      <p:sp>
        <p:nvSpPr>
          <p:cNvPr id="9" name="">
            <a:extLst xmlns:a="http://schemas.openxmlformats.org/drawingml/2006/main">
              <a:ext uri="{FF2B5EF4-FFF2-40B4-BE49-F238E27FC236}">
                <a16:creationId xmlns:a16="http://schemas.microsoft.com/office/drawing/2014/main" id="{0707E204-DC9E-436F-83AE-927F1976F3DB}"/>
              </a:ext>
            </a:extLst>
          </p:cNvPr>
          <p:cNvSpPr>
            <a:spLocks xmlns:a="http://schemas.openxmlformats.org/drawingml/2006/main" noGrp="1"/>
          </p:cNvSpPr>
          <p:nvPr/>
        </p:nvSpPr>
        <p:spPr>
          <a:xfrm xmlns:a="http://schemas.openxmlformats.org/drawingml/2006/main">
            <a:off x="8115300" y="44767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D15B4B"/>
                </a:solidFill>
                <a:latin typeface="Arial"/>
                <a:ea typeface="Arial"/>
                <a:cs typeface="Arial"/>
              </a:defRPr>
            </a:pPr>
            <a:r>
              <a:rPr sz="1425" b="1">
                <a:solidFill>
                  <a:srgbClr val="D15B4B"/>
                </a:solidFill>
                <a:latin typeface="Arial"/>
                <a:ea typeface="Arial"/>
                <a:cs typeface="Arial"/>
              </a:rPr>
              <a:t>Schwächstes Bearing</a:t>
            </a:r>
          </a:p>
          <a:p xmlns:a="http://schemas.openxmlformats.org/drawingml/2006/main">
            <a:pPr algn="l">
              <a:defRPr sz="1425" b="1">
                <a:solidFill>
                  <a:srgbClr val="D15B4B"/>
                </a:solidFill>
                <a:latin typeface="Arial"/>
                <a:ea typeface="Arial"/>
                <a:cs typeface="Arial"/>
              </a:defRPr>
            </a:pPr>
            <a:r>
              <a:rPr sz="1425" b="1">
                <a:solidFill>
                  <a:srgbClr val="D15B4B"/>
                </a:solidFill>
                <a:latin typeface="Arial"/>
                <a:ea typeface="Arial"/>
                <a:cs typeface="Arial"/>
              </a:rPr>
              <a:t>Bearing1_4: ca. 0,86</a:t>
            </a:r>
          </a:p>
        </p:txBody>
      </p:sp>
    </p:spTree>
    <p:extLst>
      <p:ext uri="{BB962C8B-B14F-4D97-AF65-F5344CB8AC3E}">
        <p14:creationId xmlns:p14="http://schemas.microsoft.com/office/powerpoint/2010/main" val="13218002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69982AD-438B-4604-B793-7AD4B4603EE1}"/>
              </a:ext>
            </a:extLst>
          </p:cNvPr>
          <p:cNvSpPr>
            <a:spLocks xmlns:a="http://schemas.openxmlformats.org/drawingml/2006/main" noGrp="1"/>
          </p:cNvSpPr>
          <p:nvPr/>
        </p:nvSpPr>
        <p:spPr>
          <a:xfrm xmlns:a="http://schemas.openxmlformats.org/drawingml/2006/main">
            <a:off x="609600" y="266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37C9E"/>
                </a:solidFill>
                <a:latin typeface="Arial"/>
                <a:ea typeface="Arial"/>
                <a:cs typeface="Arial"/>
              </a:defRPr>
            </a:pPr>
            <a:r>
              <a:rPr sz="1275" b="1">
                <a:solidFill>
                  <a:srgbClr val="237C9E"/>
                </a:solidFill>
                <a:latin typeface="Arial"/>
                <a:ea typeface="Arial"/>
                <a:cs typeface="Arial"/>
              </a:rPr>
              <a:t>DREI STATE-GRÖSSEN</a:t>
            </a:r>
          </a:p>
        </p:txBody>
      </p:sp>
      <p:sp>
        <p:nvSpPr>
          <p:cNvPr id="2" name="">
            <a:extLst xmlns:a="http://schemas.openxmlformats.org/drawingml/2006/main">
              <a:ext uri="{FF2B5EF4-FFF2-40B4-BE49-F238E27FC236}">
                <a16:creationId xmlns:a16="http://schemas.microsoft.com/office/drawing/2014/main" id="{9A0D208D-9EBB-468F-B595-1CF6EFFB1681}"/>
              </a:ext>
            </a:extLst>
          </p:cNvPr>
          <p:cNvSpPr>
            <a:spLocks xmlns:a="http://schemas.openxmlformats.org/drawingml/2006/main" noGrp="1"/>
          </p:cNvSpPr>
          <p:nvPr/>
        </p:nvSpPr>
        <p:spPr>
          <a:xfrm xmlns:a="http://schemas.openxmlformats.org/drawingml/2006/main">
            <a:off x="6096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Level zeigt eine hohe Zeitkorrelation</a:t>
            </a:r>
          </a:p>
        </p:txBody>
      </p:sp>
      <p:sp>
        <p:nvSpPr>
          <p:cNvPr id="3" name="">
            <a:extLst xmlns:a="http://schemas.openxmlformats.org/drawingml/2006/main">
              <a:ext uri="{FF2B5EF4-FFF2-40B4-BE49-F238E27FC236}">
                <a16:creationId xmlns:a16="http://schemas.microsoft.com/office/drawing/2014/main" id="{6F962C83-734D-4EDD-823E-DDD5550733BE}"/>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CAD6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F3F99C-7E35-4EA8-93A2-1BBC72E028A0}"/>
              </a:ext>
            </a:extLst>
          </p:cNvPr>
          <p:cNvSpPr>
            <a:spLocks xmlns:a="http://schemas.openxmlformats.org/drawingml/2006/main" noGrp="1"/>
          </p:cNvSpPr>
          <p:nvPr/>
        </p:nvSpPr>
        <p:spPr>
          <a:xfrm xmlns:a="http://schemas.openxmlformats.org/drawingml/2006/main">
            <a:off x="11049000" y="62293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r">
              <a:defRPr sz="1125" b="1">
                <a:solidFill>
                  <a:srgbClr val="60717D"/>
                </a:solidFill>
                <a:latin typeface="Arial"/>
                <a:ea typeface="Arial"/>
                <a:cs typeface="Arial"/>
              </a:defRPr>
            </a:pPr>
            <a:r>
              <a:rPr sz="1125" b="1">
                <a:solidFill>
                  <a:srgbClr val="60717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97CAF54-1912-408B-90D9-6650CF50761E}"/>
              </a:ext>
            </a:extLst>
          </p:cNvPr>
          <p:cNvSpPr>
            <a:spLocks xmlns:a="http://schemas.openxmlformats.org/drawingml/2006/main" noGrp="1"/>
          </p:cNvSpPr>
          <p:nvPr/>
        </p:nvSpPr>
        <p:spPr>
          <a:xfrm xmlns:a="http://schemas.openxmlformats.org/drawingml/2006/main">
            <a:off x="609600" y="1866900"/>
            <a:ext cx="320040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FBFCE6-78E8-4E8C-A10E-B41A25A6A470}"/>
              </a:ext>
            </a:extLst>
          </p:cNvPr>
          <p:cNvSpPr>
            <a:spLocks xmlns:a="http://schemas.openxmlformats.org/drawingml/2006/main" noGrp="1"/>
          </p:cNvSpPr>
          <p:nvPr/>
        </p:nvSpPr>
        <p:spPr>
          <a:xfrm xmlns:a="http://schemas.openxmlformats.org/drawingml/2006/main">
            <a:off x="609600" y="1866900"/>
            <a:ext cx="76200" cy="1428750"/>
          </a:xfrm>
          <a:prstGeom xmlns:a="http://schemas.openxmlformats.org/drawingml/2006/main" prst="rect">
            <a:avLst/>
          </a:prstGeom>
          <a:solidFill xmlns:a="http://schemas.openxmlformats.org/drawingml/2006/main">
            <a:srgbClr val="4A8B7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07980C5-4F72-4018-AA9C-EFBAAC20772D}"/>
              </a:ext>
            </a:extLst>
          </p:cNvPr>
          <p:cNvSpPr>
            <a:spLocks xmlns:a="http://schemas.openxmlformats.org/drawingml/2006/main" noGrp="1"/>
          </p:cNvSpPr>
          <p:nvPr/>
        </p:nvSpPr>
        <p:spPr>
          <a:xfrm xmlns:a="http://schemas.openxmlformats.org/drawingml/2006/main">
            <a:off x="876300" y="205740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4A8B72"/>
                </a:solidFill>
                <a:latin typeface="Arial"/>
                <a:ea typeface="Arial"/>
                <a:cs typeface="Arial"/>
              </a:defRPr>
            </a:pPr>
            <a:r>
              <a:rPr sz="2850" b="1">
                <a:solidFill>
                  <a:srgbClr val="4A8B72"/>
                </a:solidFill>
                <a:latin typeface="Arial"/>
                <a:ea typeface="Arial"/>
                <a:cs typeface="Arial"/>
              </a:rPr>
              <a:t>0,959</a:t>
            </a:r>
          </a:p>
        </p:txBody>
      </p:sp>
      <p:sp>
        <p:nvSpPr>
          <p:cNvPr id="8" name="">
            <a:extLst xmlns:a="http://schemas.openxmlformats.org/drawingml/2006/main">
              <a:ext uri="{FF2B5EF4-FFF2-40B4-BE49-F238E27FC236}">
                <a16:creationId xmlns:a16="http://schemas.microsoft.com/office/drawing/2014/main" id="{2326D73D-132A-4642-B815-36A7C94912AB}"/>
              </a:ext>
            </a:extLst>
          </p:cNvPr>
          <p:cNvSpPr>
            <a:spLocks xmlns:a="http://schemas.openxmlformats.org/drawingml/2006/main" noGrp="1"/>
          </p:cNvSpPr>
          <p:nvPr/>
        </p:nvSpPr>
        <p:spPr>
          <a:xfrm xmlns:a="http://schemas.openxmlformats.org/drawingml/2006/main">
            <a:off x="876300" y="268605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81"/>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Level: Korrelation mit Lebensdauer</a:t>
            </a:r>
          </a:p>
        </p:txBody>
      </p:sp>
      <p:sp>
        <p:nvSpPr>
          <p:cNvPr id="9" name="">
            <a:extLst xmlns:a="http://schemas.openxmlformats.org/drawingml/2006/main">
              <a:ext uri="{FF2B5EF4-FFF2-40B4-BE49-F238E27FC236}">
                <a16:creationId xmlns:a16="http://schemas.microsoft.com/office/drawing/2014/main" id="{5416C5FA-DDAC-47D0-8756-D236D8C966E3}"/>
              </a:ext>
            </a:extLst>
          </p:cNvPr>
          <p:cNvSpPr>
            <a:spLocks xmlns:a="http://schemas.openxmlformats.org/drawingml/2006/main" noGrp="1"/>
          </p:cNvSpPr>
          <p:nvPr/>
        </p:nvSpPr>
        <p:spPr>
          <a:xfrm xmlns:a="http://schemas.openxmlformats.org/drawingml/2006/main">
            <a:off x="4038600" y="1866900"/>
            <a:ext cx="320040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BB8CCD-0AE9-445F-84B7-AC003D4F8101}"/>
              </a:ext>
            </a:extLst>
          </p:cNvPr>
          <p:cNvSpPr>
            <a:spLocks xmlns:a="http://schemas.openxmlformats.org/drawingml/2006/main" noGrp="1"/>
          </p:cNvSpPr>
          <p:nvPr/>
        </p:nvSpPr>
        <p:spPr>
          <a:xfrm xmlns:a="http://schemas.openxmlformats.org/drawingml/2006/main">
            <a:off x="4038600" y="1866900"/>
            <a:ext cx="76200" cy="1428750"/>
          </a:xfrm>
          <a:prstGeom xmlns:a="http://schemas.openxmlformats.org/drawingml/2006/main" prst="rect">
            <a:avLst/>
          </a:prstGeom>
          <a:solidFill xmlns:a="http://schemas.openxmlformats.org/drawingml/2006/main">
            <a:srgbClr val="237C9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BE8732-D806-4123-BD44-10E9FDD54C93}"/>
              </a:ext>
            </a:extLst>
          </p:cNvPr>
          <p:cNvSpPr>
            <a:spLocks xmlns:a="http://schemas.openxmlformats.org/drawingml/2006/main" noGrp="1"/>
          </p:cNvSpPr>
          <p:nvPr/>
        </p:nvSpPr>
        <p:spPr>
          <a:xfrm xmlns:a="http://schemas.openxmlformats.org/drawingml/2006/main">
            <a:off x="4305300" y="205740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237C9E"/>
                </a:solidFill>
                <a:latin typeface="Arial"/>
                <a:ea typeface="Arial"/>
                <a:cs typeface="Arial"/>
              </a:defRPr>
            </a:pPr>
            <a:r>
              <a:rPr sz="2850" b="1">
                <a:solidFill>
                  <a:srgbClr val="237C9E"/>
                </a:solidFill>
                <a:latin typeface="Arial"/>
                <a:ea typeface="Arial"/>
                <a:cs typeface="Arial"/>
              </a:rPr>
              <a:t>81,6 %</a:t>
            </a:r>
          </a:p>
        </p:txBody>
      </p:sp>
      <p:sp>
        <p:nvSpPr>
          <p:cNvPr id="12" name="">
            <a:extLst xmlns:a="http://schemas.openxmlformats.org/drawingml/2006/main">
              <a:ext uri="{FF2B5EF4-FFF2-40B4-BE49-F238E27FC236}">
                <a16:creationId xmlns:a16="http://schemas.microsoft.com/office/drawing/2014/main" id="{6A34801A-6DB4-4F99-9081-6DF8AE292CF6}"/>
              </a:ext>
            </a:extLst>
          </p:cNvPr>
          <p:cNvSpPr>
            <a:spLocks xmlns:a="http://schemas.openxmlformats.org/drawingml/2006/main" noGrp="1"/>
          </p:cNvSpPr>
          <p:nvPr/>
        </p:nvSpPr>
        <p:spPr>
          <a:xfrm xmlns:a="http://schemas.openxmlformats.org/drawingml/2006/main">
            <a:off x="4305300" y="268605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25"/>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Trend: gleiche Richtung wie Level</a:t>
            </a:r>
          </a:p>
        </p:txBody>
      </p:sp>
      <p:sp>
        <p:nvSpPr>
          <p:cNvPr id="13" name="">
            <a:extLst xmlns:a="http://schemas.openxmlformats.org/drawingml/2006/main">
              <a:ext uri="{FF2B5EF4-FFF2-40B4-BE49-F238E27FC236}">
                <a16:creationId xmlns:a16="http://schemas.microsoft.com/office/drawing/2014/main" id="{32AF65FE-CCB5-417C-BDEF-D7B28B3328CE}"/>
              </a:ext>
            </a:extLst>
          </p:cNvPr>
          <p:cNvSpPr>
            <a:spLocks xmlns:a="http://schemas.openxmlformats.org/drawingml/2006/main" noGrp="1"/>
          </p:cNvSpPr>
          <p:nvPr/>
        </p:nvSpPr>
        <p:spPr>
          <a:xfrm xmlns:a="http://schemas.openxmlformats.org/drawingml/2006/main">
            <a:off x="7467600" y="1866900"/>
            <a:ext cx="320040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F7CFC0B-ABB5-4C96-8277-1A02AFFC8CDC}"/>
              </a:ext>
            </a:extLst>
          </p:cNvPr>
          <p:cNvSpPr>
            <a:spLocks xmlns:a="http://schemas.openxmlformats.org/drawingml/2006/main" noGrp="1"/>
          </p:cNvSpPr>
          <p:nvPr/>
        </p:nvSpPr>
        <p:spPr>
          <a:xfrm xmlns:a="http://schemas.openxmlformats.org/drawingml/2006/main">
            <a:off x="7467600" y="1866900"/>
            <a:ext cx="76200" cy="1428750"/>
          </a:xfrm>
          <a:prstGeom xmlns:a="http://schemas.openxmlformats.org/drawingml/2006/main" prst="rect">
            <a:avLst/>
          </a:prstGeom>
          <a:solidFill xmlns:a="http://schemas.openxmlformats.org/drawingml/2006/main">
            <a:srgbClr val="D15B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7A939A-2101-48BA-BDE8-9B7E3372D78D}"/>
              </a:ext>
            </a:extLst>
          </p:cNvPr>
          <p:cNvSpPr>
            <a:spLocks xmlns:a="http://schemas.openxmlformats.org/drawingml/2006/main" noGrp="1"/>
          </p:cNvSpPr>
          <p:nvPr/>
        </p:nvSpPr>
        <p:spPr>
          <a:xfrm xmlns:a="http://schemas.openxmlformats.org/drawingml/2006/main">
            <a:off x="7734300" y="2057400"/>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D15B4B"/>
                </a:solidFill>
                <a:latin typeface="Arial"/>
                <a:ea typeface="Arial"/>
                <a:cs typeface="Arial"/>
              </a:defRPr>
            </a:pPr>
            <a:r>
              <a:rPr sz="2850" b="1">
                <a:solidFill>
                  <a:srgbClr val="D15B4B"/>
                </a:solidFill>
                <a:latin typeface="Arial"/>
                <a:ea typeface="Arial"/>
                <a:cs typeface="Arial"/>
              </a:rPr>
              <a:t>0,379</a:t>
            </a:r>
          </a:p>
        </p:txBody>
      </p:sp>
      <p:sp>
        <p:nvSpPr>
          <p:cNvPr id="16" name="">
            <a:extLst xmlns:a="http://schemas.openxmlformats.org/drawingml/2006/main">
              <a:ext uri="{FF2B5EF4-FFF2-40B4-BE49-F238E27FC236}">
                <a16:creationId xmlns:a16="http://schemas.microsoft.com/office/drawing/2014/main" id="{EBE14502-9D59-404D-B678-EF63D3D5FAE0}"/>
              </a:ext>
            </a:extLst>
          </p:cNvPr>
          <p:cNvSpPr>
            <a:spLocks xmlns:a="http://schemas.openxmlformats.org/drawingml/2006/main" noGrp="1"/>
          </p:cNvSpPr>
          <p:nvPr/>
        </p:nvSpPr>
        <p:spPr>
          <a:xfrm xmlns:a="http://schemas.openxmlformats.org/drawingml/2006/main">
            <a:off x="7734300" y="268605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342"/>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Movement: Korrelation mit Level-Änderung</a:t>
            </a:r>
          </a:p>
        </p:txBody>
      </p:sp>
      <p:sp>
        <p:nvSpPr>
          <p:cNvPr id="17" name="">
            <a:extLst xmlns:a="http://schemas.openxmlformats.org/drawingml/2006/main">
              <a:ext uri="{FF2B5EF4-FFF2-40B4-BE49-F238E27FC236}">
                <a16:creationId xmlns:a16="http://schemas.microsoft.com/office/drawing/2014/main" id="{5AF15F09-89B5-428E-86DE-8A59C5158109}"/>
              </a:ext>
            </a:extLst>
          </p:cNvPr>
          <p:cNvSpPr>
            <a:spLocks xmlns:a="http://schemas.openxmlformats.org/drawingml/2006/main" noGrp="1"/>
          </p:cNvSpPr>
          <p:nvPr/>
        </p:nvSpPr>
        <p:spPr>
          <a:xfrm xmlns:a="http://schemas.openxmlformats.org/drawingml/2006/main">
            <a:off x="1333500" y="3543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4A8B72"/>
                </a:solidFill>
                <a:latin typeface="Arial"/>
                <a:ea typeface="Arial"/>
                <a:cs typeface="Arial"/>
              </a:defRPr>
            </a:pPr>
            <a:r>
              <a:rPr sz="1350" b="1">
                <a:solidFill>
                  <a:srgbClr val="4A8B72"/>
                </a:solidFill>
                <a:latin typeface="Arial"/>
                <a:ea typeface="Arial"/>
                <a:cs typeface="Arial"/>
              </a:rPr>
              <a:t>STABIL</a:t>
            </a:r>
          </a:p>
        </p:txBody>
      </p:sp>
      <p:sp>
        <p:nvSpPr>
          <p:cNvPr id="18" name="">
            <a:extLst xmlns:a="http://schemas.openxmlformats.org/drawingml/2006/main">
              <a:ext uri="{FF2B5EF4-FFF2-40B4-BE49-F238E27FC236}">
                <a16:creationId xmlns:a16="http://schemas.microsoft.com/office/drawing/2014/main" id="{7B7FA6FE-B0F2-456D-96FC-C4E693719438}"/>
              </a:ext>
            </a:extLst>
          </p:cNvPr>
          <p:cNvSpPr>
            <a:spLocks xmlns:a="http://schemas.openxmlformats.org/drawingml/2006/main" noGrp="1"/>
          </p:cNvSpPr>
          <p:nvPr/>
        </p:nvSpPr>
        <p:spPr>
          <a:xfrm xmlns:a="http://schemas.openxmlformats.org/drawingml/2006/main">
            <a:off x="4324350" y="3543300"/>
            <a:ext cx="2628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37C9E"/>
                </a:solidFill>
                <a:latin typeface="Arial"/>
                <a:ea typeface="Arial"/>
                <a:cs typeface="Arial"/>
              </a:defRPr>
            </a:pPr>
            <a:r>
              <a:rPr sz="1350" b="1">
                <a:solidFill>
                  <a:srgbClr val="237C9E"/>
                </a:solidFill>
                <a:latin typeface="Arial"/>
                <a:ea typeface="Arial"/>
                <a:cs typeface="Arial"/>
              </a:rPr>
              <a:t>INTERNE KONSISTENZ</a:t>
            </a:r>
          </a:p>
        </p:txBody>
      </p:sp>
      <p:sp>
        <p:nvSpPr>
          <p:cNvPr id="19" name="">
            <a:extLst xmlns:a="http://schemas.openxmlformats.org/drawingml/2006/main">
              <a:ext uri="{FF2B5EF4-FFF2-40B4-BE49-F238E27FC236}">
                <a16:creationId xmlns:a16="http://schemas.microsoft.com/office/drawing/2014/main" id="{F3F8D9B5-2A57-4C3D-80FF-76F98DEB62B5}"/>
              </a:ext>
            </a:extLst>
          </p:cNvPr>
          <p:cNvSpPr>
            <a:spLocks xmlns:a="http://schemas.openxmlformats.org/drawingml/2006/main" noGrp="1"/>
          </p:cNvSpPr>
          <p:nvPr/>
        </p:nvSpPr>
        <p:spPr>
          <a:xfrm xmlns:a="http://schemas.openxmlformats.org/drawingml/2006/main">
            <a:off x="7905750" y="35433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15B4B"/>
                </a:solidFill>
                <a:latin typeface="Arial"/>
                <a:ea typeface="Arial"/>
                <a:cs typeface="Arial"/>
              </a:defRPr>
            </a:pPr>
            <a:r>
              <a:rPr sz="1350" b="1">
                <a:solidFill>
                  <a:srgbClr val="D15B4B"/>
                </a:solidFill>
                <a:latin typeface="Arial"/>
                <a:ea typeface="Arial"/>
                <a:cs typeface="Arial"/>
              </a:rPr>
              <a:t>BEGRENZTE AUSSAGE</a:t>
            </a:r>
          </a:p>
        </p:txBody>
      </p:sp>
      <p:sp>
        <p:nvSpPr>
          <p:cNvPr id="20" name="">
            <a:extLst xmlns:a="http://schemas.openxmlformats.org/drawingml/2006/main">
              <a:ext uri="{FF2B5EF4-FFF2-40B4-BE49-F238E27FC236}">
                <a16:creationId xmlns:a16="http://schemas.microsoft.com/office/drawing/2014/main" id="{BE2F3F08-FB96-45D4-AECB-4458F6572DA6}"/>
              </a:ext>
            </a:extLst>
          </p:cNvPr>
          <p:cNvSpPr>
            <a:spLocks xmlns:a="http://schemas.openxmlformats.org/drawingml/2006/main" noGrp="1"/>
          </p:cNvSpPr>
          <p:nvPr/>
        </p:nvSpPr>
        <p:spPr>
          <a:xfrm xmlns:a="http://schemas.openxmlformats.org/drawingml/2006/main">
            <a:off x="609600" y="4229100"/>
            <a:ext cx="10058400" cy="990600"/>
          </a:xfrm>
          <a:prstGeom xmlns:a="http://schemas.openxmlformats.org/drawingml/2006/main" prst="roundRect">
            <a:avLst>
              <a:gd name="adj" fmla="val 7692"/>
            </a:avLst>
          </a:prstGeom>
          <a:solidFill xmlns:a="http://schemas.openxmlformats.org/drawingml/2006/main">
            <a:srgbClr val="F4F7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AB46FF5-A22F-4425-8C75-1FAFACFE83ED}"/>
              </a:ext>
            </a:extLst>
          </p:cNvPr>
          <p:cNvSpPr>
            <a:spLocks xmlns:a="http://schemas.openxmlformats.org/drawingml/2006/main" noGrp="1"/>
          </p:cNvSpPr>
          <p:nvPr/>
        </p:nvSpPr>
        <p:spPr>
          <a:xfrm xmlns:a="http://schemas.openxmlformats.org/drawingml/2006/main">
            <a:off x="876300" y="438150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3247"/>
                </a:solidFill>
                <a:latin typeface="Arial"/>
                <a:ea typeface="Arial"/>
                <a:cs typeface="Arial"/>
              </a:defRPr>
            </a:pPr>
            <a:r>
              <a:rPr sz="1575" b="1">
                <a:solidFill>
                  <a:srgbClr val="183247"/>
                </a:solidFill>
                <a:latin typeface="Arial"/>
                <a:ea typeface="Arial"/>
                <a:cs typeface="Arial"/>
              </a:rPr>
              <a:t>Verschiedene Kennzahlen: kein direkter Leistungsvergleich. Für Trend und Movement fehlen unabhängige Ereignis- oder Schadenslabels.</a:t>
            </a:r>
          </a:p>
        </p:txBody>
      </p:sp>
    </p:spTree>
    <p:extLst>
      <p:ext uri="{BB962C8B-B14F-4D97-AF65-F5344CB8AC3E}">
        <p14:creationId xmlns:p14="http://schemas.microsoft.com/office/powerpoint/2010/main" val="18229037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2F6C7DF-15C1-412C-928D-F340A1827666}"/>
              </a:ext>
            </a:extLst>
          </p:cNvPr>
          <p:cNvSpPr>
            <a:spLocks xmlns:a="http://schemas.openxmlformats.org/drawingml/2006/main" noGrp="1"/>
          </p:cNvSpPr>
          <p:nvPr/>
        </p:nvSpPr>
        <p:spPr>
          <a:xfrm xmlns:a="http://schemas.openxmlformats.org/drawingml/2006/main">
            <a:off x="609600" y="266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37C9E"/>
                </a:solidFill>
                <a:latin typeface="Arial"/>
                <a:ea typeface="Arial"/>
                <a:cs typeface="Arial"/>
              </a:defRPr>
            </a:pPr>
            <a:r>
              <a:rPr sz="1275" b="1">
                <a:solidFill>
                  <a:srgbClr val="237C9E"/>
                </a:solidFill>
                <a:latin typeface="Arial"/>
                <a:ea typeface="Arial"/>
                <a:cs typeface="Arial"/>
              </a:rPr>
              <a:t>BEARING1_4 DIAGNOSE</a:t>
            </a:r>
          </a:p>
        </p:txBody>
      </p:sp>
      <p:sp>
        <p:nvSpPr>
          <p:cNvPr id="2" name="">
            <a:extLst xmlns:a="http://schemas.openxmlformats.org/drawingml/2006/main">
              <a:ext uri="{FF2B5EF4-FFF2-40B4-BE49-F238E27FC236}">
                <a16:creationId xmlns:a16="http://schemas.microsoft.com/office/drawing/2014/main" id="{CD9AE6D9-74FE-4C6F-82C9-BCE579B77736}"/>
              </a:ext>
            </a:extLst>
          </p:cNvPr>
          <p:cNvSpPr>
            <a:spLocks xmlns:a="http://schemas.openxmlformats.org/drawingml/2006/main" noGrp="1"/>
          </p:cNvSpPr>
          <p:nvPr/>
        </p:nvSpPr>
        <p:spPr>
          <a:xfrm xmlns:a="http://schemas.openxmlformats.org/drawingml/2006/main">
            <a:off x="6096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Ähnliche Kurven über Seeds, höherer Rekonstruktionsfehler</a:t>
            </a:r>
          </a:p>
        </p:txBody>
      </p:sp>
      <p:sp>
        <p:nvSpPr>
          <p:cNvPr id="3" name="">
            <a:extLst xmlns:a="http://schemas.openxmlformats.org/drawingml/2006/main">
              <a:ext uri="{FF2B5EF4-FFF2-40B4-BE49-F238E27FC236}">
                <a16:creationId xmlns:a16="http://schemas.microsoft.com/office/drawing/2014/main" id="{433F7F30-DD29-4555-9C8B-5BF54E044ADC}"/>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CAD6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6AA9A5-EC9C-404A-A6D7-EBEE5AA8741E}"/>
              </a:ext>
            </a:extLst>
          </p:cNvPr>
          <p:cNvSpPr>
            <a:spLocks xmlns:a="http://schemas.openxmlformats.org/drawingml/2006/main" noGrp="1"/>
          </p:cNvSpPr>
          <p:nvPr/>
        </p:nvSpPr>
        <p:spPr>
          <a:xfrm xmlns:a="http://schemas.openxmlformats.org/drawingml/2006/main">
            <a:off x="11049000" y="62293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r">
              <a:defRPr sz="1125" b="1">
                <a:solidFill>
                  <a:srgbClr val="60717D"/>
                </a:solidFill>
                <a:latin typeface="Arial"/>
                <a:ea typeface="Arial"/>
                <a:cs typeface="Arial"/>
              </a:defRPr>
            </a:pPr>
            <a:r>
              <a:rPr sz="1125" b="1">
                <a:solidFill>
                  <a:srgbClr val="60717D"/>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EB00936-8C10-45C7-81C3-A78C35BA2B66}"/>
              </a:ext>
            </a:extLst>
          </p:cNvPr>
          <p:cNvSpPr>
            <a:spLocks xmlns:a="http://schemas.openxmlformats.org/drawingml/2006/main" noGrp="1"/>
          </p:cNvSpPr>
          <p:nvPr/>
        </p:nvSpPr>
        <p:spPr>
          <a:xfrm xmlns:a="http://schemas.openxmlformats.org/drawingml/2006/main">
            <a:off x="609600" y="1809750"/>
            <a:ext cx="314325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27DBEF7-84CA-404C-82FC-7A309CD9E203}"/>
              </a:ext>
            </a:extLst>
          </p:cNvPr>
          <p:cNvSpPr>
            <a:spLocks xmlns:a="http://schemas.openxmlformats.org/drawingml/2006/main" noGrp="1"/>
          </p:cNvSpPr>
          <p:nvPr/>
        </p:nvSpPr>
        <p:spPr>
          <a:xfrm xmlns:a="http://schemas.openxmlformats.org/drawingml/2006/main">
            <a:off x="609600" y="1809750"/>
            <a:ext cx="76200" cy="1428750"/>
          </a:xfrm>
          <a:prstGeom xmlns:a="http://schemas.openxmlformats.org/drawingml/2006/main" prst="rect">
            <a:avLst/>
          </a:prstGeom>
          <a:solidFill xmlns:a="http://schemas.openxmlformats.org/drawingml/2006/main">
            <a:srgbClr val="4A8B7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5B3013C-3976-47B8-8A5E-D3615837841B}"/>
              </a:ext>
            </a:extLst>
          </p:cNvPr>
          <p:cNvSpPr>
            <a:spLocks xmlns:a="http://schemas.openxmlformats.org/drawingml/2006/main" noGrp="1"/>
          </p:cNvSpPr>
          <p:nvPr/>
        </p:nvSpPr>
        <p:spPr>
          <a:xfrm xmlns:a="http://schemas.openxmlformats.org/drawingml/2006/main">
            <a:off x="876300" y="2000250"/>
            <a:ext cx="2647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4A8B72"/>
                </a:solidFill>
                <a:latin typeface="Arial"/>
                <a:ea typeface="Arial"/>
                <a:cs typeface="Arial"/>
              </a:defRPr>
            </a:pPr>
            <a:r>
              <a:rPr sz="2850" b="1">
                <a:solidFill>
                  <a:srgbClr val="4A8B72"/>
                </a:solidFill>
                <a:latin typeface="Arial"/>
                <a:ea typeface="Arial"/>
                <a:cs typeface="Arial"/>
              </a:rPr>
              <a:t>0,991</a:t>
            </a:r>
          </a:p>
        </p:txBody>
      </p:sp>
      <p:sp>
        <p:nvSpPr>
          <p:cNvPr id="8" name="">
            <a:extLst xmlns:a="http://schemas.openxmlformats.org/drawingml/2006/main">
              <a:ext uri="{FF2B5EF4-FFF2-40B4-BE49-F238E27FC236}">
                <a16:creationId xmlns:a16="http://schemas.microsoft.com/office/drawing/2014/main" id="{45E28E35-4E36-4DE9-9A06-C6E3A4E015B6}"/>
              </a:ext>
            </a:extLst>
          </p:cNvPr>
          <p:cNvSpPr>
            <a:spLocks xmlns:a="http://schemas.openxmlformats.org/drawingml/2006/main" noGrp="1"/>
          </p:cNvSpPr>
          <p:nvPr/>
        </p:nvSpPr>
        <p:spPr>
          <a:xfrm xmlns:a="http://schemas.openxmlformats.org/drawingml/2006/main">
            <a:off x="876300" y="2628900"/>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Ähnlichkeit der Level-Kurven zwischen Seeds</a:t>
            </a:r>
          </a:p>
        </p:txBody>
      </p:sp>
      <p:sp>
        <p:nvSpPr>
          <p:cNvPr id="9" name="">
            <a:extLst xmlns:a="http://schemas.openxmlformats.org/drawingml/2006/main">
              <a:ext uri="{FF2B5EF4-FFF2-40B4-BE49-F238E27FC236}">
                <a16:creationId xmlns:a16="http://schemas.microsoft.com/office/drawing/2014/main" id="{FD0AD140-5CC9-4ACA-87CF-ABDDA7B65486}"/>
              </a:ext>
            </a:extLst>
          </p:cNvPr>
          <p:cNvSpPr>
            <a:spLocks xmlns:a="http://schemas.openxmlformats.org/drawingml/2006/main" noGrp="1"/>
          </p:cNvSpPr>
          <p:nvPr/>
        </p:nvSpPr>
        <p:spPr>
          <a:xfrm xmlns:a="http://schemas.openxmlformats.org/drawingml/2006/main">
            <a:off x="4000500" y="1809750"/>
            <a:ext cx="314325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2EF0189-C010-438B-881F-30EF23E1D83F}"/>
              </a:ext>
            </a:extLst>
          </p:cNvPr>
          <p:cNvSpPr>
            <a:spLocks xmlns:a="http://schemas.openxmlformats.org/drawingml/2006/main" noGrp="1"/>
          </p:cNvSpPr>
          <p:nvPr/>
        </p:nvSpPr>
        <p:spPr>
          <a:xfrm xmlns:a="http://schemas.openxmlformats.org/drawingml/2006/main">
            <a:off x="4000500" y="1809750"/>
            <a:ext cx="76200" cy="1428750"/>
          </a:xfrm>
          <a:prstGeom xmlns:a="http://schemas.openxmlformats.org/drawingml/2006/main" prst="rect">
            <a:avLst/>
          </a:prstGeom>
          <a:solidFill xmlns:a="http://schemas.openxmlformats.org/drawingml/2006/main">
            <a:srgbClr val="D15B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F7ADA16-09E8-44F9-82B1-0A1D4533D17A}"/>
              </a:ext>
            </a:extLst>
          </p:cNvPr>
          <p:cNvSpPr>
            <a:spLocks xmlns:a="http://schemas.openxmlformats.org/drawingml/2006/main" noGrp="1"/>
          </p:cNvSpPr>
          <p:nvPr/>
        </p:nvSpPr>
        <p:spPr>
          <a:xfrm xmlns:a="http://schemas.openxmlformats.org/drawingml/2006/main">
            <a:off x="4267200" y="2000250"/>
            <a:ext cx="2647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D15B4B"/>
                </a:solidFill>
                <a:latin typeface="Arial"/>
                <a:ea typeface="Arial"/>
                <a:cs typeface="Arial"/>
              </a:defRPr>
            </a:pPr>
            <a:r>
              <a:rPr sz="2850" b="1">
                <a:solidFill>
                  <a:srgbClr val="D15B4B"/>
                </a:solidFill>
                <a:latin typeface="Arial"/>
                <a:ea typeface="Arial"/>
                <a:cs typeface="Arial"/>
              </a:rPr>
              <a:t>0,598</a:t>
            </a:r>
          </a:p>
        </p:txBody>
      </p:sp>
      <p:sp>
        <p:nvSpPr>
          <p:cNvPr id="12" name="">
            <a:extLst xmlns:a="http://schemas.openxmlformats.org/drawingml/2006/main">
              <a:ext uri="{FF2B5EF4-FFF2-40B4-BE49-F238E27FC236}">
                <a16:creationId xmlns:a16="http://schemas.microsoft.com/office/drawing/2014/main" id="{0B18E477-FBC8-4F9F-AAE0-6BE5C81438CC}"/>
              </a:ext>
            </a:extLst>
          </p:cNvPr>
          <p:cNvSpPr>
            <a:spLocks xmlns:a="http://schemas.openxmlformats.org/drawingml/2006/main" noGrp="1"/>
          </p:cNvSpPr>
          <p:nvPr/>
        </p:nvSpPr>
        <p:spPr>
          <a:xfrm xmlns:a="http://schemas.openxmlformats.org/drawingml/2006/main">
            <a:off x="4267200" y="2628900"/>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31"/>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Rekonstruktions-MSE von Bearing1_4</a:t>
            </a:r>
          </a:p>
        </p:txBody>
      </p:sp>
      <p:sp>
        <p:nvSpPr>
          <p:cNvPr id="13" name="">
            <a:extLst xmlns:a="http://schemas.openxmlformats.org/drawingml/2006/main">
              <a:ext uri="{FF2B5EF4-FFF2-40B4-BE49-F238E27FC236}">
                <a16:creationId xmlns:a16="http://schemas.microsoft.com/office/drawing/2014/main" id="{A471D34A-062A-469C-B36F-5D794F89B81A}"/>
              </a:ext>
            </a:extLst>
          </p:cNvPr>
          <p:cNvSpPr>
            <a:spLocks xmlns:a="http://schemas.openxmlformats.org/drawingml/2006/main" noGrp="1"/>
          </p:cNvSpPr>
          <p:nvPr/>
        </p:nvSpPr>
        <p:spPr>
          <a:xfrm xmlns:a="http://schemas.openxmlformats.org/drawingml/2006/main">
            <a:off x="7391400" y="1809750"/>
            <a:ext cx="3143250" cy="1428750"/>
          </a:xfrm>
          <a:prstGeom xmlns:a="http://schemas.openxmlformats.org/drawingml/2006/main" prst="roundRect">
            <a:avLst>
              <a:gd name="adj" fmla="val 5333"/>
            </a:avLst>
          </a:prstGeom>
          <a:solidFill xmlns:a="http://schemas.openxmlformats.org/drawingml/2006/main">
            <a:srgbClr val="F4F7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4DD8E5-F953-4E88-8073-F0E108008A7A}"/>
              </a:ext>
            </a:extLst>
          </p:cNvPr>
          <p:cNvSpPr>
            <a:spLocks xmlns:a="http://schemas.openxmlformats.org/drawingml/2006/main" noGrp="1"/>
          </p:cNvSpPr>
          <p:nvPr/>
        </p:nvSpPr>
        <p:spPr>
          <a:xfrm xmlns:a="http://schemas.openxmlformats.org/drawingml/2006/main">
            <a:off x="7391400" y="1809750"/>
            <a:ext cx="76200" cy="1428750"/>
          </a:xfrm>
          <a:prstGeom xmlns:a="http://schemas.openxmlformats.org/drawingml/2006/main" prst="rect">
            <a:avLst/>
          </a:prstGeom>
          <a:solidFill xmlns:a="http://schemas.openxmlformats.org/drawingml/2006/main">
            <a:srgbClr val="D15B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DA3E08D-5FF1-4391-AEF9-CE6094E4D55D}"/>
              </a:ext>
            </a:extLst>
          </p:cNvPr>
          <p:cNvSpPr>
            <a:spLocks xmlns:a="http://schemas.openxmlformats.org/drawingml/2006/main" noGrp="1"/>
          </p:cNvSpPr>
          <p:nvPr/>
        </p:nvSpPr>
        <p:spPr>
          <a:xfrm xmlns:a="http://schemas.openxmlformats.org/drawingml/2006/main">
            <a:off x="7658100" y="2000250"/>
            <a:ext cx="2647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D15B4B"/>
                </a:solidFill>
                <a:latin typeface="Arial"/>
                <a:ea typeface="Arial"/>
                <a:cs typeface="Arial"/>
              </a:defRPr>
            </a:pPr>
            <a:r>
              <a:rPr sz="2850" b="1">
                <a:solidFill>
                  <a:srgbClr val="D15B4B"/>
                </a:solidFill>
                <a:latin typeface="Arial"/>
                <a:ea typeface="Arial"/>
                <a:cs typeface="Arial"/>
              </a:rPr>
              <a:t>1,77×</a:t>
            </a:r>
          </a:p>
        </p:txBody>
      </p:sp>
      <p:sp>
        <p:nvSpPr>
          <p:cNvPr id="16" name="">
            <a:extLst xmlns:a="http://schemas.openxmlformats.org/drawingml/2006/main">
              <a:ext uri="{FF2B5EF4-FFF2-40B4-BE49-F238E27FC236}">
                <a16:creationId xmlns:a16="http://schemas.microsoft.com/office/drawing/2014/main" id="{2CBAFED9-6974-4B9E-A69A-8DDD4F1C8966}"/>
              </a:ext>
            </a:extLst>
          </p:cNvPr>
          <p:cNvSpPr>
            <a:spLocks xmlns:a="http://schemas.openxmlformats.org/drawingml/2006/main" noGrp="1"/>
          </p:cNvSpPr>
          <p:nvPr/>
        </p:nvSpPr>
        <p:spPr>
          <a:xfrm xmlns:a="http://schemas.openxmlformats.org/drawingml/2006/main">
            <a:off x="7658100" y="2628900"/>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25"/>
          </a:bodyPr>
          <a:lstStyle xmlns:a="http://schemas.openxmlformats.org/drawingml/2006/main"/>
          <a:p xmlns:a="http://schemas.openxmlformats.org/drawingml/2006/main">
            <a:pPr algn="l">
              <a:defRPr sz="1350" b="0">
                <a:solidFill>
                  <a:srgbClr val="60717D"/>
                </a:solidFill>
                <a:latin typeface="Arial"/>
                <a:ea typeface="Arial"/>
                <a:cs typeface="Arial"/>
              </a:defRPr>
            </a:pPr>
            <a:r>
              <a:rPr sz="1350" b="0">
                <a:solidFill>
                  <a:srgbClr val="60717D"/>
                </a:solidFill>
                <a:latin typeface="Arial"/>
                <a:ea typeface="Arial"/>
                <a:cs typeface="Arial"/>
              </a:rPr>
              <a:t>Fehler relativ zu anderen Bearings</a:t>
            </a:r>
          </a:p>
        </p:txBody>
      </p:sp>
      <p:sp>
        <p:nvSpPr>
          <p:cNvPr id="17" name="">
            <a:extLst xmlns:a="http://schemas.openxmlformats.org/drawingml/2006/main">
              <a:ext uri="{FF2B5EF4-FFF2-40B4-BE49-F238E27FC236}">
                <a16:creationId xmlns:a16="http://schemas.microsoft.com/office/drawing/2014/main" id="{CA1850B4-73D4-459D-ADCE-932DC468DA1E}"/>
              </a:ext>
            </a:extLst>
          </p:cNvPr>
          <p:cNvSpPr>
            <a:spLocks xmlns:a="http://schemas.openxmlformats.org/drawingml/2006/main" noGrp="1"/>
          </p:cNvSpPr>
          <p:nvPr/>
        </p:nvSpPr>
        <p:spPr>
          <a:xfrm xmlns:a="http://schemas.openxmlformats.org/drawingml/2006/main">
            <a:off x="609600" y="3733800"/>
            <a:ext cx="9925050" cy="1485900"/>
          </a:xfrm>
          <a:prstGeom xmlns:a="http://schemas.openxmlformats.org/drawingml/2006/main" prst="roundRect">
            <a:avLst>
              <a:gd name="adj" fmla="val 5128"/>
            </a:avLst>
          </a:prstGeom>
          <a:solidFill xmlns:a="http://schemas.openxmlformats.org/drawingml/2006/main">
            <a:srgbClr val="EAF5F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30A1F3F-3C3E-4B42-B0B6-9F24E1CFC0A3}"/>
              </a:ext>
            </a:extLst>
          </p:cNvPr>
          <p:cNvSpPr>
            <a:spLocks xmlns:a="http://schemas.openxmlformats.org/drawingml/2006/main" noGrp="1"/>
          </p:cNvSpPr>
          <p:nvPr/>
        </p:nvSpPr>
        <p:spPr>
          <a:xfrm xmlns:a="http://schemas.openxmlformats.org/drawingml/2006/main">
            <a:off x="876300" y="38862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83247"/>
                </a:solidFill>
                <a:latin typeface="Arial"/>
                <a:ea typeface="Arial"/>
                <a:cs typeface="Arial"/>
              </a:defRPr>
            </a:pPr>
            <a:r>
              <a:rPr sz="1575" b="1">
                <a:solidFill>
                  <a:srgbClr val="183247"/>
                </a:solidFill>
                <a:latin typeface="Arial"/>
                <a:ea typeface="Arial"/>
                <a:cs typeface="Arial"/>
              </a:rPr>
              <a:t>Interpretation</a:t>
            </a:r>
          </a:p>
        </p:txBody>
      </p:sp>
      <p:sp>
        <p:nvSpPr>
          <p:cNvPr id="19" name="">
            <a:extLst xmlns:a="http://schemas.openxmlformats.org/drawingml/2006/main">
              <a:ext uri="{FF2B5EF4-FFF2-40B4-BE49-F238E27FC236}">
                <a16:creationId xmlns:a16="http://schemas.microsoft.com/office/drawing/2014/main" id="{AC4322D2-2BB7-4F7F-8D7C-AF1D2B0D9685}"/>
              </a:ext>
            </a:extLst>
          </p:cNvPr>
          <p:cNvSpPr>
            <a:spLocks xmlns:a="http://schemas.openxmlformats.org/drawingml/2006/main" noGrp="1"/>
          </p:cNvSpPr>
          <p:nvPr/>
        </p:nvSpPr>
        <p:spPr>
          <a:xfrm xmlns:a="http://schemas.openxmlformats.org/drawingml/2006/main">
            <a:off x="3028950" y="3829050"/>
            <a:ext cx="708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83247"/>
                </a:solidFill>
                <a:latin typeface="Arial"/>
                <a:ea typeface="Arial"/>
                <a:cs typeface="Arial"/>
              </a:defRPr>
            </a:pPr>
            <a:r>
              <a:rPr sz="1500" b="0">
                <a:solidFill>
                  <a:srgbClr val="183247"/>
                </a:solidFill>
                <a:latin typeface="Arial"/>
                <a:ea typeface="Arial"/>
                <a:cs typeface="Arial"/>
              </a:rPr>
              <a:t>Die drei Seeds liefern ähnliche Level-Kurven. Die Ursache bleibt offen.</a:t>
            </a:r>
          </a:p>
        </p:txBody>
      </p:sp>
      <p:sp>
        <p:nvSpPr>
          <p:cNvPr id="20" name="">
            <a:extLst xmlns:a="http://schemas.openxmlformats.org/drawingml/2006/main">
              <a:ext uri="{FF2B5EF4-FFF2-40B4-BE49-F238E27FC236}">
                <a16:creationId xmlns:a16="http://schemas.microsoft.com/office/drawing/2014/main" id="{80896D5A-D874-4DA7-8E45-F04B62629071}"/>
              </a:ext>
            </a:extLst>
          </p:cNvPr>
          <p:cNvSpPr>
            <a:spLocks xmlns:a="http://schemas.openxmlformats.org/drawingml/2006/main" noGrp="1"/>
          </p:cNvSpPr>
          <p:nvPr/>
        </p:nvSpPr>
        <p:spPr>
          <a:xfrm xmlns:a="http://schemas.openxmlformats.org/drawingml/2006/main">
            <a:off x="3028950" y="4457700"/>
            <a:ext cx="708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0">
                <a:solidFill>
                  <a:srgbClr val="183247"/>
                </a:solidFill>
                <a:latin typeface="Arial"/>
                <a:ea typeface="Arial"/>
                <a:cs typeface="Arial"/>
              </a:defRPr>
            </a:pPr>
            <a:r>
              <a:rPr sz="1500" b="0">
                <a:solidFill>
                  <a:srgbClr val="183247"/>
                </a:solidFill>
                <a:latin typeface="Arial"/>
                <a:ea typeface="Arial"/>
                <a:cs typeface="Arial"/>
              </a:rPr>
              <a:t>MSE-Vergleich mit Trainings- und Validierungsdaten: ein Hinweis, aber kein Nachweis für einen Encoder-Fehler.</a:t>
            </a:r>
          </a:p>
        </p:txBody>
      </p:sp>
    </p:spTree>
    <p:extLst>
      <p:ext uri="{BB962C8B-B14F-4D97-AF65-F5344CB8AC3E}">
        <p14:creationId xmlns:p14="http://schemas.microsoft.com/office/powerpoint/2010/main" val="16533049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561E98-AD88-4854-89BF-69CBC7D36C64}"/>
              </a:ext>
            </a:extLst>
          </p:cNvPr>
          <p:cNvSpPr>
            <a:spLocks xmlns:a="http://schemas.openxmlformats.org/drawingml/2006/main" noGrp="1"/>
          </p:cNvSpPr>
          <p:nvPr/>
        </p:nvSpPr>
        <p:spPr>
          <a:xfrm xmlns:a="http://schemas.openxmlformats.org/drawingml/2006/main">
            <a:off x="609600" y="266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37C9E"/>
                </a:solidFill>
                <a:latin typeface="Arial"/>
                <a:ea typeface="Arial"/>
                <a:cs typeface="Arial"/>
              </a:defRPr>
            </a:pPr>
            <a:r>
              <a:rPr sz="1275" b="1">
                <a:solidFill>
                  <a:srgbClr val="237C9E"/>
                </a:solidFill>
                <a:latin typeface="Arial"/>
                <a:ea typeface="Arial"/>
                <a:cs typeface="Arial"/>
              </a:rPr>
              <a:t>FAZIT UND NÄCHSTER SCHRITT</a:t>
            </a:r>
          </a:p>
        </p:txBody>
      </p:sp>
      <p:sp>
        <p:nvSpPr>
          <p:cNvPr id="2" name="">
            <a:extLst xmlns:a="http://schemas.openxmlformats.org/drawingml/2006/main">
              <a:ext uri="{FF2B5EF4-FFF2-40B4-BE49-F238E27FC236}">
                <a16:creationId xmlns:a16="http://schemas.microsoft.com/office/drawing/2014/main" id="{0920137E-BECB-4049-89AF-E5FDC4D4613A}"/>
              </a:ext>
            </a:extLst>
          </p:cNvPr>
          <p:cNvSpPr>
            <a:spLocks xmlns:a="http://schemas.openxmlformats.org/drawingml/2006/main" noGrp="1"/>
          </p:cNvSpPr>
          <p:nvPr/>
        </p:nvSpPr>
        <p:spPr>
          <a:xfrm xmlns:a="http://schemas.openxmlformats.org/drawingml/2006/main">
            <a:off x="6096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Nächster Schritt: Kalibrierung und Distanz vergleichen</a:t>
            </a:r>
          </a:p>
        </p:txBody>
      </p:sp>
      <p:sp>
        <p:nvSpPr>
          <p:cNvPr id="3" name="">
            <a:extLst xmlns:a="http://schemas.openxmlformats.org/drawingml/2006/main">
              <a:ext uri="{FF2B5EF4-FFF2-40B4-BE49-F238E27FC236}">
                <a16:creationId xmlns:a16="http://schemas.microsoft.com/office/drawing/2014/main" id="{CD55FE88-BDA7-4C67-89E6-0BA50E0FDED2}"/>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CAD6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CB7F3B-52B8-49C7-9B77-D0CFBE4C9608}"/>
              </a:ext>
            </a:extLst>
          </p:cNvPr>
          <p:cNvSpPr>
            <a:spLocks xmlns:a="http://schemas.openxmlformats.org/drawingml/2006/main" noGrp="1"/>
          </p:cNvSpPr>
          <p:nvPr/>
        </p:nvSpPr>
        <p:spPr>
          <a:xfrm xmlns:a="http://schemas.openxmlformats.org/drawingml/2006/main">
            <a:off x="11049000" y="62293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r">
              <a:defRPr sz="1125" b="1">
                <a:solidFill>
                  <a:srgbClr val="60717D"/>
                </a:solidFill>
                <a:latin typeface="Arial"/>
                <a:ea typeface="Arial"/>
                <a:cs typeface="Arial"/>
              </a:defRPr>
            </a:pPr>
            <a:r>
              <a:rPr sz="1125" b="1">
                <a:solidFill>
                  <a:srgbClr val="60717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6D58D70B-9A81-4420-905D-8C15DEBC0776}"/>
              </a:ext>
            </a:extLst>
          </p:cNvPr>
          <p:cNvSpPr>
            <a:spLocks xmlns:a="http://schemas.openxmlformats.org/drawingml/2006/main" noGrp="1"/>
          </p:cNvSpPr>
          <p:nvPr/>
        </p:nvSpPr>
        <p:spPr>
          <a:xfrm xmlns:a="http://schemas.openxmlformats.org/drawingml/2006/main">
            <a:off x="609600" y="1714500"/>
            <a:ext cx="4762500" cy="3429000"/>
          </a:xfrm>
          <a:prstGeom xmlns:a="http://schemas.openxmlformats.org/drawingml/2006/main" prst="roundRect">
            <a:avLst>
              <a:gd name="adj" fmla="val 2222"/>
            </a:avLst>
          </a:prstGeom>
          <a:solidFill xmlns:a="http://schemas.openxmlformats.org/drawingml/2006/main">
            <a:srgbClr val="EAF5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1BB3381-392A-40D1-87B3-BC7ECBBCE625}"/>
              </a:ext>
            </a:extLst>
          </p:cNvPr>
          <p:cNvSpPr>
            <a:spLocks xmlns:a="http://schemas.openxmlformats.org/drawingml/2006/main" noGrp="1"/>
          </p:cNvSpPr>
          <p:nvPr/>
        </p:nvSpPr>
        <p:spPr>
          <a:xfrm xmlns:a="http://schemas.openxmlformats.org/drawingml/2006/main">
            <a:off x="876300" y="19431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183247"/>
                </a:solidFill>
                <a:latin typeface="Arial"/>
                <a:ea typeface="Arial"/>
                <a:cs typeface="Arial"/>
              </a:defRPr>
            </a:pPr>
            <a:r>
              <a:rPr sz="1800" b="1">
                <a:solidFill>
                  <a:srgbClr val="183247"/>
                </a:solidFill>
                <a:latin typeface="Arial"/>
                <a:ea typeface="Arial"/>
                <a:cs typeface="Arial"/>
              </a:rPr>
              <a:t>Aktueller Stand</a:t>
            </a:r>
          </a:p>
        </p:txBody>
      </p:sp>
      <p:sp>
        <p:nvSpPr>
          <p:cNvPr id="7" name="">
            <a:extLst xmlns:a="http://schemas.openxmlformats.org/drawingml/2006/main">
              <a:ext uri="{FF2B5EF4-FFF2-40B4-BE49-F238E27FC236}">
                <a16:creationId xmlns:a16="http://schemas.microsoft.com/office/drawing/2014/main" id="{A302E58A-6609-4D29-B09C-CA87AB3F8B9B}"/>
              </a:ext>
            </a:extLst>
          </p:cNvPr>
          <p:cNvSpPr>
            <a:spLocks xmlns:a="http://schemas.openxmlformats.org/drawingml/2006/main" noGrp="1"/>
          </p:cNvSpPr>
          <p:nvPr/>
        </p:nvSpPr>
        <p:spPr>
          <a:xfrm xmlns:a="http://schemas.openxmlformats.org/drawingml/2006/main">
            <a:off x="876300" y="2533650"/>
            <a:ext cx="4000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Hohe Level-Zeitkorrelation in den untersuchten Läufen.</a:t>
            </a:r>
          </a:p>
          <a:p xmlns:a="http://schemas.openxmlformats.org/drawingml/2006/main">
            <a:r>
              <a:t/>
            </a:r>
          </a:p>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Physischer Schaden und RL-Nutzen bleiben offen.</a:t>
            </a:r>
          </a:p>
          <a:p xmlns:a="http://schemas.openxmlformats.org/drawingml/2006/main">
            <a:r>
              <a:t/>
            </a:r>
          </a:p>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v0.1.0 archiviert, Ergebnisse auf GitHub, 70 Tests bestanden.</a:t>
            </a:r>
          </a:p>
        </p:txBody>
      </p:sp>
      <p:sp>
        <p:nvSpPr>
          <p:cNvPr id="8" name="">
            <a:extLst xmlns:a="http://schemas.openxmlformats.org/drawingml/2006/main">
              <a:ext uri="{FF2B5EF4-FFF2-40B4-BE49-F238E27FC236}">
                <a16:creationId xmlns:a16="http://schemas.microsoft.com/office/drawing/2014/main" id="{1AC94ED0-BC57-425B-AE14-4FF7B2DE3626}"/>
              </a:ext>
            </a:extLst>
          </p:cNvPr>
          <p:cNvSpPr>
            <a:spLocks xmlns:a="http://schemas.openxmlformats.org/drawingml/2006/main" noGrp="1"/>
          </p:cNvSpPr>
          <p:nvPr/>
        </p:nvSpPr>
        <p:spPr>
          <a:xfrm xmlns:a="http://schemas.openxmlformats.org/drawingml/2006/main">
            <a:off x="5676900" y="1714500"/>
            <a:ext cx="5600700" cy="3429000"/>
          </a:xfrm>
          <a:prstGeom xmlns:a="http://schemas.openxmlformats.org/drawingml/2006/main" prst="roundRect">
            <a:avLst>
              <a:gd name="adj" fmla="val 2222"/>
            </a:avLst>
          </a:prstGeom>
          <a:solidFill xmlns:a="http://schemas.openxmlformats.org/drawingml/2006/main">
            <a:srgbClr val="F4F7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FACB87-18C1-422A-B0BA-2DF096148EDC}"/>
              </a:ext>
            </a:extLst>
          </p:cNvPr>
          <p:cNvSpPr>
            <a:spLocks xmlns:a="http://schemas.openxmlformats.org/drawingml/2006/main" noGrp="1"/>
          </p:cNvSpPr>
          <p:nvPr/>
        </p:nvSpPr>
        <p:spPr>
          <a:xfrm xmlns:a="http://schemas.openxmlformats.org/drawingml/2006/main">
            <a:off x="5943600" y="19431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183247"/>
                </a:solidFill>
                <a:latin typeface="Arial"/>
                <a:ea typeface="Arial"/>
                <a:cs typeface="Arial"/>
              </a:defRPr>
            </a:pPr>
            <a:r>
              <a:rPr sz="1800" b="1">
                <a:solidFill>
                  <a:srgbClr val="183247"/>
                </a:solidFill>
                <a:latin typeface="Arial"/>
                <a:ea typeface="Arial"/>
                <a:cs typeface="Arial"/>
              </a:rPr>
              <a:t>Nächster Vergleich</a:t>
            </a:r>
          </a:p>
        </p:txBody>
      </p:sp>
      <p:sp>
        <p:nvSpPr>
          <p:cNvPr id="10" name="">
            <a:extLst xmlns:a="http://schemas.openxmlformats.org/drawingml/2006/main">
              <a:ext uri="{FF2B5EF4-FFF2-40B4-BE49-F238E27FC236}">
                <a16:creationId xmlns:a16="http://schemas.microsoft.com/office/drawing/2014/main" id="{2B54A401-604C-4081-B442-B81B0787E42B}"/>
              </a:ext>
            </a:extLst>
          </p:cNvPr>
          <p:cNvSpPr>
            <a:spLocks xmlns:a="http://schemas.openxmlformats.org/drawingml/2006/main" noGrp="1"/>
          </p:cNvSpPr>
          <p:nvPr/>
        </p:nvSpPr>
        <p:spPr>
          <a:xfrm xmlns:a="http://schemas.openxmlformats.org/drawingml/2006/main">
            <a:off x="5943600" y="247650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1  Euklidische Distanz, aktuelle Basis</a:t>
            </a:r>
          </a:p>
          <a:p xmlns:a="http://schemas.openxmlformats.org/drawingml/2006/main">
            <a:r>
              <a:t/>
            </a:r>
          </a:p>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2  Robustes Zentrum und skalierte Distanz</a:t>
            </a:r>
          </a:p>
          <a:p xmlns:a="http://schemas.openxmlformats.org/drawingml/2006/main">
            <a:r>
              <a:t/>
            </a:r>
          </a:p>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3  Mahalanobis-Distanz</a:t>
            </a:r>
          </a:p>
          <a:p xmlns:a="http://schemas.openxmlformats.org/drawingml/2006/main">
            <a:r>
              <a:t/>
            </a:r>
          </a:p>
          <a:p xmlns:a="http://schemas.openxmlformats.org/drawingml/2006/main">
            <a:pPr algn="l">
              <a:defRPr sz="1575" b="0">
                <a:solidFill>
                  <a:srgbClr val="183247"/>
                </a:solidFill>
                <a:latin typeface="Arial"/>
                <a:ea typeface="Arial"/>
                <a:cs typeface="Arial"/>
              </a:defRPr>
            </a:pPr>
            <a:r>
              <a:rPr sz="1575" b="0">
                <a:solidFill>
                  <a:srgbClr val="183247"/>
                </a:solidFill>
                <a:latin typeface="Arial"/>
                <a:ea typeface="Arial"/>
                <a:cs typeface="Arial"/>
              </a:rPr>
              <a:t>Danach erst HMM, GRU oder Attention prüfen</a:t>
            </a:r>
          </a:p>
        </p:txBody>
      </p:sp>
      <p:sp>
        <p:nvSpPr>
          <p:cNvPr id="11" name="">
            <a:extLst xmlns:a="http://schemas.openxmlformats.org/drawingml/2006/main">
              <a:ext uri="{FF2B5EF4-FFF2-40B4-BE49-F238E27FC236}">
                <a16:creationId xmlns:a16="http://schemas.microsoft.com/office/drawing/2014/main" id="{E0C10746-A6C3-4B12-8416-05387F88E99C}"/>
              </a:ext>
            </a:extLst>
          </p:cNvPr>
          <p:cNvSpPr>
            <a:spLocks xmlns:a="http://schemas.openxmlformats.org/drawingml/2006/main" noGrp="1"/>
          </p:cNvSpPr>
          <p:nvPr/>
        </p:nvSpPr>
        <p:spPr>
          <a:xfrm xmlns:a="http://schemas.openxmlformats.org/drawingml/2006/main">
            <a:off x="609600" y="5543550"/>
            <a:ext cx="10668000" cy="514350"/>
          </a:xfrm>
          <a:prstGeom xmlns:a="http://schemas.openxmlformats.org/drawingml/2006/main" prst="roundRect">
            <a:avLst>
              <a:gd name="adj" fmla="val 14815"/>
            </a:avLst>
          </a:prstGeom>
          <a:solidFill xmlns:a="http://schemas.openxmlformats.org/drawingml/2006/main">
            <a:srgbClr val="18324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C80C43-2312-4E2E-AF7B-97536C93740D}"/>
              </a:ext>
            </a:extLst>
          </p:cNvPr>
          <p:cNvSpPr>
            <a:spLocks xmlns:a="http://schemas.openxmlformats.org/drawingml/2006/main" noGrp="1"/>
          </p:cNvSpPr>
          <p:nvPr/>
        </p:nvSpPr>
        <p:spPr>
          <a:xfrm xmlns:a="http://schemas.openxmlformats.org/drawingml/2006/main">
            <a:off x="838200" y="5610225"/>
            <a:ext cx="10210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Diskussion: Soll der nächste Schritt die robuste Distanzkalibrierung sein?</a:t>
            </a:r>
          </a:p>
        </p:txBody>
      </p:sp>
    </p:spTree>
    <p:extLst>
      <p:ext uri="{BB962C8B-B14F-4D97-AF65-F5344CB8AC3E}">
        <p14:creationId xmlns:p14="http://schemas.microsoft.com/office/powerpoint/2010/main" val="966546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2026-09-14T07:38:05.4620000Z</dcterms:created>
  <dcterms:modified xsi:type="dcterms:W3CDTF">2026-09-14T07:38:05.4620000Z</dcterms:modified>
</coreProperties>
</file>